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9" r:id="rId1"/>
  </p:sldMasterIdLst>
  <p:notesMasterIdLst>
    <p:notesMasterId r:id="rId57"/>
  </p:notesMasterIdLst>
  <p:handoutMasterIdLst>
    <p:handoutMasterId r:id="rId58"/>
  </p:handoutMasterIdLst>
  <p:sldIdLst>
    <p:sldId id="297" r:id="rId2"/>
    <p:sldId id="295" r:id="rId3"/>
    <p:sldId id="305" r:id="rId4"/>
    <p:sldId id="374" r:id="rId5"/>
    <p:sldId id="375" r:id="rId6"/>
    <p:sldId id="376" r:id="rId7"/>
    <p:sldId id="378" r:id="rId8"/>
    <p:sldId id="379" r:id="rId9"/>
    <p:sldId id="377" r:id="rId10"/>
    <p:sldId id="380" r:id="rId11"/>
    <p:sldId id="381" r:id="rId12"/>
    <p:sldId id="337" r:id="rId13"/>
    <p:sldId id="386" r:id="rId14"/>
    <p:sldId id="407" r:id="rId15"/>
    <p:sldId id="387" r:id="rId16"/>
    <p:sldId id="342" r:id="rId17"/>
    <p:sldId id="341" r:id="rId18"/>
    <p:sldId id="343" r:id="rId19"/>
    <p:sldId id="344" r:id="rId20"/>
    <p:sldId id="345" r:id="rId21"/>
    <p:sldId id="346" r:id="rId22"/>
    <p:sldId id="388" r:id="rId23"/>
    <p:sldId id="350" r:id="rId24"/>
    <p:sldId id="389" r:id="rId25"/>
    <p:sldId id="390" r:id="rId26"/>
    <p:sldId id="391" r:id="rId27"/>
    <p:sldId id="392" r:id="rId28"/>
    <p:sldId id="393" r:id="rId29"/>
    <p:sldId id="404" r:id="rId30"/>
    <p:sldId id="395" r:id="rId31"/>
    <p:sldId id="396" r:id="rId32"/>
    <p:sldId id="397" r:id="rId33"/>
    <p:sldId id="322" r:id="rId34"/>
    <p:sldId id="398" r:id="rId35"/>
    <p:sldId id="324" r:id="rId36"/>
    <p:sldId id="325" r:id="rId37"/>
    <p:sldId id="356" r:id="rId38"/>
    <p:sldId id="399" r:id="rId39"/>
    <p:sldId id="326" r:id="rId40"/>
    <p:sldId id="327" r:id="rId41"/>
    <p:sldId id="360" r:id="rId42"/>
    <p:sldId id="361" r:id="rId43"/>
    <p:sldId id="362" r:id="rId44"/>
    <p:sldId id="363" r:id="rId45"/>
    <p:sldId id="304" r:id="rId46"/>
    <p:sldId id="265" r:id="rId47"/>
    <p:sldId id="408" r:id="rId48"/>
    <p:sldId id="365" r:id="rId49"/>
    <p:sldId id="405" r:id="rId50"/>
    <p:sldId id="401" r:id="rId51"/>
    <p:sldId id="402" r:id="rId52"/>
    <p:sldId id="330" r:id="rId53"/>
    <p:sldId id="331" r:id="rId54"/>
    <p:sldId id="403" r:id="rId55"/>
    <p:sldId id="410" r:id="rId56"/>
  </p:sldIdLst>
  <p:sldSz cx="12192000" cy="6858000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1" autoAdjust="0"/>
    <p:restoredTop sz="83973" autoAdjust="0"/>
  </p:normalViewPr>
  <p:slideViewPr>
    <p:cSldViewPr>
      <p:cViewPr varScale="1">
        <p:scale>
          <a:sx n="101" d="100"/>
          <a:sy n="101" d="100"/>
        </p:scale>
        <p:origin x="150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sa Vidic" userId="cc339f9d-a001-4bb8-a401-c9d809ebc279" providerId="ADAL" clId="{00489173-ED8D-47E9-9D70-4C06D0B18927}"/>
    <pc:docChg chg="modSld">
      <pc:chgData name="Natasa Vidic" userId="cc339f9d-a001-4bb8-a401-c9d809ebc279" providerId="ADAL" clId="{00489173-ED8D-47E9-9D70-4C06D0B18927}" dt="2024-06-06T21:29:51.590" v="0" actId="20577"/>
      <pc:docMkLst>
        <pc:docMk/>
      </pc:docMkLst>
      <pc:sldChg chg="modSp mod">
        <pc:chgData name="Natasa Vidic" userId="cc339f9d-a001-4bb8-a401-c9d809ebc279" providerId="ADAL" clId="{00489173-ED8D-47E9-9D70-4C06D0B18927}" dt="2024-06-06T21:29:51.590" v="0" actId="20577"/>
        <pc:sldMkLst>
          <pc:docMk/>
          <pc:sldMk cId="0" sldId="297"/>
        </pc:sldMkLst>
        <pc:spChg chg="mod">
          <ac:chgData name="Natasa Vidic" userId="cc339f9d-a001-4bb8-a401-c9d809ebc279" providerId="ADAL" clId="{00489173-ED8D-47E9-9D70-4C06D0B18927}" dt="2024-06-06T21:29:51.590" v="0" actId="20577"/>
          <ac:spMkLst>
            <pc:docMk/>
            <pc:sldMk cId="0" sldId="297"/>
            <ac:spMk id="409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1.5</c:v>
                </c:pt>
                <c:pt idx="1">
                  <c:v>2.5</c:v>
                </c:pt>
                <c:pt idx="2">
                  <c:v>3.5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7.5</c:v>
                </c:pt>
                <c:pt idx="1">
                  <c:v>72.5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F5-49D2-B7E6-491C8B5417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323951488"/>
        <c:axId val="323944824"/>
      </c:barChart>
      <c:catAx>
        <c:axId val="3239514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r>
                  <a:rPr lang="en-US" dirty="0">
                    <a:latin typeface="+mn-lt"/>
                    <a:cs typeface="Times New Roman" pitchFamily="18" charset="0"/>
                  </a:rPr>
                  <a:t>GPA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323944824"/>
        <c:crosses val="autoZero"/>
        <c:auto val="1"/>
        <c:lblAlgn val="ctr"/>
        <c:lblOffset val="100"/>
        <c:noMultiLvlLbl val="0"/>
      </c:catAx>
      <c:valAx>
        <c:axId val="32394482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r>
                  <a:rPr lang="en-US" dirty="0">
                    <a:latin typeface="+mn-lt"/>
                    <a:cs typeface="Times New Roman" pitchFamily="18" charset="0"/>
                  </a:rPr>
                  <a:t>Percent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3239514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0.12037</cdr:x>
      <cdr:y>0.81801</cdr:y>
    </cdr:from>
    <cdr:to>
      <cdr:x>0.98148</cdr:x>
      <cdr:y>0.89518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990600" y="4038600"/>
          <a:ext cx="7086600" cy="3810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72421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579" y="1"/>
            <a:ext cx="2972421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1421"/>
            <a:ext cx="2972421" cy="46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579" y="8831421"/>
            <a:ext cx="2972421" cy="46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A8952BA-7F1C-4A09-9969-E3ABF1F263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573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72421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579" y="1"/>
            <a:ext cx="2972421" cy="46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02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711" y="4416510"/>
            <a:ext cx="5028579" cy="418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1421"/>
            <a:ext cx="2972421" cy="46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579" y="8831421"/>
            <a:ext cx="2972421" cy="46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2FC5BB6-8E16-460D-8398-7B1E6B0EE1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17626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200" y="696913"/>
            <a:ext cx="6197600" cy="3486150"/>
          </a:xfrm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9F97E33-8566-4838-AE67-58F0C020954F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627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200" y="696913"/>
            <a:ext cx="6197600" cy="3486150"/>
          </a:xfrm>
          <a:ln/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5447AE2-E8DD-4556-BEA2-1D0258B4B4A7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167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200" y="696913"/>
            <a:ext cx="6197600" cy="3486150"/>
          </a:xfrm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FFC383-832E-42E5-8608-36581477A43F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321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330F5-8F26-4C44-AACA-C5BBCF84FA3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708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557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330F5-8F26-4C44-AACA-C5BBCF84FA39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203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330F5-8F26-4C44-AACA-C5BBCF84FA39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3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330F5-8F26-4C44-AACA-C5BBCF84FA39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298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927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Greatly affected by outliers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330F5-8F26-4C44-AACA-C5BBCF84FA39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359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cs typeface="Times New Roman" pitchFamily="18" charset="0"/>
              </a:rPr>
              <a:t>Is this a sample mean or a population mean?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031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036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8128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655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74601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057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330F5-8F26-4C44-AACA-C5BBCF84FA39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98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330F5-8F26-4C44-AACA-C5BBCF84FA39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315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1232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ct val="50000"/>
              </a:spcBef>
              <a:buFont typeface="Arial" panose="020B0604020202020204" pitchFamily="34" charset="0"/>
              <a:buNone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0409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79179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42366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9212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01381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200" y="696913"/>
            <a:ext cx="6197600" cy="3486150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272223-FF8A-469E-917B-220AD2B20A23}" type="slidenum">
              <a:rPr lang="en-US" altLang="en-US" smtClean="0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382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200" y="696913"/>
            <a:ext cx="6197600" cy="3486150"/>
          </a:xfrm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C7FD1D9-4F99-469D-9E47-B4442EA88761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7195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200" y="696913"/>
            <a:ext cx="6197600" cy="3486150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ADB012F-CE94-417A-BBC3-5DF09E0CAA72}" type="slidenum">
              <a:rPr lang="en-US" altLang="en-US" smtClean="0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94506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11858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6678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16995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FC5BB6-8E16-460D-8398-7B1E6B0EE1CF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63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DAA765-F8E0-466D-801F-9435B12C32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513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526D3-ECA5-47F7-B37B-97843A7D96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631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046E87-48D7-4BA4-AF20-6CCC9E1EE9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673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87DFA-C972-491E-ADFB-835C028EB1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87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15097-8125-4E74-B803-5329A734CF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965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5ABC9-731C-48BA-B4F3-398FF2B043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499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D880E-4D20-4BEF-B0E9-A0FCFADFFE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07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D053F-1F9C-40A0-99EC-72A8B8E43D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71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839B2-173B-4185-B475-D47C2A782A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680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96149-2469-4F55-8E8C-5460569519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79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D9FDB-6331-4CF8-A523-45F2D4E701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4169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36367B1-5287-43B6-865C-150A845B68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2286000" y="2057401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en-US" dirty="0"/>
              <a:t>Welcome to </a:t>
            </a:r>
            <a:r>
              <a:rPr lang="en-US" altLang="en-US"/>
              <a:t>ENGR 21: </a:t>
            </a:r>
            <a:r>
              <a:rPr lang="en-US" altLang="en-US" dirty="0"/>
              <a:t>Probability and Statistics for Engineers I</a:t>
            </a:r>
          </a:p>
        </p:txBody>
      </p:sp>
      <p:sp>
        <p:nvSpPr>
          <p:cNvPr id="4099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9282F5-22E0-407F-8E72-41B8BEA2B443}" type="slidenum"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000">
                <a:solidFill>
                  <a:srgbClr val="191718"/>
                </a:solidFill>
              </a:rPr>
              <a:t>Introduction to Statistics and Data Analysis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Chapter 1</a:t>
            </a:r>
            <a:endParaRPr lang="en-US" altLang="en-US" dirty="0">
              <a:latin typeface="Book Antiqua" panose="02040602050305030304" pitchFamily="18" charset="0"/>
            </a:endParaRPr>
          </a:p>
        </p:txBody>
      </p:sp>
      <p:sp>
        <p:nvSpPr>
          <p:cNvPr id="6148" name="Rectangle 1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15402B-1BC0-40EC-8297-94A57C9766A6}" type="slidenum">
              <a:rPr lang="en-US" altLang="en-US" sz="12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Learning Objectives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981200" y="1433513"/>
            <a:ext cx="8229600" cy="4525962"/>
          </a:xfrm>
        </p:spPr>
        <p:txBody>
          <a:bodyPr/>
          <a:lstStyle/>
          <a:p>
            <a:r>
              <a:rPr lang="en-US" altLang="en-US" dirty="0">
                <a:solidFill>
                  <a:srgbClr val="191718"/>
                </a:solidFill>
              </a:rPr>
              <a:t>Statistical Inference, Samples, Populations and the Role of Probability</a:t>
            </a:r>
          </a:p>
          <a:p>
            <a:r>
              <a:rPr lang="en-US" altLang="en-US" dirty="0">
                <a:solidFill>
                  <a:srgbClr val="191718"/>
                </a:solidFill>
              </a:rPr>
              <a:t>Sampling Procedures; Collection of Data</a:t>
            </a:r>
          </a:p>
          <a:p>
            <a:r>
              <a:rPr lang="en-US" altLang="en-US" dirty="0">
                <a:solidFill>
                  <a:srgbClr val="191718"/>
                </a:solidFill>
              </a:rPr>
              <a:t>Measures of Location: The Sample Mean and Median</a:t>
            </a:r>
          </a:p>
          <a:p>
            <a:r>
              <a:rPr lang="en-US" altLang="en-US" dirty="0">
                <a:solidFill>
                  <a:srgbClr val="191718"/>
                </a:solidFill>
              </a:rPr>
              <a:t>Measures of Variability</a:t>
            </a:r>
          </a:p>
          <a:p>
            <a:r>
              <a:rPr lang="en-US" altLang="en-US" dirty="0">
                <a:solidFill>
                  <a:srgbClr val="191718"/>
                </a:solidFill>
              </a:rPr>
              <a:t>Statistical Modeling, Scientific Inspection and Graphical Diagnostics</a:t>
            </a:r>
          </a:p>
          <a:p>
            <a:pPr marL="0" indent="0">
              <a:buNone/>
            </a:pPr>
            <a:endParaRPr lang="en-US" altLang="en-US" dirty="0">
              <a:solidFill>
                <a:srgbClr val="191718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rgbClr val="191718"/>
              </a:solidFill>
            </a:endParaRPr>
          </a:p>
          <a:p>
            <a:endParaRPr lang="en-US" altLang="en-US" dirty="0">
              <a:solidFill>
                <a:srgbClr val="191718"/>
              </a:solidFill>
            </a:endParaRPr>
          </a:p>
          <a:p>
            <a:endParaRPr lang="en-US" altLang="en-US" dirty="0">
              <a:solidFill>
                <a:srgbClr val="191718"/>
              </a:solidFill>
            </a:endParaRPr>
          </a:p>
          <a:p>
            <a:endParaRPr lang="en-US" altLang="en-US" dirty="0">
              <a:solidFill>
                <a:srgbClr val="191718"/>
              </a:solidFill>
            </a:endParaRPr>
          </a:p>
          <a:p>
            <a:endParaRPr lang="en-US" altLang="en-US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2B12B7-7BE4-4AA3-8450-1C587CFAA7D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1981200" y="4648201"/>
            <a:ext cx="8229600" cy="1719263"/>
            <a:chOff x="381000" y="4682080"/>
            <a:chExt cx="8534400" cy="1718720"/>
          </a:xfrm>
        </p:grpSpPr>
        <p:sp>
          <p:nvSpPr>
            <p:cNvPr id="9" name="Rounded Rectangle 8"/>
            <p:cNvSpPr/>
            <p:nvPr/>
          </p:nvSpPr>
          <p:spPr>
            <a:xfrm>
              <a:off x="381000" y="4724929"/>
              <a:ext cx="8534400" cy="167587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158" name="TextBox 9"/>
            <p:cNvSpPr txBox="1">
              <a:spLocks noChangeArrowheads="1"/>
            </p:cNvSpPr>
            <p:nvPr/>
          </p:nvSpPr>
          <p:spPr bwMode="auto">
            <a:xfrm rot="-766262">
              <a:off x="1397341" y="4682080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  <p:sp>
          <p:nvSpPr>
            <p:cNvPr id="6159" name="TextBox 10"/>
            <p:cNvSpPr txBox="1">
              <a:spLocks noChangeArrowheads="1"/>
            </p:cNvSpPr>
            <p:nvPr/>
          </p:nvSpPr>
          <p:spPr bwMode="auto">
            <a:xfrm rot="-766262">
              <a:off x="5536416" y="5977480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  <p:sp>
          <p:nvSpPr>
            <p:cNvPr id="6160" name="TextBox 11"/>
            <p:cNvSpPr txBox="1">
              <a:spLocks noChangeArrowheads="1"/>
            </p:cNvSpPr>
            <p:nvPr/>
          </p:nvSpPr>
          <p:spPr bwMode="auto">
            <a:xfrm rot="525129">
              <a:off x="6822345" y="4794960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  <p:sp>
          <p:nvSpPr>
            <p:cNvPr id="6161" name="TextBox 12"/>
            <p:cNvSpPr txBox="1">
              <a:spLocks noChangeArrowheads="1"/>
            </p:cNvSpPr>
            <p:nvPr/>
          </p:nvSpPr>
          <p:spPr bwMode="auto">
            <a:xfrm rot="358968">
              <a:off x="3413072" y="6020230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  <p:sp>
          <p:nvSpPr>
            <p:cNvPr id="6162" name="TextBox 13"/>
            <p:cNvSpPr txBox="1">
              <a:spLocks noChangeArrowheads="1"/>
            </p:cNvSpPr>
            <p:nvPr/>
          </p:nvSpPr>
          <p:spPr bwMode="auto">
            <a:xfrm>
              <a:off x="3962400" y="4736068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</p:grpSp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6148" name="Content Placeholder 2"/>
          <p:cNvSpPr>
            <a:spLocks noGrp="1"/>
          </p:cNvSpPr>
          <p:nvPr>
            <p:ph idx="1"/>
          </p:nvPr>
        </p:nvSpPr>
        <p:spPr>
          <a:xfrm>
            <a:off x="1905000" y="1447801"/>
            <a:ext cx="86868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Statistics helps us to make judgments and decisions when there is uncertainty</a:t>
            </a:r>
          </a:p>
          <a:p>
            <a:pPr eaLnBrk="1" hangingPunct="1"/>
            <a:r>
              <a:rPr lang="en-US" altLang="en-US" dirty="0"/>
              <a:t>How?</a:t>
            </a:r>
          </a:p>
          <a:p>
            <a:pPr lvl="1" eaLnBrk="1" hangingPunct="1"/>
            <a:r>
              <a:rPr lang="en-US" altLang="en-US" sz="2400" dirty="0"/>
              <a:t>Methods for carrying out experiments</a:t>
            </a:r>
          </a:p>
          <a:p>
            <a:pPr lvl="1" eaLnBrk="1" hangingPunct="1"/>
            <a:r>
              <a:rPr lang="en-US" altLang="en-US" sz="2400" dirty="0"/>
              <a:t>Methods for organizing and analyzing experiment results</a:t>
            </a:r>
          </a:p>
          <a:p>
            <a:pPr lvl="1" eaLnBrk="1" hangingPunct="1"/>
            <a:r>
              <a:rPr lang="en-US" altLang="en-US" sz="2400" dirty="0"/>
              <a:t>Methods for interpreting data and making decisions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4601D-4709-46F1-B136-E82ED07BB9BF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7924800" y="5100639"/>
            <a:ext cx="2133600" cy="922337"/>
            <a:chOff x="6629400" y="5133924"/>
            <a:chExt cx="2133600" cy="923330"/>
          </a:xfrm>
        </p:grpSpPr>
        <p:sp>
          <p:nvSpPr>
            <p:cNvPr id="7" name="Chevron 6"/>
            <p:cNvSpPr/>
            <p:nvPr/>
          </p:nvSpPr>
          <p:spPr>
            <a:xfrm>
              <a:off x="6629400" y="5178422"/>
              <a:ext cx="2133600" cy="840691"/>
            </a:xfrm>
            <a:prstGeom prst="chevron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56" name="TextBox 7"/>
            <p:cNvSpPr txBox="1">
              <a:spLocks noChangeArrowheads="1"/>
            </p:cNvSpPr>
            <p:nvPr/>
          </p:nvSpPr>
          <p:spPr bwMode="auto">
            <a:xfrm>
              <a:off x="6781356" y="5133924"/>
              <a:ext cx="1753044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bg1"/>
                  </a:solidFill>
                </a:rPr>
                <a:t>Interpret Data &amp; Make Decisions</a:t>
              </a:r>
            </a:p>
          </p:txBody>
        </p:sp>
      </p:grpSp>
      <p:sp>
        <p:nvSpPr>
          <p:cNvPr id="18" name="Chevron 17"/>
          <p:cNvSpPr/>
          <p:nvPr/>
        </p:nvSpPr>
        <p:spPr>
          <a:xfrm>
            <a:off x="6019800" y="5145089"/>
            <a:ext cx="2133600" cy="841375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</a:rPr>
              <a:t>Analyze Data</a:t>
            </a:r>
          </a:p>
        </p:txBody>
      </p:sp>
      <p:sp>
        <p:nvSpPr>
          <p:cNvPr id="20" name="Chevron 19"/>
          <p:cNvSpPr/>
          <p:nvPr/>
        </p:nvSpPr>
        <p:spPr>
          <a:xfrm>
            <a:off x="4114800" y="5148264"/>
            <a:ext cx="2133600" cy="841375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</a:rPr>
              <a:t>Organize Data</a:t>
            </a:r>
          </a:p>
        </p:txBody>
      </p:sp>
      <p:sp>
        <p:nvSpPr>
          <p:cNvPr id="21" name="Chevron 20"/>
          <p:cNvSpPr/>
          <p:nvPr/>
        </p:nvSpPr>
        <p:spPr>
          <a:xfrm>
            <a:off x="2209800" y="5148264"/>
            <a:ext cx="2133600" cy="841375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</a:rPr>
              <a:t>Collect Data</a:t>
            </a:r>
          </a:p>
        </p:txBody>
      </p:sp>
    </p:spTree>
    <p:extLst>
      <p:ext uri="{BB962C8B-B14F-4D97-AF65-F5344CB8AC3E}">
        <p14:creationId xmlns:p14="http://schemas.microsoft.com/office/powerpoint/2010/main" val="416626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Variability in Scientific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– Manufacturing</a:t>
            </a:r>
          </a:p>
          <a:p>
            <a:pPr lvl="1"/>
            <a:r>
              <a:rPr lang="en-US" dirty="0"/>
              <a:t>Differences in the material from product to product</a:t>
            </a:r>
          </a:p>
          <a:p>
            <a:pPr lvl="1"/>
            <a:r>
              <a:rPr lang="en-US" dirty="0"/>
              <a:t>Differences between batches</a:t>
            </a:r>
          </a:p>
          <a:p>
            <a:pPr lvl="1"/>
            <a:r>
              <a:rPr lang="en-US" dirty="0"/>
              <a:t>Differences within batches</a:t>
            </a:r>
          </a:p>
          <a:p>
            <a:r>
              <a:rPr lang="en-US" dirty="0"/>
              <a:t>Another Example?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F2DE6B-8F1D-4FD9-9E59-F1E11DBB3FD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86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Populations &amp;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229600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 b="1" dirty="0">
                <a:cs typeface="Times New Roman" pitchFamily="18" charset="0"/>
              </a:rPr>
              <a:t>Population</a:t>
            </a:r>
            <a:r>
              <a:rPr lang="en-US" sz="3000" dirty="0">
                <a:cs typeface="Times New Roman" pitchFamily="18" charset="0"/>
              </a:rPr>
              <a:t> – All individuals or individual items of a particular type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000" dirty="0">
                <a:cs typeface="Times New Roman" pitchFamily="18" charset="0"/>
              </a:rPr>
              <a:t>If collect data on entire population – </a:t>
            </a:r>
            <a:r>
              <a:rPr lang="en-US" sz="3000" b="1" dirty="0">
                <a:cs typeface="Times New Roman" pitchFamily="18" charset="0"/>
                <a:sym typeface="Wingdings" pitchFamily="2" charset="2"/>
              </a:rPr>
              <a:t>census</a:t>
            </a:r>
            <a:endParaRPr lang="en-US" sz="3000" b="1" dirty="0"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000" dirty="0">
                <a:cs typeface="Times New Roman" pitchFamily="18" charset="0"/>
              </a:rPr>
              <a:t>Normally, we only have a subset of the population – </a:t>
            </a:r>
            <a:r>
              <a:rPr lang="en-US" sz="3000" b="1" dirty="0">
                <a:cs typeface="Times New Roman" pitchFamily="18" charset="0"/>
              </a:rPr>
              <a:t>sample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000" dirty="0">
                <a:cs typeface="Times New Roman" pitchFamily="18" charset="0"/>
              </a:rPr>
              <a:t>Example: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15CDE-0595-4455-BD40-41CE44C0AE6F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191000" y="4191000"/>
            <a:ext cx="4267200" cy="2286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315200" y="5334000"/>
            <a:ext cx="6096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76" name="TextBox 7"/>
          <p:cNvSpPr txBox="1">
            <a:spLocks noChangeArrowheads="1"/>
          </p:cNvSpPr>
          <p:nvPr/>
        </p:nvSpPr>
        <p:spPr bwMode="auto">
          <a:xfrm>
            <a:off x="5257800" y="4714876"/>
            <a:ext cx="2057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Population – All widgets produced in Batch #34219</a:t>
            </a:r>
          </a:p>
        </p:txBody>
      </p:sp>
      <p:sp>
        <p:nvSpPr>
          <p:cNvPr id="7177" name="TextBox 8"/>
          <p:cNvSpPr txBox="1">
            <a:spLocks noChangeArrowheads="1"/>
          </p:cNvSpPr>
          <p:nvPr/>
        </p:nvSpPr>
        <p:spPr bwMode="auto">
          <a:xfrm>
            <a:off x="8305800" y="5553076"/>
            <a:ext cx="2057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Sample – 5% of widgets produced in Batch #34219</a:t>
            </a:r>
          </a:p>
        </p:txBody>
      </p:sp>
      <p:cxnSp>
        <p:nvCxnSpPr>
          <p:cNvPr id="11" name="Straight Arrow Connector 10"/>
          <p:cNvCxnSpPr>
            <a:stCxn id="7177" idx="1"/>
          </p:cNvCxnSpPr>
          <p:nvPr/>
        </p:nvCxnSpPr>
        <p:spPr>
          <a:xfrm flipH="1" flipV="1">
            <a:off x="7543800" y="5676900"/>
            <a:ext cx="762000" cy="33813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806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Populations &amp;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524001"/>
            <a:ext cx="8229600" cy="4525963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 dirty="0">
                <a:cs typeface="Times New Roman" pitchFamily="18" charset="0"/>
              </a:rPr>
              <a:t>Often, it’s important to collect the sample and data in a systematic way (</a:t>
            </a:r>
            <a:r>
              <a:rPr lang="en-US" sz="3000" b="1" dirty="0">
                <a:cs typeface="Times New Roman" pitchFamily="18" charset="0"/>
              </a:rPr>
              <a:t>experimental design</a:t>
            </a:r>
            <a:r>
              <a:rPr lang="en-US" sz="3000" dirty="0">
                <a:cs typeface="Times New Roman" pitchFamily="18" charset="0"/>
              </a:rPr>
              <a:t>)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3000" dirty="0"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3000" dirty="0"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000" dirty="0">
                <a:cs typeface="Times New Roman" pitchFamily="18" charset="0"/>
              </a:rPr>
              <a:t>Interested in the effect of certain characteristics (</a:t>
            </a:r>
            <a:r>
              <a:rPr lang="en-US" sz="3000" b="1" dirty="0">
                <a:cs typeface="Times New Roman" pitchFamily="18" charset="0"/>
              </a:rPr>
              <a:t>factors</a:t>
            </a:r>
            <a:r>
              <a:rPr lang="en-US" sz="3000" dirty="0">
                <a:cs typeface="Times New Roman" pitchFamily="18" charset="0"/>
              </a:rPr>
              <a:t>) on the widget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b="1" dirty="0">
                <a:cs typeface="Times New Roman" pitchFamily="18" charset="0"/>
              </a:rPr>
              <a:t>Factor 1 </a:t>
            </a:r>
            <a:r>
              <a:rPr lang="en-US" sz="2600" dirty="0">
                <a:cs typeface="Times New Roman" pitchFamily="18" charset="0"/>
              </a:rPr>
              <a:t>– machine temperature (make observations at 3 different temps)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600" b="1" dirty="0">
                <a:cs typeface="Times New Roman" pitchFamily="18" charset="0"/>
              </a:rPr>
              <a:t>Factor 2 </a:t>
            </a:r>
            <a:r>
              <a:rPr lang="en-US" sz="2600" dirty="0">
                <a:cs typeface="Times New Roman" pitchFamily="18" charset="0"/>
              </a:rPr>
              <a:t>– production shift (make observations on all shifts)</a:t>
            </a:r>
            <a:endParaRPr lang="en-US" sz="2200" dirty="0">
              <a:cs typeface="Times New Roman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D9853-6A52-406D-AFBF-8059E48297D3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4343400" y="2767012"/>
            <a:ext cx="609600" cy="685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9" name="TextBox 8"/>
          <p:cNvSpPr txBox="1">
            <a:spLocks noChangeArrowheads="1"/>
          </p:cNvSpPr>
          <p:nvPr/>
        </p:nvSpPr>
        <p:spPr bwMode="auto">
          <a:xfrm>
            <a:off x="5486400" y="2581276"/>
            <a:ext cx="20574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Sample – 5% of widgets produced in Batch #34219</a:t>
            </a:r>
          </a:p>
        </p:txBody>
      </p:sp>
      <p:cxnSp>
        <p:nvCxnSpPr>
          <p:cNvPr id="11" name="Straight Arrow Connector 10"/>
          <p:cNvCxnSpPr>
            <a:stCxn id="8199" idx="1"/>
          </p:cNvCxnSpPr>
          <p:nvPr/>
        </p:nvCxnSpPr>
        <p:spPr>
          <a:xfrm flipH="1">
            <a:off x="4648200" y="3043238"/>
            <a:ext cx="838200" cy="666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60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Role of Probability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A6FE3C-AAD0-43ED-8640-9DDF1F588C76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981200" y="2971801"/>
            <a:ext cx="8229600" cy="1719263"/>
            <a:chOff x="381000" y="4682080"/>
            <a:chExt cx="8534400" cy="1718720"/>
          </a:xfrm>
        </p:grpSpPr>
        <p:sp>
          <p:nvSpPr>
            <p:cNvPr id="7" name="Rounded Rectangle 6"/>
            <p:cNvSpPr/>
            <p:nvPr/>
          </p:nvSpPr>
          <p:spPr>
            <a:xfrm>
              <a:off x="381000" y="4724929"/>
              <a:ext cx="8534400" cy="1675871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237" name="TextBox 7"/>
            <p:cNvSpPr txBox="1">
              <a:spLocks noChangeArrowheads="1"/>
            </p:cNvSpPr>
            <p:nvPr/>
          </p:nvSpPr>
          <p:spPr bwMode="auto">
            <a:xfrm rot="-766262">
              <a:off x="1397341" y="4682080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  <p:sp>
          <p:nvSpPr>
            <p:cNvPr id="9238" name="TextBox 8"/>
            <p:cNvSpPr txBox="1">
              <a:spLocks noChangeArrowheads="1"/>
            </p:cNvSpPr>
            <p:nvPr/>
          </p:nvSpPr>
          <p:spPr bwMode="auto">
            <a:xfrm rot="-766262">
              <a:off x="5536416" y="5977480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  <p:sp>
          <p:nvSpPr>
            <p:cNvPr id="9239" name="TextBox 9"/>
            <p:cNvSpPr txBox="1">
              <a:spLocks noChangeArrowheads="1"/>
            </p:cNvSpPr>
            <p:nvPr/>
          </p:nvSpPr>
          <p:spPr bwMode="auto">
            <a:xfrm rot="525129">
              <a:off x="6822345" y="4794960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  <p:sp>
          <p:nvSpPr>
            <p:cNvPr id="9240" name="TextBox 10"/>
            <p:cNvSpPr txBox="1">
              <a:spLocks noChangeArrowheads="1"/>
            </p:cNvSpPr>
            <p:nvPr/>
          </p:nvSpPr>
          <p:spPr bwMode="auto">
            <a:xfrm rot="358968">
              <a:off x="3413072" y="6020230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  <p:sp>
          <p:nvSpPr>
            <p:cNvPr id="9241" name="TextBox 11"/>
            <p:cNvSpPr txBox="1">
              <a:spLocks noChangeArrowheads="1"/>
            </p:cNvSpPr>
            <p:nvPr/>
          </p:nvSpPr>
          <p:spPr bwMode="auto">
            <a:xfrm>
              <a:off x="3962400" y="4736068"/>
              <a:ext cx="1219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/>
                <a:t>Variation</a:t>
              </a: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7924800" y="3424239"/>
            <a:ext cx="2133600" cy="922337"/>
            <a:chOff x="6629400" y="5133924"/>
            <a:chExt cx="2133600" cy="923330"/>
          </a:xfrm>
        </p:grpSpPr>
        <p:sp>
          <p:nvSpPr>
            <p:cNvPr id="14" name="Chevron 13"/>
            <p:cNvSpPr/>
            <p:nvPr/>
          </p:nvSpPr>
          <p:spPr>
            <a:xfrm>
              <a:off x="6629400" y="5178422"/>
              <a:ext cx="2133600" cy="840691"/>
            </a:xfrm>
            <a:prstGeom prst="chevron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235" name="TextBox 14"/>
            <p:cNvSpPr txBox="1">
              <a:spLocks noChangeArrowheads="1"/>
            </p:cNvSpPr>
            <p:nvPr/>
          </p:nvSpPr>
          <p:spPr bwMode="auto">
            <a:xfrm>
              <a:off x="6781356" y="5133924"/>
              <a:ext cx="1753044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altLang="en-US">
                  <a:solidFill>
                    <a:schemeClr val="bg1"/>
                  </a:solidFill>
                </a:rPr>
                <a:t>Interpret Data &amp; Make Decisions</a:t>
              </a:r>
            </a:p>
          </p:txBody>
        </p:sp>
      </p:grpSp>
      <p:sp>
        <p:nvSpPr>
          <p:cNvPr id="16" name="Chevron 15"/>
          <p:cNvSpPr/>
          <p:nvPr/>
        </p:nvSpPr>
        <p:spPr>
          <a:xfrm>
            <a:off x="6019800" y="3468689"/>
            <a:ext cx="2133600" cy="841375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</a:rPr>
              <a:t>Analyze Data</a:t>
            </a:r>
          </a:p>
        </p:txBody>
      </p:sp>
      <p:sp>
        <p:nvSpPr>
          <p:cNvPr id="17" name="Chevron 16"/>
          <p:cNvSpPr/>
          <p:nvPr/>
        </p:nvSpPr>
        <p:spPr>
          <a:xfrm>
            <a:off x="4114800" y="3471864"/>
            <a:ext cx="2133600" cy="841375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</a:rPr>
              <a:t>Organize Data</a:t>
            </a:r>
          </a:p>
        </p:txBody>
      </p:sp>
      <p:sp>
        <p:nvSpPr>
          <p:cNvPr id="18" name="Chevron 17"/>
          <p:cNvSpPr/>
          <p:nvPr/>
        </p:nvSpPr>
        <p:spPr>
          <a:xfrm>
            <a:off x="2209800" y="3471864"/>
            <a:ext cx="2133600" cy="841375"/>
          </a:xfrm>
          <a:prstGeom prst="chevron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dirty="0">
                <a:solidFill>
                  <a:schemeClr val="bg1"/>
                </a:solidFill>
              </a:rPr>
              <a:t>Collect Data</a:t>
            </a:r>
          </a:p>
        </p:txBody>
      </p:sp>
      <p:sp>
        <p:nvSpPr>
          <p:cNvPr id="9226" name="TextBox 18"/>
          <p:cNvSpPr txBox="1">
            <a:spLocks noChangeArrowheads="1"/>
          </p:cNvSpPr>
          <p:nvPr/>
        </p:nvSpPr>
        <p:spPr bwMode="auto">
          <a:xfrm>
            <a:off x="2133600" y="1447801"/>
            <a:ext cx="35814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b="1"/>
              <a:t>Descriptive Statistics </a:t>
            </a:r>
            <a:r>
              <a:rPr lang="en-US" altLang="en-US" sz="2000"/>
              <a:t>– summarize and describe important features of the </a:t>
            </a:r>
            <a:r>
              <a:rPr lang="en-US" altLang="en-US" sz="2000" i="1"/>
              <a:t>sample</a:t>
            </a:r>
            <a:r>
              <a:rPr lang="en-US" altLang="en-US" sz="2000"/>
              <a:t> data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4419600" y="2387600"/>
            <a:ext cx="723900" cy="1270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8" name="TextBox 21"/>
          <p:cNvSpPr txBox="1">
            <a:spLocks noChangeArrowheads="1"/>
          </p:cNvSpPr>
          <p:nvPr/>
        </p:nvSpPr>
        <p:spPr bwMode="auto">
          <a:xfrm>
            <a:off x="6248400" y="1447801"/>
            <a:ext cx="4191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b="1"/>
              <a:t>Inferential Statistics </a:t>
            </a:r>
            <a:r>
              <a:rPr lang="en-US" altLang="en-US" sz="2000"/>
              <a:t>– techniques for drawing conclusions about the </a:t>
            </a:r>
            <a:r>
              <a:rPr lang="en-US" altLang="en-US" sz="2000" i="1"/>
              <a:t>population</a:t>
            </a:r>
            <a:r>
              <a:rPr lang="en-US" altLang="en-US" sz="2000"/>
              <a:t> based on information from the </a:t>
            </a:r>
            <a:r>
              <a:rPr lang="en-US" altLang="en-US" sz="2000" i="1"/>
              <a:t>sample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7540626" y="2463800"/>
            <a:ext cx="993775" cy="1193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8534400" y="2463800"/>
            <a:ext cx="609600" cy="1193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1" name="TextBox 27"/>
          <p:cNvSpPr txBox="1">
            <a:spLocks noChangeArrowheads="1"/>
          </p:cNvSpPr>
          <p:nvPr/>
        </p:nvSpPr>
        <p:spPr bwMode="auto">
          <a:xfrm>
            <a:off x="1981200" y="4953001"/>
            <a:ext cx="41910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b="1"/>
              <a:t>Probability </a:t>
            </a:r>
            <a:r>
              <a:rPr lang="en-US" altLang="en-US" sz="2000"/>
              <a:t>– bridge between descriptive and inferential statistics.  Explains the uncertainty associated with the </a:t>
            </a:r>
            <a:r>
              <a:rPr lang="en-US" altLang="en-US" sz="2000" i="1"/>
              <a:t>sample</a:t>
            </a:r>
            <a:r>
              <a:rPr lang="en-US" altLang="en-US" sz="2000"/>
              <a:t>.  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5359400" y="6135688"/>
            <a:ext cx="9652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33" name="TextBox 31"/>
          <p:cNvSpPr txBox="1">
            <a:spLocks noChangeArrowheads="1"/>
          </p:cNvSpPr>
          <p:nvPr/>
        </p:nvSpPr>
        <p:spPr bwMode="auto">
          <a:xfrm>
            <a:off x="6324600" y="4876800"/>
            <a:ext cx="3733800" cy="1754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NOTE:  Before we can understand what a particular sample tells us about the population, we need to understand the uncertainty associated with taking a sample from the population.</a:t>
            </a:r>
          </a:p>
        </p:txBody>
      </p:sp>
    </p:spTree>
    <p:extLst>
      <p:ext uri="{BB962C8B-B14F-4D97-AF65-F5344CB8AC3E}">
        <p14:creationId xmlns:p14="http://schemas.microsoft.com/office/powerpoint/2010/main" val="413795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Probability &amp; Statistical Inference Work Together?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F2DE6B-8F1D-4FD9-9E59-F1E11DBB3FD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6" name="Picture 4" descr="01_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57401"/>
            <a:ext cx="5867400" cy="319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62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Course Roadmap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50DEEB-2829-468B-94CE-02DFB4D419D6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992813" y="1676400"/>
            <a:ext cx="4267200" cy="2286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chemeClr val="tx1"/>
                </a:solidFill>
              </a:rPr>
              <a:t>Population</a:t>
            </a:r>
          </a:p>
        </p:txBody>
      </p:sp>
      <p:sp>
        <p:nvSpPr>
          <p:cNvPr id="7" name="Oval 6"/>
          <p:cNvSpPr/>
          <p:nvPr/>
        </p:nvSpPr>
        <p:spPr>
          <a:xfrm>
            <a:off x="2362200" y="2201864"/>
            <a:ext cx="762000" cy="83343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247" name="TextBox 7"/>
          <p:cNvSpPr txBox="1">
            <a:spLocks noChangeArrowheads="1"/>
          </p:cNvSpPr>
          <p:nvPr/>
        </p:nvSpPr>
        <p:spPr bwMode="auto">
          <a:xfrm>
            <a:off x="2286000" y="2438400"/>
            <a:ext cx="106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/>
              <a:t>Sample</a:t>
            </a:r>
          </a:p>
        </p:txBody>
      </p:sp>
      <p:pic>
        <p:nvPicPr>
          <p:cNvPr id="10248" name="Picture 2" descr="C:\Users\Erin\AppData\Local\Microsoft\Windows\Temporary Internet Files\Content.IE5\PZ5V20YE\MC900233641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820864"/>
            <a:ext cx="2895600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9" name="TextBox 8"/>
          <p:cNvSpPr txBox="1">
            <a:spLocks noChangeArrowheads="1"/>
          </p:cNvSpPr>
          <p:nvPr/>
        </p:nvSpPr>
        <p:spPr bwMode="auto">
          <a:xfrm>
            <a:off x="3581400" y="4083050"/>
            <a:ext cx="20955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2000" dirty="0"/>
              <a:t>Probability</a:t>
            </a:r>
          </a:p>
          <a:p>
            <a:pPr algn="ctr" eaLnBrk="1" hangingPunct="1"/>
            <a:endParaRPr lang="en-US" altLang="en-US" sz="2000" dirty="0"/>
          </a:p>
          <a:p>
            <a:pPr algn="ctr" eaLnBrk="1" hangingPunct="1"/>
            <a:endParaRPr lang="en-US" altLang="en-US" sz="2000" dirty="0"/>
          </a:p>
          <a:p>
            <a:pPr algn="ctr" eaLnBrk="1" hangingPunct="1"/>
            <a:endParaRPr lang="en-US" altLang="en-US" sz="2000" dirty="0"/>
          </a:p>
          <a:p>
            <a:pPr algn="ctr" eaLnBrk="1" hangingPunct="1"/>
            <a:r>
              <a:rPr lang="en-US" altLang="en-US" sz="2000" dirty="0"/>
              <a:t>Chapters 2 – 6 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3124200" y="1447800"/>
            <a:ext cx="0" cy="480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943600" y="1447800"/>
            <a:ext cx="0" cy="480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2" name="TextBox 14"/>
          <p:cNvSpPr txBox="1">
            <a:spLocks noChangeArrowheads="1"/>
          </p:cNvSpPr>
          <p:nvPr/>
        </p:nvSpPr>
        <p:spPr bwMode="auto">
          <a:xfrm>
            <a:off x="1676400" y="4086225"/>
            <a:ext cx="14478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2000"/>
              <a:t>Descriptive Statistics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Chapter 1</a:t>
            </a:r>
          </a:p>
        </p:txBody>
      </p:sp>
      <p:sp>
        <p:nvSpPr>
          <p:cNvPr id="10253" name="TextBox 15"/>
          <p:cNvSpPr txBox="1">
            <a:spLocks noChangeArrowheads="1"/>
          </p:cNvSpPr>
          <p:nvPr/>
        </p:nvSpPr>
        <p:spPr bwMode="auto">
          <a:xfrm>
            <a:off x="6934200" y="4114800"/>
            <a:ext cx="2362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altLang="en-US" sz="2000" dirty="0"/>
              <a:t>Inferential Statistics</a:t>
            </a:r>
          </a:p>
          <a:p>
            <a:pPr algn="ctr" eaLnBrk="1" hangingPunct="1"/>
            <a:endParaRPr lang="en-US" altLang="en-US" sz="2000" dirty="0"/>
          </a:p>
          <a:p>
            <a:pPr algn="ctr" eaLnBrk="1" hangingPunct="1"/>
            <a:endParaRPr lang="en-US" altLang="en-US" sz="2000" dirty="0"/>
          </a:p>
          <a:p>
            <a:pPr algn="ctr" eaLnBrk="1" hangingPunct="1"/>
            <a:r>
              <a:rPr lang="en-US" altLang="en-US" sz="2000" dirty="0"/>
              <a:t>Chapters 8 – 11, 13 – 14 </a:t>
            </a:r>
          </a:p>
        </p:txBody>
      </p:sp>
    </p:spTree>
    <p:extLst>
      <p:ext uri="{BB962C8B-B14F-4D97-AF65-F5344CB8AC3E}">
        <p14:creationId xmlns:p14="http://schemas.microsoft.com/office/powerpoint/2010/main" val="68892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Sampling /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If data is not properly collected, then analysis can not be done with certainty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Sample might not be representative of population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Use entire population, choose a simple random sample, stratified sample, or design an experiment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 – if entire sample of widgets is taken at one time, might not be representative of the entire batch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EC845F-E71E-4BCC-ABC0-6E1062AA3C19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30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Samples</a:t>
            </a:r>
            <a:endParaRPr lang="en-US" sz="360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417639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>
                <a:cs typeface="Times New Roman" pitchFamily="18" charset="0"/>
              </a:rPr>
              <a:t>A </a:t>
            </a:r>
            <a:r>
              <a:rPr lang="en-US" sz="2400" b="1" dirty="0">
                <a:cs typeface="Times New Roman" pitchFamily="18" charset="0"/>
              </a:rPr>
              <a:t>sample</a:t>
            </a:r>
            <a:r>
              <a:rPr lang="en-US" sz="2400" dirty="0">
                <a:cs typeface="Times New Roman" pitchFamily="18" charset="0"/>
              </a:rPr>
              <a:t> is a subset of measurements selected from the population of interest</a:t>
            </a:r>
          </a:p>
          <a:p>
            <a:pPr lvl="1"/>
            <a:endParaRPr lang="en-US" sz="2400" dirty="0">
              <a:cs typeface="Times New Roman" pitchFamily="18" charset="0"/>
            </a:endParaRP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400" dirty="0">
                <a:cs typeface="Times New Roman" pitchFamily="18" charset="0"/>
              </a:rPr>
              <a:t>Different Sampling methods: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Simple random sample - </a:t>
            </a:r>
            <a:r>
              <a:rPr lang="en-US" sz="2400" i="1" dirty="0">
                <a:cs typeface="Times New Roman" pitchFamily="18" charset="0"/>
              </a:rPr>
              <a:t>n</a:t>
            </a:r>
            <a:r>
              <a:rPr lang="en-US" sz="2400" dirty="0">
                <a:cs typeface="Times New Roman" pitchFamily="18" charset="0"/>
              </a:rPr>
              <a:t> items and each is equally likely to be chosen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Systematic random sample - take every </a:t>
            </a:r>
            <a:r>
              <a:rPr lang="en-US" sz="2400" i="1" dirty="0" err="1">
                <a:cs typeface="Times New Roman" pitchFamily="18" charset="0"/>
              </a:rPr>
              <a:t>m</a:t>
            </a:r>
            <a:r>
              <a:rPr lang="en-US" sz="2400" baseline="30000" dirty="0" err="1">
                <a:cs typeface="Times New Roman" pitchFamily="18" charset="0"/>
              </a:rPr>
              <a:t>th</a:t>
            </a:r>
            <a:r>
              <a:rPr lang="en-US" sz="2400" dirty="0">
                <a:cs typeface="Times New Roman" pitchFamily="18" charset="0"/>
              </a:rPr>
              <a:t> item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Convenience sample - a sample population selected because it is readily available and convenient</a:t>
            </a:r>
          </a:p>
          <a:p>
            <a:pPr lvl="1"/>
            <a:r>
              <a:rPr lang="en-US" sz="2400" dirty="0">
                <a:cs typeface="Times New Roman" pitchFamily="18" charset="0"/>
              </a:rPr>
              <a:t>Stratified sample (subpopulation (stratum)) - take proportionally equally from m different groups</a:t>
            </a:r>
          </a:p>
        </p:txBody>
      </p:sp>
    </p:spTree>
    <p:extLst>
      <p:ext uri="{BB962C8B-B14F-4D97-AF65-F5344CB8AC3E}">
        <p14:creationId xmlns:p14="http://schemas.microsoft.com/office/powerpoint/2010/main" val="143064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Measures of Location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Sample Mean</a:t>
            </a:r>
          </a:p>
          <a:p>
            <a:pPr eaLnBrk="1" hangingPunct="1"/>
            <a:r>
              <a:rPr lang="en-US" altLang="en-US" dirty="0"/>
              <a:t>Median</a:t>
            </a:r>
          </a:p>
          <a:p>
            <a:pPr eaLnBrk="1" hangingPunct="1"/>
            <a:r>
              <a:rPr lang="en-US" altLang="en-US" dirty="0"/>
              <a:t>Mode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eaLnBrk="1" hangingPunct="1"/>
            <a:r>
              <a:rPr lang="en-US" altLang="en-US" dirty="0"/>
              <a:t>Other measures of location that we will not cover:</a:t>
            </a:r>
          </a:p>
          <a:p>
            <a:pPr lvl="1" eaLnBrk="1" hangingPunct="1"/>
            <a:r>
              <a:rPr lang="en-US" altLang="en-US" dirty="0"/>
              <a:t>Trimmed Mean</a:t>
            </a:r>
          </a:p>
          <a:p>
            <a:pPr lvl="1" eaLnBrk="1" hangingPunct="1"/>
            <a:r>
              <a:rPr lang="en-US" altLang="en-US" dirty="0"/>
              <a:t>Quartiles &amp; Percentiles</a:t>
            </a:r>
          </a:p>
          <a:p>
            <a:pPr lvl="1" eaLnBrk="1" hangingPunct="1"/>
            <a:r>
              <a:rPr lang="en-US" altLang="en-US" dirty="0"/>
              <a:t>Sample Proportions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338C9C-A88A-4035-95C6-B20A02597275}" type="slidenum">
              <a:rPr lang="en-US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879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cs typeface="Times New Roman" pitchFamily="18" charset="0"/>
              </a:rPr>
              <a:t>Notation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cs typeface="Times New Roman" pitchFamily="18" charset="0"/>
              </a:rPr>
              <a:t>n</a:t>
            </a:r>
            <a:r>
              <a:rPr lang="en-US" dirty="0"/>
              <a:t> – number of observations in sample           (sample size)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cs typeface="Times New Roman" pitchFamily="18" charset="0"/>
              </a:rPr>
              <a:t>N</a:t>
            </a:r>
            <a:r>
              <a:rPr lang="en-US" dirty="0"/>
              <a:t> – number of elements in population (if finite)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cs typeface="Times New Roman" pitchFamily="18" charset="0"/>
              </a:rPr>
              <a:t>x</a:t>
            </a:r>
            <a:r>
              <a:rPr lang="en-US" baseline="-25000" dirty="0">
                <a:cs typeface="Times New Roman" pitchFamily="18" charset="0"/>
              </a:rPr>
              <a:t>1</a:t>
            </a:r>
            <a:r>
              <a:rPr lang="en-US" dirty="0">
                <a:cs typeface="Times New Roman" pitchFamily="18" charset="0"/>
              </a:rPr>
              <a:t>, x</a:t>
            </a:r>
            <a:r>
              <a:rPr lang="en-US" baseline="-25000" dirty="0">
                <a:cs typeface="Times New Roman" pitchFamily="18" charset="0"/>
              </a:rPr>
              <a:t>2</a:t>
            </a:r>
            <a:r>
              <a:rPr lang="en-US" dirty="0">
                <a:cs typeface="Times New Roman" pitchFamily="18" charset="0"/>
              </a:rPr>
              <a:t>, x</a:t>
            </a:r>
            <a:r>
              <a:rPr lang="en-US" baseline="-25000" dirty="0">
                <a:cs typeface="Times New Roman" pitchFamily="18" charset="0"/>
              </a:rPr>
              <a:t>3</a:t>
            </a:r>
            <a:r>
              <a:rPr lang="en-US" dirty="0">
                <a:cs typeface="Times New Roman" pitchFamily="18" charset="0"/>
              </a:rPr>
              <a:t>, … , </a:t>
            </a:r>
            <a:r>
              <a:rPr lang="en-US" dirty="0" err="1">
                <a:cs typeface="Times New Roman" pitchFamily="18" charset="0"/>
              </a:rPr>
              <a:t>x</a:t>
            </a:r>
            <a:r>
              <a:rPr lang="en-US" baseline="-25000" dirty="0" err="1">
                <a:cs typeface="Times New Roman" pitchFamily="18" charset="0"/>
              </a:rPr>
              <a:t>n</a:t>
            </a:r>
            <a:r>
              <a:rPr lang="en-US" dirty="0"/>
              <a:t> – individual observations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707DC9-9099-4721-B6BD-6BB5E7CC3408}" type="slidenum">
              <a:rPr lang="en-US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416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Sample Mean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404624-2107-44DC-9492-0BDAD631B4ED}" type="slidenum">
              <a:rPr lang="en-US"/>
              <a:pPr>
                <a:defRPr/>
              </a:pPr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943100" y="1600201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Arithmetic average of the set</a:t>
                </a:r>
              </a:p>
              <a:p>
                <a:r>
                  <a:rPr lang="en-US" dirty="0"/>
                  <a:t>Notation:  </a:t>
                </a:r>
              </a:p>
              <a:p>
                <a:pPr lvl="1"/>
                <a:r>
                  <a:rPr lang="en-US" dirty="0"/>
                  <a:t>Sample mean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Population mean = </a:t>
                </a:r>
                <a:r>
                  <a:rPr lang="en-US" i="1" dirty="0">
                    <a:latin typeface="Symbol" panose="05050102010706020507" pitchFamily="18" charset="2"/>
                  </a:rPr>
                  <a:t>m</a:t>
                </a:r>
              </a:p>
              <a:p>
                <a:pPr lvl="1">
                  <a:spcAft>
                    <a:spcPts val="12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is an estimate of </a:t>
                </a:r>
                <a:r>
                  <a:rPr lang="en-US" i="1" dirty="0">
                    <a:latin typeface="Symbol" panose="05050102010706020507" pitchFamily="18" charset="2"/>
                  </a:rPr>
                  <a:t>m </a:t>
                </a:r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3000" dirty="0"/>
              </a:p>
              <a:p>
                <a:pPr marL="0" indent="0">
                  <a:spcAft>
                    <a:spcPts val="1200"/>
                  </a:spcAft>
                  <a:buNone/>
                </a:pPr>
                <a:endParaRPr lang="en-US" sz="3000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600" dirty="0"/>
                  <a:t> is the center of the sample as it relates to location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100" y="1600201"/>
                <a:ext cx="8229600" cy="4525963"/>
              </a:xfrm>
              <a:blipFill>
                <a:blip r:embed="rId3"/>
                <a:stretch>
                  <a:fillRect l="-1695" t="-308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986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Example - Mean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sz="2400" dirty="0">
                <a:cs typeface="Times New Roman" pitchFamily="18" charset="0"/>
              </a:rPr>
              <a:t>Grade point averages of 15 University of Pittsburgh Engineering Freshmen:</a:t>
            </a: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endParaRPr lang="en-US" sz="2400" dirty="0"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95838"/>
              </p:ext>
            </p:extLst>
          </p:nvPr>
        </p:nvGraphicFramePr>
        <p:xfrm>
          <a:off x="2590800" y="2362200"/>
          <a:ext cx="6248400" cy="1981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2.6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2.5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2.7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9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solidFill>
                  <a:srgbClr val="191718"/>
                </a:solidFill>
              </a:rPr>
              <a:t>Measures of Location: The Sample Median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7639"/>
                <a:ext cx="8229600" cy="4525963"/>
              </a:xfrm>
            </p:spPr>
            <p:txBody>
              <a:bodyPr/>
              <a:lstStyle/>
              <a:p>
                <a:r>
                  <a:rPr lang="en-US" sz="2400" b="1" dirty="0">
                    <a:cs typeface="Times New Roman" pitchFamily="18" charset="0"/>
                  </a:rPr>
                  <a:t>Median</a:t>
                </a:r>
                <a:r>
                  <a:rPr lang="en-US" sz="2400" i="1" dirty="0">
                    <a:cs typeface="Times New Roman" pitchFamily="18" charset="0"/>
                  </a:rPr>
                  <a:t>, </a:t>
                </a:r>
                <a:r>
                  <a:rPr lang="en-US" sz="2400" dirty="0">
                    <a:cs typeface="Times New Roman" pitchFamily="18" charset="0"/>
                  </a:rPr>
                  <a:t>unlike the mean, represents the middle value in the data where one-half the data is above and one-half the data is below when the data is ordered from lowest to highest.</a:t>
                </a:r>
              </a:p>
              <a:p>
                <a:r>
                  <a:rPr lang="en-US" sz="2400" dirty="0">
                    <a:cs typeface="Times New Roman" pitchFamily="18" charset="0"/>
                  </a:rPr>
                  <a:t>It is denoted in by 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>
                    <a:cs typeface="Times New Roman" pitchFamily="18" charset="0"/>
                  </a:rPr>
                  <a:t> .</a:t>
                </a:r>
                <a:endParaRPr lang="en-US" sz="2400" b="1" dirty="0">
                  <a:cs typeface="Times New Roman" pitchFamily="18" charset="0"/>
                </a:endParaRPr>
              </a:p>
              <a:p>
                <a:r>
                  <a:rPr lang="en-US" sz="2400" dirty="0">
                    <a:cs typeface="Times New Roman" pitchFamily="18" charset="0"/>
                  </a:rPr>
                  <a:t>The population median is denoted with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sz="2400" b="1" dirty="0">
                    <a:cs typeface="Times New Roman" pitchFamily="18" charset="0"/>
                  </a:rPr>
                  <a:t>.</a:t>
                </a:r>
                <a:r>
                  <a:rPr lang="en-US" sz="2400" dirty="0">
                    <a:cs typeface="Times New Roman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dirty="0">
                    <a:cs typeface="Times New Roman" pitchFamily="18" charset="0"/>
                  </a:rPr>
                  <a:t>To compute the median:</a:t>
                </a:r>
              </a:p>
              <a:p>
                <a:pPr lvl="1"/>
                <a:r>
                  <a:rPr lang="en-US" sz="2000" dirty="0">
                    <a:cs typeface="Times New Roman" pitchFamily="18" charset="0"/>
                  </a:rPr>
                  <a:t>If n is odd, order the data, the data point in the middle is the median.</a:t>
                </a:r>
              </a:p>
              <a:p>
                <a:pPr lvl="1"/>
                <a:r>
                  <a:rPr lang="en-US" sz="2000" dirty="0">
                    <a:cs typeface="Times New Roman" pitchFamily="18" charset="0"/>
                  </a:rPr>
                  <a:t>If n is even, order the data, sum the two middle data points and divide by two.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7639"/>
                <a:ext cx="8229600" cy="4525963"/>
              </a:xfrm>
              <a:blipFill>
                <a:blip r:embed="rId3"/>
                <a:stretch>
                  <a:fillRect l="-1079" t="-1117" r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7526D3-ECA5-47F7-B37B-97843A7D96A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906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Example - Median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123432"/>
            <a:ext cx="8458200" cy="5257800"/>
          </a:xfrm>
        </p:spPr>
        <p:txBody>
          <a:bodyPr>
            <a:normAutofit/>
          </a:bodyPr>
          <a:lstStyle/>
          <a:p>
            <a:r>
              <a:rPr lang="en-US" sz="2000" dirty="0">
                <a:cs typeface="Times New Roman" pitchFamily="18" charset="0"/>
              </a:rPr>
              <a:t>Grade point averages of 15 University of Pittsburgh Engineering Freshmen:</a:t>
            </a: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r>
              <a:rPr lang="en-US" sz="2000" dirty="0">
                <a:cs typeface="Times New Roman" pitchFamily="18" charset="0"/>
              </a:rPr>
              <a:t>First we order the numbers:</a:t>
            </a:r>
          </a:p>
          <a:p>
            <a:endParaRPr lang="en-US" sz="2000" dirty="0">
              <a:cs typeface="Times New Roman" pitchFamily="18" charset="0"/>
            </a:endParaRPr>
          </a:p>
          <a:p>
            <a:r>
              <a:rPr lang="en-US" sz="2000" dirty="0">
                <a:cs typeface="Times New Roman" pitchFamily="18" charset="0"/>
              </a:rPr>
              <a:t>The median is</a:t>
            </a:r>
          </a:p>
          <a:p>
            <a:r>
              <a:rPr lang="en-US" sz="2000" dirty="0">
                <a:cs typeface="Times New Roman" pitchFamily="18" charset="0"/>
              </a:rPr>
              <a:t>What is the median of the following sample? (n=14) </a:t>
            </a:r>
          </a:p>
          <a:p>
            <a:pPr>
              <a:buNone/>
            </a:pPr>
            <a:r>
              <a:rPr lang="en-US" sz="2000" dirty="0">
                <a:cs typeface="Times New Roman" pitchFamily="18" charset="0"/>
              </a:rPr>
              <a:t>	</a:t>
            </a:r>
          </a:p>
          <a:p>
            <a:pPr>
              <a:buNone/>
            </a:pPr>
            <a:r>
              <a:rPr lang="en-US" sz="2000" dirty="0">
                <a:cs typeface="Times New Roman" pitchFamily="18" charset="0"/>
              </a:rPr>
              <a:t>	</a:t>
            </a:r>
          </a:p>
          <a:p>
            <a:r>
              <a:rPr lang="en-US" sz="2000" dirty="0">
                <a:cs typeface="Times New Roman" pitchFamily="18" charset="0"/>
              </a:rPr>
              <a:t>The median 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220959"/>
              </p:ext>
            </p:extLst>
          </p:nvPr>
        </p:nvGraphicFramePr>
        <p:xfrm>
          <a:off x="2667000" y="1600200"/>
          <a:ext cx="66294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612957"/>
              </p:ext>
            </p:extLst>
          </p:nvPr>
        </p:nvGraphicFramePr>
        <p:xfrm>
          <a:off x="2152261" y="4038600"/>
          <a:ext cx="8077200" cy="381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864016"/>
              </p:ext>
            </p:extLst>
          </p:nvPr>
        </p:nvGraphicFramePr>
        <p:xfrm>
          <a:off x="2209800" y="5257833"/>
          <a:ext cx="7538720" cy="457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46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Measures of Central Tendency or Location</a:t>
            </a:r>
            <a:endParaRPr lang="en-US" sz="360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cs typeface="Times New Roman" pitchFamily="18" charset="0"/>
              </a:rPr>
              <a:t>Mode</a:t>
            </a:r>
            <a:r>
              <a:rPr lang="en-US" sz="2000" dirty="0">
                <a:cs typeface="Times New Roman" pitchFamily="18" charset="0"/>
              </a:rPr>
              <a:t>, a third measure of central tendency, is the single value that occurs most often in the data. 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cs typeface="Times New Roman" pitchFamily="18" charset="0"/>
              </a:rPr>
              <a:t>Example</a:t>
            </a:r>
            <a:r>
              <a:rPr lang="en-US" sz="2000" dirty="0">
                <a:cs typeface="Times New Roman" pitchFamily="18" charset="0"/>
              </a:rPr>
              <a:t>:  Determine the mode(s) in the GPA data.</a:t>
            </a:r>
          </a:p>
          <a:p>
            <a:pPr>
              <a:spcBef>
                <a:spcPct val="50000"/>
              </a:spcBef>
            </a:pPr>
            <a:endParaRPr lang="en-US" sz="2000" dirty="0"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839879"/>
              </p:ext>
            </p:extLst>
          </p:nvPr>
        </p:nvGraphicFramePr>
        <p:xfrm>
          <a:off x="2514600" y="2971800"/>
          <a:ext cx="66294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407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68" y="76200"/>
            <a:ext cx="8229600" cy="1143000"/>
          </a:xfrm>
        </p:spPr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Mean and Median – Sensitivity to Outliers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458200" cy="5181600"/>
          </a:xfrm>
        </p:spPr>
        <p:txBody>
          <a:bodyPr>
            <a:normAutofit/>
          </a:bodyPr>
          <a:lstStyle/>
          <a:p>
            <a:r>
              <a:rPr lang="en-US" sz="2000" dirty="0">
                <a:cs typeface="Times New Roman" pitchFamily="18" charset="0"/>
              </a:rPr>
              <a:t>Grade point averages of 15 University of Pittsburgh Engineering Freshmen:</a:t>
            </a: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r>
              <a:rPr lang="en-US" sz="2000" dirty="0">
                <a:cs typeface="Times New Roman" pitchFamily="18" charset="0"/>
              </a:rPr>
              <a:t>First we order the numbers:</a:t>
            </a: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r>
              <a:rPr lang="en-US" sz="2000" dirty="0">
                <a:cs typeface="Times New Roman" pitchFamily="18" charset="0"/>
              </a:rPr>
              <a:t>Since </a:t>
            </a:r>
            <a:r>
              <a:rPr lang="en-US" sz="2000" i="1" dirty="0">
                <a:cs typeface="Times New Roman" pitchFamily="18" charset="0"/>
              </a:rPr>
              <a:t>n </a:t>
            </a:r>
            <a:r>
              <a:rPr lang="en-US" sz="2000" dirty="0">
                <a:cs typeface="Times New Roman" pitchFamily="18" charset="0"/>
              </a:rPr>
              <a:t>=15 is odd, the median is the {(n+1)/2}</a:t>
            </a:r>
            <a:r>
              <a:rPr lang="en-US" sz="2000" baseline="30000" dirty="0" err="1">
                <a:cs typeface="Times New Roman" pitchFamily="18" charset="0"/>
              </a:rPr>
              <a:t>th</a:t>
            </a:r>
            <a:r>
              <a:rPr lang="en-US" sz="2000" dirty="0">
                <a:cs typeface="Times New Roman" pitchFamily="18" charset="0"/>
              </a:rPr>
              <a:t> ordered value. </a:t>
            </a:r>
          </a:p>
          <a:p>
            <a:pPr>
              <a:buNone/>
            </a:pPr>
            <a:r>
              <a:rPr lang="en-US" sz="2000" dirty="0">
                <a:cs typeface="Times New Roman" pitchFamily="18" charset="0"/>
              </a:rPr>
              <a:t>	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020576"/>
              </p:ext>
            </p:extLst>
          </p:nvPr>
        </p:nvGraphicFramePr>
        <p:xfrm>
          <a:off x="2133600" y="5029200"/>
          <a:ext cx="8077200" cy="381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662817"/>
              </p:ext>
            </p:extLst>
          </p:nvPr>
        </p:nvGraphicFramePr>
        <p:xfrm>
          <a:off x="2667000" y="1828800"/>
          <a:ext cx="6248400" cy="19086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988183"/>
              </p:ext>
            </p:extLst>
          </p:nvPr>
        </p:nvGraphicFramePr>
        <p:xfrm>
          <a:off x="2667000" y="3810000"/>
          <a:ext cx="6248400" cy="3817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2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n-lt"/>
                          <a:cs typeface="Times New Roman" pitchFamily="18" charset="0"/>
                        </a:rPr>
                        <a:t>Mean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46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Mean and Median – Sensitivity to Outliers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458200" cy="5181600"/>
          </a:xfrm>
        </p:spPr>
        <p:txBody>
          <a:bodyPr>
            <a:noAutofit/>
          </a:bodyPr>
          <a:lstStyle/>
          <a:p>
            <a:r>
              <a:rPr lang="en-US" sz="2000" dirty="0">
                <a:cs typeface="Times New Roman" pitchFamily="18" charset="0"/>
              </a:rPr>
              <a:t>Grade point averages of 15 University of Pittsburgh Engineering Freshmen:</a:t>
            </a: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r>
              <a:rPr lang="en-US" sz="2000" dirty="0">
                <a:cs typeface="Times New Roman" pitchFamily="18" charset="0"/>
              </a:rPr>
              <a:t>First we order the numbers:</a:t>
            </a:r>
          </a:p>
          <a:p>
            <a:endParaRPr lang="en-US" sz="2000" dirty="0">
              <a:cs typeface="Times New Roman" pitchFamily="18" charset="0"/>
            </a:endParaRPr>
          </a:p>
          <a:p>
            <a:endParaRPr lang="en-US" sz="2000" dirty="0">
              <a:cs typeface="Times New Roman" pitchFamily="18" charset="0"/>
            </a:endParaRPr>
          </a:p>
          <a:p>
            <a:r>
              <a:rPr lang="en-US" sz="2000" dirty="0">
                <a:cs typeface="Times New Roman" pitchFamily="18" charset="0"/>
              </a:rPr>
              <a:t>Since </a:t>
            </a:r>
            <a:r>
              <a:rPr lang="en-US" sz="2000" i="1" dirty="0">
                <a:cs typeface="Times New Roman" pitchFamily="18" charset="0"/>
              </a:rPr>
              <a:t>n </a:t>
            </a:r>
            <a:r>
              <a:rPr lang="en-US" sz="2000" dirty="0">
                <a:cs typeface="Times New Roman" pitchFamily="18" charset="0"/>
              </a:rPr>
              <a:t>=15 is odd, the median is the {(n+1)/2}</a:t>
            </a:r>
            <a:r>
              <a:rPr lang="en-US" sz="2000" baseline="30000" dirty="0" err="1">
                <a:cs typeface="Times New Roman" pitchFamily="18" charset="0"/>
              </a:rPr>
              <a:t>th</a:t>
            </a:r>
            <a:r>
              <a:rPr lang="en-US" sz="2000" dirty="0">
                <a:cs typeface="Times New Roman" pitchFamily="18" charset="0"/>
              </a:rPr>
              <a:t> ordered value.</a:t>
            </a:r>
          </a:p>
          <a:p>
            <a:pPr>
              <a:buNone/>
            </a:pPr>
            <a:r>
              <a:rPr lang="en-US" sz="2000" dirty="0">
                <a:cs typeface="Times New Roman" pitchFamily="18" charset="0"/>
              </a:rPr>
              <a:t>	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597230"/>
              </p:ext>
            </p:extLst>
          </p:nvPr>
        </p:nvGraphicFramePr>
        <p:xfrm>
          <a:off x="2133600" y="5029200"/>
          <a:ext cx="8153400" cy="381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38775"/>
              </p:ext>
            </p:extLst>
          </p:nvPr>
        </p:nvGraphicFramePr>
        <p:xfrm>
          <a:off x="2667000" y="1828800"/>
          <a:ext cx="6248400" cy="26720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8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726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n-lt"/>
                          <a:cs typeface="Times New Roman" pitchFamily="18" charset="0"/>
                        </a:rPr>
                        <a:t>Total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39.7 + (33.1 – 3.1)  = 39.7 + 30 = 69.7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72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+mn-lt"/>
                          <a:cs typeface="Times New Roman" pitchFamily="18" charset="0"/>
                        </a:rPr>
                        <a:t>Mean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6873240" y="2923032"/>
            <a:ext cx="563880" cy="50292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704832" y="5010912"/>
            <a:ext cx="533400" cy="4572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6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Measures of Variability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 addition to measures of location, we need measures to tell us how spread out the data is:</a:t>
            </a:r>
          </a:p>
          <a:p>
            <a:pPr lvl="1" eaLnBrk="1" hangingPunct="1"/>
            <a:r>
              <a:rPr lang="en-US" altLang="en-US" dirty="0"/>
              <a:t>Range</a:t>
            </a:r>
          </a:p>
          <a:p>
            <a:pPr lvl="1" eaLnBrk="1" hangingPunct="1"/>
            <a:r>
              <a:rPr lang="en-US" altLang="en-US" dirty="0"/>
              <a:t>Variance</a:t>
            </a:r>
          </a:p>
          <a:p>
            <a:pPr lvl="1" eaLnBrk="1" hangingPunct="1"/>
            <a:r>
              <a:rPr lang="en-US" altLang="en-US" dirty="0"/>
              <a:t>Standard Deviation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DD92E0-DC3B-4163-B73A-434A08E5713F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39942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648201"/>
            <a:ext cx="5613400" cy="136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943" name="Rectangle 12"/>
          <p:cNvSpPr>
            <a:spLocks noChangeArrowheads="1"/>
          </p:cNvSpPr>
          <p:nvPr/>
        </p:nvSpPr>
        <p:spPr bwMode="auto">
          <a:xfrm>
            <a:off x="4191000" y="6019800"/>
            <a:ext cx="640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400"/>
              <a:t>Samples with identical measures of center but different amounts of variability</a:t>
            </a:r>
          </a:p>
        </p:txBody>
      </p:sp>
    </p:spTree>
    <p:extLst>
      <p:ext uri="{BB962C8B-B14F-4D97-AF65-F5344CB8AC3E}">
        <p14:creationId xmlns:p14="http://schemas.microsoft.com/office/powerpoint/2010/main" val="2706301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Measures of Variability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cs typeface="Times New Roman" pitchFamily="18" charset="0"/>
              </a:rPr>
              <a:t>In addition to a measure of location, we need a measure that tells us how spread out the data is.</a:t>
            </a:r>
          </a:p>
          <a:p>
            <a:endParaRPr lang="en-US" sz="2800" dirty="0">
              <a:cs typeface="Times New Roman" pitchFamily="18" charset="0"/>
            </a:endParaRPr>
          </a:p>
          <a:p>
            <a:r>
              <a:rPr lang="en-US" sz="2800" dirty="0">
                <a:cs typeface="Times New Roman" pitchFamily="18" charset="0"/>
              </a:rPr>
              <a:t>A simple measure of variability is </a:t>
            </a:r>
            <a:r>
              <a:rPr lang="en-US" sz="2800" b="1" dirty="0">
                <a:cs typeface="Times New Roman" pitchFamily="18" charset="0"/>
              </a:rPr>
              <a:t>range</a:t>
            </a:r>
            <a:r>
              <a:rPr lang="en-US" sz="2800" i="1" dirty="0">
                <a:cs typeface="Times New Roman" pitchFamily="18" charset="0"/>
              </a:rPr>
              <a:t>.</a:t>
            </a:r>
          </a:p>
          <a:p>
            <a:pPr lvl="1">
              <a:buNone/>
            </a:pPr>
            <a:endParaRPr lang="en-US" dirty="0">
              <a:cs typeface="Times New Roman" pitchFamily="18" charset="0"/>
            </a:endParaRPr>
          </a:p>
          <a:p>
            <a:pPr lvl="1">
              <a:buNone/>
            </a:pPr>
            <a:r>
              <a:rPr lang="en-US" dirty="0">
                <a:cs typeface="Times New Roman" pitchFamily="18" charset="0"/>
              </a:rPr>
              <a:t>Range</a:t>
            </a:r>
            <a:r>
              <a:rPr lang="en-US" b="1" dirty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</a:rPr>
              <a:t>= largest value - smallest value</a:t>
            </a:r>
          </a:p>
          <a:p>
            <a:pPr lvl="1">
              <a:buNone/>
            </a:pPr>
            <a:endParaRPr lang="en-US" dirty="0">
              <a:cs typeface="Times New Roman" pitchFamily="18" charset="0"/>
            </a:endParaRPr>
          </a:p>
          <a:p>
            <a:endParaRPr lang="en-US" sz="2800" i="1" u="sng" dirty="0">
              <a:cs typeface="Times New Roman" pitchFamily="18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414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Range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Simplest measure of variability</a:t>
            </a:r>
          </a:p>
          <a:p>
            <a:pPr eaLnBrk="1" hangingPunct="1"/>
            <a:r>
              <a:rPr lang="en-US" altLang="en-US" dirty="0"/>
              <a:t>Range = largest value – smallest value</a:t>
            </a:r>
          </a:p>
          <a:p>
            <a:pPr lvl="1" eaLnBrk="1" hangingPunct="1"/>
            <a:r>
              <a:rPr lang="en-US" altLang="en-US" dirty="0"/>
              <a:t>When range is large, variability is high</a:t>
            </a:r>
          </a:p>
          <a:p>
            <a:pPr lvl="1" eaLnBrk="1" hangingPunct="1"/>
            <a:r>
              <a:rPr lang="en-US" altLang="en-US" dirty="0"/>
              <a:t>Limitation – only focuses on most extreme values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/>
              <a:t>We are more interested in the deviations of individual observations from the mean…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3FFF68-680F-4839-97A5-C3B790948BE9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40966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967164"/>
            <a:ext cx="56134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5009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Variance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02E7B22-125B-4D13-A092-7D75011F142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295400"/>
                <a:ext cx="10591800" cy="480060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Deviations from the mean – subtract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from each of the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/>
                  <a:t> sample observations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, 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Negative deviation – observation smaller than the mean</a:t>
                </a:r>
              </a:p>
              <a:p>
                <a:pPr lvl="1"/>
                <a:r>
                  <a:rPr lang="en-US" dirty="0"/>
                  <a:t>Positive deviation – observation larger than the mean</a:t>
                </a:r>
              </a:p>
              <a:p>
                <a:pPr lvl="1"/>
                <a:r>
                  <a:rPr lang="en-US" dirty="0"/>
                  <a:t>Small deviations – less variability</a:t>
                </a:r>
              </a:p>
              <a:p>
                <a:pPr lvl="1"/>
                <a:r>
                  <a:rPr lang="en-US" dirty="0"/>
                  <a:t>Large deviations – more variability</a:t>
                </a:r>
              </a:p>
              <a:p>
                <a:r>
                  <a:rPr lang="en-US" dirty="0"/>
                  <a:t>Need to combine these deviations so we can easily interpret large sets of data.  How?...</a:t>
                </a:r>
              </a:p>
              <a:p>
                <a:pPr lvl="1"/>
                <a:r>
                  <a:rPr lang="en-US" dirty="0"/>
                  <a:t>Thought 1: Average the deviations?  No, this always results in a value of zero.</a:t>
                </a:r>
              </a:p>
              <a:p>
                <a:pPr lvl="1"/>
                <a:r>
                  <a:rPr lang="en-US" dirty="0"/>
                  <a:t>Thought 2: Average the absolute values of the deviations?  OK, but algebra is kind of complicated</a:t>
                </a:r>
              </a:p>
              <a:p>
                <a:pPr lvl="1"/>
                <a:r>
                  <a:rPr lang="en-US" dirty="0"/>
                  <a:t>Thought 3: Square the deviations? 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295400"/>
                <a:ext cx="10591800" cy="4800600"/>
              </a:xfrm>
              <a:blipFill>
                <a:blip r:embed="rId2"/>
                <a:stretch>
                  <a:fillRect l="-958" t="-2375" b="-2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582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Variance &amp; Standard Deviation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9DAC5-0350-4227-845A-7E36ECE904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70000"/>
                  </a:lnSpc>
                </a:pPr>
                <a:r>
                  <a:rPr lang="en-US" dirty="0"/>
                  <a:t>Sample Variance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/>
                          </a:rPr>
                          <m:t>𝑖</m:t>
                        </m:r>
                        <m:r>
                          <a:rPr lang="en-US" sz="2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800" i="1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den>
                        </m:f>
                      </m:e>
                    </m:nary>
                  </m:oMath>
                </a14:m>
                <a:endParaRPr lang="en-US" sz="2000" dirty="0"/>
              </a:p>
              <a:p>
                <a:pPr>
                  <a:lnSpc>
                    <a:spcPct val="170000"/>
                  </a:lnSpc>
                </a:pPr>
                <a:r>
                  <a:rPr lang="en-US" dirty="0"/>
                  <a:t>Sample Standard Deviation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square root of the variance				</a:t>
                </a:r>
                <a:endParaRPr lang="en-US" sz="2000" dirty="0"/>
              </a:p>
              <a:p>
                <a:pPr>
                  <a:lnSpc>
                    <a:spcPct val="170000"/>
                  </a:lnSpc>
                </a:pPr>
                <a:r>
                  <a:rPr lang="en-US" dirty="0"/>
                  <a:t>Population Variance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/>
                          </a:rPr>
                          <m:t>𝑖</m:t>
                        </m:r>
                        <m:r>
                          <a:rPr lang="en-US" sz="2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800" i="1"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  <m:r>
                                  <a:rPr lang="en-US" sz="2800" i="1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/>
                              </a:rPr>
                              <m:t>𝑁</m:t>
                            </m:r>
                          </m:den>
                        </m:f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70000"/>
                  </a:lnSpc>
                </a:pPr>
                <a:r>
                  <a:rPr lang="en-US" dirty="0"/>
                  <a:t>Population Standard Deviation	</a:t>
                </a:r>
                <a14:m>
                  <m:oMath xmlns:m="http://schemas.openxmlformats.org/officeDocument/2006/math">
                    <m:r>
                      <a:rPr lang="el-GR" sz="2800" i="1">
                        <a:latin typeface="Cambria Math"/>
                        <a:ea typeface="Cambria Math"/>
                      </a:rPr>
                      <m:t>𝜎</m:t>
                    </m:r>
                    <m:r>
                      <a:rPr lang="en-US" sz="2800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051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Why Divide by n-1?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498DFC-4914-4C1C-B8C8-B2B123B0A372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76401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Sample Variance: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/>
                          </a:rPr>
                          <m:t>𝑖</m:t>
                        </m:r>
                        <m:r>
                          <a:rPr lang="en-US" sz="2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sz="2800" i="1">
                                    <a:latin typeface="Cambria Math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i="1">
                                <a:latin typeface="Cambria Math"/>
                              </a:rPr>
                              <m:t>𝑛</m:t>
                            </m:r>
                            <m:r>
                              <a:rPr lang="en-US" sz="2800" i="1">
                                <a:latin typeface="Cambria Math"/>
                              </a:rPr>
                              <m:t>−1</m:t>
                            </m:r>
                          </m:den>
                        </m:f>
                      </m:e>
                    </m:nary>
                  </m:oMath>
                </a14:m>
                <a:endParaRPr lang="en-US" sz="2800" dirty="0"/>
              </a:p>
              <a:p>
                <a:r>
                  <a:rPr lang="en-US" dirty="0"/>
                  <a:t>Divide by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–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rather than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The sample variance is based on n – 1 </a:t>
                </a:r>
                <a:r>
                  <a:rPr lang="en-US" b="1" dirty="0"/>
                  <a:t>degrees of freedom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we know the sample mean and the values of all but one of the data points, the final data point is automatically determined.</a:t>
                </a:r>
              </a:p>
              <a:p>
                <a:pPr lvl="1"/>
                <a:r>
                  <a:rPr lang="en-US" dirty="0"/>
                  <a:t>Only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–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cs typeface="Times New Roman" panose="02020603050405020304" pitchFamily="18" charset="0"/>
                  </a:rPr>
                  <a:t> observations are freely determined.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76401"/>
                <a:ext cx="8229600" cy="4525963"/>
              </a:xfrm>
              <a:blipFill>
                <a:blip r:embed="rId3"/>
                <a:stretch>
                  <a:fillRect l="-1849" t="-11765" r="-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861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990600"/>
                <a:ext cx="8229600" cy="5365750"/>
              </a:xfrm>
            </p:spPr>
            <p:txBody>
              <a:bodyPr/>
              <a:lstStyle/>
              <a:p>
                <a:pPr eaLnBrk="1" hangingPunct="1">
                  <a:defRPr/>
                </a:pPr>
                <a:r>
                  <a:rPr lang="en-US" sz="2800" dirty="0"/>
                  <a:t>Observations:  4, 6, 9, 13, 18</a:t>
                </a:r>
              </a:p>
              <a:p>
                <a:pPr eaLnBrk="1" hangingPunct="1">
                  <a:defRPr/>
                </a:pPr>
                <a:r>
                  <a:rPr lang="en-US" sz="2800" dirty="0"/>
                  <a:t>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 , </m:t>
                    </m:r>
                    <m:r>
                      <a:rPr lang="en-US" sz="2800" i="1">
                        <a:latin typeface="Cambria Math"/>
                      </a:rPr>
                      <m:t>𝜎</m:t>
                    </m:r>
                  </m:oMath>
                </a14:m>
                <a:r>
                  <a:rPr lang="en-US" sz="2800" dirty="0"/>
                  <a:t> ?</a:t>
                </a:r>
              </a:p>
              <a:p>
                <a:pPr eaLnBrk="1" hangingPunct="1">
                  <a:defRPr/>
                </a:pPr>
                <a:endParaRPr lang="en-US" dirty="0"/>
              </a:p>
              <a:p>
                <a:pPr marL="0" indent="0" eaLnBrk="1" hangingPunct="1">
                  <a:buNone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990600"/>
                <a:ext cx="8229600" cy="5365750"/>
              </a:xfrm>
              <a:blipFill>
                <a:blip r:embed="rId3"/>
                <a:stretch>
                  <a:fillRect l="-1387" t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B7E70-3051-4586-B5A1-E5218C80120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352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1954764" y="196851"/>
            <a:ext cx="8229600" cy="5635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Example 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E26A89-9755-49B4-918D-8AA1E05B9A89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5865" y="914401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dirty="0"/>
                  <a:t>Observations:  4, 5, 9, 17, 18</a:t>
                </a:r>
              </a:p>
              <a:p>
                <a:r>
                  <a:rPr lang="en-US" sz="2800" dirty="0"/>
                  <a:t>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 , </m:t>
                    </m:r>
                    <m:r>
                      <a:rPr lang="en-US" sz="2800" i="1">
                        <a:latin typeface="Cambria Math"/>
                      </a:rPr>
                      <m:t>𝜎</m:t>
                    </m:r>
                  </m:oMath>
                </a14:m>
                <a:r>
                  <a:rPr lang="en-US" sz="2800" dirty="0"/>
                  <a:t> 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5865" y="914401"/>
                <a:ext cx="8229600" cy="4525963"/>
              </a:xfrm>
              <a:blipFill>
                <a:blip r:embed="rId3"/>
                <a:stretch>
                  <a:fillRect l="-1541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87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Compare Examples 1 &amp;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96471178"/>
                  </p:ext>
                </p:extLst>
              </p:nvPr>
            </p:nvGraphicFramePr>
            <p:xfrm>
              <a:off x="1981200" y="1219200"/>
              <a:ext cx="8229600" cy="2560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9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+mn-lt"/>
                            </a:rPr>
                            <a:t>Statistic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+mn-lt"/>
                            </a:rPr>
                            <a:t>Example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+mn-lt"/>
                            </a:rPr>
                            <a:t>Example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latin typeface="+mn-lt"/>
                            </a:rPr>
                            <a:t>Sample Observations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+mn-lt"/>
                            </a:rPr>
                            <a:t>4, 6, 9, 13,</a:t>
                          </a:r>
                          <a:r>
                            <a:rPr lang="en-US" sz="2200" baseline="0" dirty="0">
                              <a:latin typeface="+mn-lt"/>
                            </a:rPr>
                            <a:t> 18</a:t>
                          </a:r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+mn-lt"/>
                            </a:rPr>
                            <a:t>4, 5, 9,</a:t>
                          </a:r>
                          <a:r>
                            <a:rPr lang="en-US" sz="2200" baseline="0" dirty="0">
                              <a:latin typeface="+mn-lt"/>
                            </a:rPr>
                            <a:t> 17, 18</a:t>
                          </a:r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latin typeface="+mn-lt"/>
                            </a:rPr>
                            <a:t>Sample Mean,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oMath>
                          </a14:m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latin typeface="+mn-lt"/>
                            </a:rPr>
                            <a:t>Sample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latin typeface="+mn-lt"/>
                            </a:rPr>
                            <a:t>Sample Variance,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latin typeface="+mn-lt"/>
                            </a:rPr>
                            <a:t>Sample </a:t>
                          </a:r>
                          <a:r>
                            <a:rPr lang="en-US" sz="2200" dirty="0" err="1">
                              <a:latin typeface="+mn-lt"/>
                            </a:rPr>
                            <a:t>Std</a:t>
                          </a:r>
                          <a:r>
                            <a:rPr lang="en-US" sz="2200" dirty="0">
                              <a:latin typeface="+mn-lt"/>
                            </a:rPr>
                            <a:t> Dev,</a:t>
                          </a:r>
                          <a:r>
                            <a:rPr lang="en-US" sz="2200" baseline="0" dirty="0">
                              <a:latin typeface="+mn-lt"/>
                            </a:rPr>
                            <a:t> </a:t>
                          </a:r>
                          <a:r>
                            <a:rPr lang="en-US" sz="2200" i="1" baseline="0" dirty="0">
                              <a:latin typeface="+mn-lt"/>
                            </a:rPr>
                            <a:t>s</a:t>
                          </a:r>
                          <a:endParaRPr lang="en-US" sz="2200" i="1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96471178"/>
                  </p:ext>
                </p:extLst>
              </p:nvPr>
            </p:nvGraphicFramePr>
            <p:xfrm>
              <a:off x="1981200" y="1219200"/>
              <a:ext cx="8229600" cy="25603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9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90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+mn-lt"/>
                            </a:rPr>
                            <a:t>Statistic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+mn-lt"/>
                            </a:rPr>
                            <a:t>Example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+mn-lt"/>
                            </a:rPr>
                            <a:t>Example 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latin typeface="+mn-lt"/>
                            </a:rPr>
                            <a:t>Sample Observations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+mn-lt"/>
                            </a:rPr>
                            <a:t>4, 6, 9, 13,</a:t>
                          </a:r>
                          <a:r>
                            <a:rPr lang="en-US" sz="2200" baseline="0" dirty="0">
                              <a:latin typeface="+mn-lt"/>
                            </a:rPr>
                            <a:t> 18</a:t>
                          </a:r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+mn-lt"/>
                            </a:rPr>
                            <a:t>4, 5, 9,</a:t>
                          </a:r>
                          <a:r>
                            <a:rPr lang="en-US" sz="2200" baseline="0" dirty="0">
                              <a:latin typeface="+mn-lt"/>
                            </a:rPr>
                            <a:t> 17, 18</a:t>
                          </a:r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39" t="-208824" r="-185088" b="-3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latin typeface="+mn-lt"/>
                            </a:rPr>
                            <a:t>Sample 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39" t="-421212" r="-185088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latin typeface="+mn-lt"/>
                            </a:rPr>
                            <a:t>Sample </a:t>
                          </a:r>
                          <a:r>
                            <a:rPr lang="en-US" sz="2200" dirty="0" err="1">
                              <a:latin typeface="+mn-lt"/>
                            </a:rPr>
                            <a:t>Std</a:t>
                          </a:r>
                          <a:r>
                            <a:rPr lang="en-US" sz="2200" dirty="0">
                              <a:latin typeface="+mn-lt"/>
                            </a:rPr>
                            <a:t> Dev,</a:t>
                          </a:r>
                          <a:r>
                            <a:rPr lang="en-US" sz="2200" baseline="0" dirty="0">
                              <a:latin typeface="+mn-lt"/>
                            </a:rPr>
                            <a:t> </a:t>
                          </a:r>
                          <a:r>
                            <a:rPr lang="en-US" sz="2200" i="1" baseline="0" dirty="0">
                              <a:latin typeface="+mn-lt"/>
                            </a:rPr>
                            <a:t>s</a:t>
                          </a:r>
                          <a:endParaRPr lang="en-US" sz="2200" i="1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DF7F11-C81A-438C-BCC3-E333E21329D4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49158" name="TextBox 6"/>
          <p:cNvSpPr txBox="1">
            <a:spLocks noChangeArrowheads="1"/>
          </p:cNvSpPr>
          <p:nvPr/>
        </p:nvSpPr>
        <p:spPr bwMode="auto">
          <a:xfrm>
            <a:off x="1981200" y="4038601"/>
            <a:ext cx="75438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2000" dirty="0">
                <a:latin typeface="+mn-lt"/>
              </a:rPr>
              <a:t>What can we say about these 2 samples?</a:t>
            </a:r>
          </a:p>
          <a:p>
            <a:pPr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86446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solidFill>
                  <a:srgbClr val="191718"/>
                </a:solidFill>
              </a:rPr>
              <a:t>Statistical Modeling, Scientific Inspection and Graphical Diagnostics</a:t>
            </a:r>
            <a:endParaRPr lang="en-US" alt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Scatter Plot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1400" dirty="0"/>
              <a:t>	 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4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14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Histograms					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Stem-and-Leaf Displays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Box-and-Whisker Plot or Box Plot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346576-9498-41F3-97E4-4B5601B12063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1332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764" y="4495800"/>
            <a:ext cx="1463675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42" name="Picture 2" descr="http://upload.wikimedia.org/wikipedia/commons/thumb/0/0f/Oldfaithful3.png/240px-Oldfaithful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6" t="14680" b="11730"/>
          <a:stretch/>
        </p:blipFill>
        <p:spPr bwMode="auto">
          <a:xfrm>
            <a:off x="2913413" y="2161309"/>
            <a:ext cx="2115787" cy="167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utoShape 4" descr="data:image/jpeg;base64,/9j/4AAQSkZJRgABAQAAAQABAAD/2wCEAAkGBwgHBhUIBwgVFRUXGR0bFxYVFhsXGRoZHSMiIRsdGxckIC0sGiApHh8gIT0kKSk3Li43Gis/QjssOiktLisBCgoKDQ0OGhAPFCwkHyQvNCwsLC8sKywrLCwsMSw0LCwsLCwrLCwsLCw0LSw0LCwsNywrLDQsLCw0LDQsNDQsLP/AABEIAOEA4QMBIgACEQEDEQH/xAAbAAEBAQEBAQEBAAAAAAAAAAAABAUDBgIBB//EAEIQAAIBAwAECgUKBQQDAAAAAAABAgMEEQUSFCETFTE0QVRzk7PRUVVhlNIGIjI1NlJTcZGyByNygcJCYqHiM4KS/8QAFAEBAAAAAAAAAAAAAAAAAAAAAP/EABQRAQAAAAAAAAAAAAAAAAAAAAD/2gAMAwEAAhEDEQA/AP7iAAAAAAAAAAAAAAAAAAAAAAAAAAAAAAAAAAAAAAAAAAAAAAAAAAAAAAAAAAAAAAAAAAAAAAAAAAAAAAAAAAAAAlvrqVtqRp0daU5aqWUuhyy3+UT42i/9XrvF5H5pDndv2r8OoXARbRf+r13i8htF/wCr13i8i0ARbRf+r13i8htF/wCr13i8i0ARbRf+r13i8htF/wCr13i8i0ARbRf+r13i8htF/wCr13i8i0ARbRf+r13i8htF/wCr13i8i0ARbRf+r13i8htF/wCr13i8i0ARbRf+r13i8htF/wCr13i8i0ARbRf+r13i8htF/wCr13i8i0ARbRf+r13i8htF/wCr13i8i0ARbRf+r13i8j4q311RSlWscJyjFtVE8a0lHOMe00CLS/M12lLxIgWgAAAAAAAAACHSHO7ftX4dQuIdIc7t+1fh1C4AAAAAAAAAAAAAAAAAAAAAAAAARaX5mu0peJEtItL8zXaUvEiBaAAAAAAAAAAIdIc7t+1fh1C4h0hzu37V+HULgAAAAAAAAAAAAAAAAAAAAAAAABFpfma7Sl4kS0i0vzNdpS8SIFoAAAAAAAAAAh0hzu37V+HULiHSHO7ftX4dQs4SHC8FrLOM46cekD6AAGdpCHD39KhKpNRam2oTlDLWMZcWn0s++Krf8Wt7xW+MXP1tR/pqf4lwEPFVv+LW94rfGOKrf8Wt7xW+MuAEPFVv+LW94rfGOKrf8Wt7xW+MuAEPFVv+LW94rfGOKrf8Wt7xW+MuAEPFVv8Ai1veK3xjiq3/ABa3vFb4y4AeV+XFF6M+SNze2N1WjUhTbjLh6rw/ThyaZucVW/4tb3it8ZkfxJ+wl52TPSgQ8VW/4tb3it8Z8WdLZ9KzowqTceDg8TnKe9uaeNZvHIv0NEhp/Xc+yh+6YFwAAEWl+ZrtKXiRLSDSVSFbR8atKSac6TTXI05xwwLwAAAAAAAAABDpDndv2r8OoI/Xcuyj+6Q0hzu37V+HUOcuG4+fBOOOCWc5znWljAGkCZK9xvlT+i+iX0ujp5P+Q1eY3Sp/RWNz+l09PIByufraj/TU/wAS4zKvD8c0uFccas8YznPzc5NMAAAAAAAAAAAPNfxJ+wl52TPSnmv4k/YS87JnpQBDT+u59lD90y4zf53H0uCcccFDWznP0p4wBpAmirzC1pU+R62E+X/Tjf8AqErzG+VP6O/dL6XR08gFJiUfsxb/AJW/7oGk1eY3Sp/RXQ/pdPTyf8mbQ+zFv+Vv+6AG2AAAAAAAAAAIdIc7t+1fh1BH67l2Uf3SGkOd2/avw6hZwcOF4XVWcYz049AH0AAIbn62o/01P8S4hufraj/TU/xLgAAAAAAAAAAA81/En7CXnZM9Kea/iT9hLzsmelAENP67n2UP3TLiGn9dz7KH7pgXAAAYlH7MW/5W/wC6BtkGkqcKOj40qUUkp0kkuRJTjhAXgAAAAAAAAACHSHO7ftX4dQuIdIc7t+1fh1C4AAAM7SNR0L+lWdKcklNPUhKeG8YyknjkPrjWj1et3FT4S8AQca0er1u4qfCONaPV63cVPhLwBBxrR6vW7ip8I41o9XrdxU+EvAEHGtHq9buKnwjjWj1et3FT4S8AQca0er1u4qfCONaPV63cVPhLwB5T5b156T+SVzY2NnXlUnTajHgZrL9GWsI3ONaPV63cVPhLwBBxrR6vW7ip8J8WVXadKTrRpTUeDgszhKGWnNvGUs8q/U0gAAAAi0vzNdpS8SJaRaX5mu0peJEC0AAAAAAAAAAQ6Q53b9q/DqFxDpDndv2r8OoXAAAAAAAAAAAAAAAAAAAAAAAAACLS/M12lLxIlpFpfma7Sl4kQLQAAAAAAAAABDpDndv2r8OoXEOkOd2/avw6hcAAAAAAAAAAAAAAAAAAAAAAAAAItL8zXaUvEiWkWl+ZrtKXiRAtAAAAAAAAAAGdp2FVWW0288TpZnHdrJvVksNf+x02e+68u7XmUK4ou42ZVVrpazjnfq8mcejJ82t5b3eXbVVLDw8cmfz6eQDjs9915d2vM4XK0jSq04RvIvXnqv8Alci1ZS+96Yr9TUJKWk7GqpundwfB757/AKKWU2/ZmMln/a/QB87PfdeXdrzGz33Xl3a8yi1uaF3R4a2qqUXlZXpTw1+ae4+6lSFKm6lWSSSy29ySXK2wM5x0htnA7bHGq3ng+nKX3jts9915d2vM/VpSxdrtSuY6mdXP+70Y9PsK4SU4KUXue9AR7PfdeXdrzOFstI1a1SEryK1JqK/lcq1Iy+96ZNf2L7q5o2lLhbioorKWX6XuS9rOM9J2MI05Su4Yq44N5WJJ4w0+lPWW/wD3L0gfOz33Xl3a8xs9915d2vMtJ7q+tbOUY3VeMdbky+XkX6ZaWfagI7BaRubONad7FNreuC/7HfZ77ry7teZ22y32vZFVWvjOr6F7fQdwMrSC0jbWU69O8i3FZS4L/sUbPfdeXdrzKXcUVcK3dVa7Tko536qaTePRlpf3Odpe2t5rbLXjLVeHh5wwOWz33Xl3a8zhcrSNKrThG9i9eeq/5XItWUvvemK/U1CeV9aQjUcriP8AK/8ALvXzN2t870fNaf5MDls9915d2vMbPfdeXdrzKaFencUlVoyynyPDR+1akKNJ1askoxTbb5ElytgQRWkNtdB3kcaqeeD6ctfeOlWzua6UK15lKUZYUEs6rUsZz7D7npOyp2m11LhKHJrPdvKoyjOKlB5T5GgP0AAAAAAAAAARVLKXGLvaMoqXB6m+Od+cpt53r2E+hdFT0bObdWOJYxGClGKw23LDk/nPO/H3UaoAGAtB3VS3rU7i5g5VU466g1qw+dqxUdbCScl+e/OW8rfAEejLSpaUJKtUUpSnKcnFYWZPOEsvkXtO15TqVrSdKjKKk4tJyjrRTa3NxytZezO87ADBloSvOwVtUqUpPW15SnGctafJrNqa34/ssLCSWDYsqMrazhQqVXNxik5S5ZNLGX7XynYAS6SoVrm1dKhOKbe/XjrRcelNZXKulMyH8nq/AUaCvI4p040m3B5cE6bbXzt0swf/ANdON/oQAMzTejq2kqapU68Yx/1KUNZ5ympReVqyWHjo38m40wBkR0VW45WkJVoL06kZKUlhxUZPWacd6lycqNcADGehakNPPS1K+k24SjqTjFxSephJpKSitVvGeWT/ACOmg9Ez0ZnhK6liEKccRx8ynraud7zL5zy+Tk3GqAB5+j8nKlvQuKML3hFXzrcNBPli086mrrZbXTyLHtPQACLRNnOxs+AqVdZ60nuzhKTbUY5beEnjl/TkO1/b7XZTtt3z4uPzk2t6xvSayv7o7gDBjoW8p28I07qGtCpKpFOMnCLalHVS186urJvGeX0Lca1haxsbGnaQk2oQjFN8rUVjf+hQAAAAAAAAAAAAAAAAAAAAAAAAAAAAAAAAAAAAAAAAAAAAAAAAAAAAAAAAAAAAAAAAAAAAAAAAAAAAAAAAAAAAAAD/2Q=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6" descr="data:image/jpeg;base64,/9j/4AAQSkZJRgABAQAAAQABAAD/2wCEAAkGBwgHBhUIBwgVFRUXGR0bFxYVFhsXGRoZHSMiIRsdGxckIC0sGiApHh8gIT0kKSk3Li43Gis/QjssOiktLisBCgoKDQ0OGhAPFCwkHyQvNCwsLC8sKywrLCwsMSw0LCwsLCwrLCwsLCw0LSw0LCwsNywrLDQsLCw0LDQsNDQsLP/AABEIAOEA4QMBIgACEQEDEQH/xAAbAAEBAQEBAQEBAAAAAAAAAAAABAUDBgIBB//EAEIQAAIBAwAECgUKBQQDAAAAAAABAgMEEQUSFCETFTE0QVRzk7PRUVVhlNIGIjI1NlJTcZGyByNygcJCYqHiM4KS/8QAFAEBAAAAAAAAAAAAAAAAAAAAAP/EABQRAQAAAAAAAAAAAAAAAAAAAAD/2gAMAwEAAhEDEQA/AP7iAAAAAAAAAAAAAAAAAAAAAAAAAAAAAAAAAAAAAAAAAAAAAAAAAAAAAAAAAAAAAAAAAAAAAAAAAAAAAAAAAAAAAlvrqVtqRp0daU5aqWUuhyy3+UT42i/9XrvF5H5pDndv2r8OoXARbRf+r13i8htF/wCr13i8i0ARbRf+r13i8htF/wCr13i8i0ARbRf+r13i8htF/wCr13i8i0ARbRf+r13i8htF/wCr13i8i0ARbRf+r13i8htF/wCr13i8i0ARbRf+r13i8htF/wCr13i8i0ARbRf+r13i8htF/wCr13i8i0ARbRf+r13i8htF/wCr13i8i0ARbRf+r13i8htF/wCr13i8i0ARbRf+r13i8j4q311RSlWscJyjFtVE8a0lHOMe00CLS/M12lLxIgWgAAAAAAAAACHSHO7ftX4dQuIdIc7t+1fh1C4AAAAAAAAAAAAAAAAAAAAAAAAARaX5mu0peJEtItL8zXaUvEiBaAAAAAAAAAAIdIc7t+1fh1C4h0hzu37V+HULgAAAAAAAAAAAAAAAAAAAAAAAABFpfma7Sl4kS0i0vzNdpS8SIFoAAAAAAAAAAh0hzu37V+HULiHSHO7ftX4dQs4SHC8FrLOM46cekD6AAGdpCHD39KhKpNRam2oTlDLWMZcWn0s++Krf8Wt7xW+MXP1tR/pqf4lwEPFVv+LW94rfGOKrf8Wt7xW+MuAEPFVv+LW94rfGOKrf8Wt7xW+MuAEPFVv+LW94rfGOKrf8Wt7xW+MuAEPFVv8Ai1veK3xjiq3/ABa3vFb4y4AeV+XFF6M+SNze2N1WjUhTbjLh6rw/ThyaZucVW/4tb3it8ZkfxJ+wl52TPSgQ8VW/4tb3it8Z8WdLZ9KzowqTceDg8TnKe9uaeNZvHIv0NEhp/Xc+yh+6YFwAAEWl+ZrtKXiRLSDSVSFbR8atKSac6TTXI05xwwLwAAAAAAAAABDpDndv2r8OoI/Xcuyj+6Q0hzu37V+HUOcuG4+fBOOOCWc5znWljAGkCZK9xvlT+i+iX0ujp5P+Q1eY3Sp/RWNz+l09PIByufraj/TU/wAS4zKvD8c0uFccas8YznPzc5NMAAAAAAAAAAAPNfxJ+wl52TPSnmv4k/YS87JnpQBDT+u59lD90y4zf53H0uCcccFDWznP0p4wBpAmirzC1pU+R62E+X/Tjf8AqErzG+VP6O/dL6XR08gFJiUfsxb/AJW/7oGk1eY3Sp/RXQ/pdPTyf8mbQ+zFv+Vv+6AG2AAAAAAAAAAIdIc7t+1fh1BH67l2Uf3SGkOd2/avw6hZwcOF4XVWcYz049AH0AAIbn62o/01P8S4hufraj/TU/xLgAAAAAAAAAAA81/En7CXnZM9Kea/iT9hLzsmelAENP67n2UP3TLiGn9dz7KH7pgXAAAYlH7MW/5W/wC6BtkGkqcKOj40qUUkp0kkuRJTjhAXgAAAAAAAAACHSHO7ftX4dQuIdIc7t+1fh1C4AAAM7SNR0L+lWdKcklNPUhKeG8YyknjkPrjWj1et3FT4S8AQca0er1u4qfCONaPV63cVPhLwBBxrR6vW7ip8I41o9XrdxU+EvAEHGtHq9buKnwjjWj1et3FT4S8AQca0er1u4qfCONaPV63cVPhLwB5T5b156T+SVzY2NnXlUnTajHgZrL9GWsI3ONaPV63cVPhLwBBxrR6vW7ip8J8WVXadKTrRpTUeDgszhKGWnNvGUs8q/U0gAAAAi0vzNdpS8SJaRaX5mu0peJEC0AAAAAAAAAAQ6Q53b9q/DqFxDpDndv2r8OoXAAAAAAAAAAAAAAAAAAAAAAAAACLS/M12lLxIlpFpfma7Sl4kQLQAAAAAAAAABDpDndv2r8OoXEOkOd2/avw6hcAAAAAAAAAAAAAAAAAAAAAAAAAItL8zXaUvEiWkWl+ZrtKXiRAtAAAAAAAAAAGdp2FVWW0288TpZnHdrJvVksNf+x02e+68u7XmUK4ou42ZVVrpazjnfq8mcejJ82t5b3eXbVVLDw8cmfz6eQDjs9915d2vM4XK0jSq04RvIvXnqv8Alci1ZS+96Yr9TUJKWk7GqpundwfB757/AKKWU2/ZmMln/a/QB87PfdeXdrzGz33Xl3a8yi1uaF3R4a2qqUXlZXpTw1+ae4+6lSFKm6lWSSSy29ySXK2wM5x0htnA7bHGq3ng+nKX3jts9915d2vM/VpSxdrtSuY6mdXP+70Y9PsK4SU4KUXue9AR7PfdeXdrzOFstI1a1SEryK1JqK/lcq1Iy+96ZNf2L7q5o2lLhbioorKWX6XuS9rOM9J2MI05Su4Yq44N5WJJ4w0+lPWW/wD3L0gfOz33Xl3a8xs9915d2vMtJ7q+tbOUY3VeMdbky+XkX6ZaWfagI7BaRubONad7FNreuC/7HfZ77ry7teZ22y32vZFVWvjOr6F7fQdwMrSC0jbWU69O8i3FZS4L/sUbPfdeXdrzKXcUVcK3dVa7Tko536qaTePRlpf3Odpe2t5rbLXjLVeHh5wwOWz33Xl3a8zhcrSNKrThG9i9eeq/5XItWUvvemK/U1CeV9aQjUcriP8AK/8ALvXzN2t870fNaf5MDls9915d2vMbPfdeXdrzKaFencUlVoyynyPDR+1akKNJ1askoxTbb5ElytgQRWkNtdB3kcaqeeD6ctfeOlWzua6UK15lKUZYUEs6rUsZz7D7npOyp2m11LhKHJrPdvKoyjOKlB5T5GgP0AAAAAAAAAARVLKXGLvaMoqXB6m+Od+cpt53r2E+hdFT0bObdWOJYxGClGKw23LDk/nPO/H3UaoAGAtB3VS3rU7i5g5VU466g1qw+dqxUdbCScl+e/OW8rfAEejLSpaUJKtUUpSnKcnFYWZPOEsvkXtO15TqVrSdKjKKk4tJyjrRTa3NxytZezO87ADBloSvOwVtUqUpPW15SnGctafJrNqa34/ssLCSWDYsqMrazhQqVXNxik5S5ZNLGX7XynYAS6SoVrm1dKhOKbe/XjrRcelNZXKulMyH8nq/AUaCvI4p040m3B5cE6bbXzt0swf/ANdON/oQAMzTejq2kqapU68Yx/1KUNZ5ympReVqyWHjo38m40wBkR0VW45WkJVoL06kZKUlhxUZPWacd6lycqNcADGehakNPPS1K+k24SjqTjFxSephJpKSitVvGeWT/ACOmg9Ez0ZnhK6liEKccRx8ynraud7zL5zy+Tk3GqAB5+j8nKlvQuKML3hFXzrcNBPli086mrrZbXTyLHtPQACLRNnOxs+AqVdZ60nuzhKTbUY5beEnjl/TkO1/b7XZTtt3z4uPzk2t6xvSayv7o7gDBjoW8p28I07qGtCpKpFOMnCLalHVS186urJvGeX0Lca1haxsbGnaQk2oQjFN8rUVjf+hQAAAAAAAAAAAAAAAAAAAAAAAAAAAAAAAAAAAAAAAAAAAAAAAAAAAAAAAAAAAAAAAAAAAAAAAAAAAAAAAAAAAAAAD/2Q==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8" descr="data:image/jpeg;base64,/9j/4AAQSkZJRgABAQAAAQABAAD/2wCEAAkGBwgHBhUIBwgVFRUXGR0bFxYVFhsXGRoZHSMiIRsdGxckIC0sGiApHh8gIT0kKSk3Li43Gis/QjssOiktLisBCgoKDQ0OGhAPFCwkHyQvNCwsLC8sKywrLCwsMSw0LCwsLCwrLCwsLCw0LSw0LCwsNywrLDQsLCw0LDQsNDQsLP/AABEIAOEA4QMBIgACEQEDEQH/xAAbAAEBAQEBAQEBAAAAAAAAAAAABAUDBgIBB//EAEIQAAIBAwAECgUKBQQDAAAAAAABAgMEEQUSFCETFTE0QVRzk7PRUVVhlNIGIjI1NlJTcZGyByNygcJCYqHiM4KS/8QAFAEBAAAAAAAAAAAAAAAAAAAAAP/EABQRAQAAAAAAAAAAAAAAAAAAAAD/2gAMAwEAAhEDEQA/AP7iAAAAAAAAAAAAAAAAAAAAAAAAAAAAAAAAAAAAAAAAAAAAAAAAAAAAAAAAAAAAAAAAAAAAAAAAAAAAAAAAAAAAAlvrqVtqRp0daU5aqWUuhyy3+UT42i/9XrvF5H5pDndv2r8OoXARbRf+r13i8htF/wCr13i8i0ARbRf+r13i8htF/wCr13i8i0ARbRf+r13i8htF/wCr13i8i0ARbRf+r13i8htF/wCr13i8i0ARbRf+r13i8htF/wCr13i8i0ARbRf+r13i8htF/wCr13i8i0ARbRf+r13i8htF/wCr13i8i0ARbRf+r13i8htF/wCr13i8i0ARbRf+r13i8htF/wCr13i8i0ARbRf+r13i8j4q311RSlWscJyjFtVE8a0lHOMe00CLS/M12lLxIgWgAAAAAAAAACHSHO7ftX4dQuIdIc7t+1fh1C4AAAAAAAAAAAAAAAAAAAAAAAAARaX5mu0peJEtItL8zXaUvEiBaAAAAAAAAAAIdIc7t+1fh1C4h0hzu37V+HULgAAAAAAAAAAAAAAAAAAAAAAAABFpfma7Sl4kS0i0vzNdpS8SIFoAAAAAAAAAAh0hzu37V+HULiHSHO7ftX4dQs4SHC8FrLOM46cekD6AAGdpCHD39KhKpNRam2oTlDLWMZcWn0s++Krf8Wt7xW+MXP1tR/pqf4lwEPFVv+LW94rfGOKrf8Wt7xW+MuAEPFVv+LW94rfGOKrf8Wt7xW+MuAEPFVv+LW94rfGOKrf8Wt7xW+MuAEPFVv8Ai1veK3xjiq3/ABa3vFb4y4AeV+XFF6M+SNze2N1WjUhTbjLh6rw/ThyaZucVW/4tb3it8ZkfxJ+wl52TPSgQ8VW/4tb3it8Z8WdLZ9KzowqTceDg8TnKe9uaeNZvHIv0NEhp/Xc+yh+6YFwAAEWl+ZrtKXiRLSDSVSFbR8atKSac6TTXI05xwwLwAAAAAAAAABDpDndv2r8OoI/Xcuyj+6Q0hzu37V+HUOcuG4+fBOOOCWc5znWljAGkCZK9xvlT+i+iX0ujp5P+Q1eY3Sp/RWNz+l09PIByufraj/TU/wAS4zKvD8c0uFccas8YznPzc5NMAAAAAAAAAAAPNfxJ+wl52TPSnmv4k/YS87JnpQBDT+u59lD90y4zf53H0uCcccFDWznP0p4wBpAmirzC1pU+R62E+X/Tjf8AqErzG+VP6O/dL6XR08gFJiUfsxb/AJW/7oGk1eY3Sp/RXQ/pdPTyf8mbQ+zFv+Vv+6AG2AAAAAAAAAAIdIc7t+1fh1BH67l2Uf3SGkOd2/avw6hZwcOF4XVWcYz049AH0AAIbn62o/01P8S4hufraj/TU/xLgAAAAAAAAAAA81/En7CXnZM9Kea/iT9hLzsmelAENP67n2UP3TLiGn9dz7KH7pgXAAAYlH7MW/5W/wC6BtkGkqcKOj40qUUkp0kkuRJTjhAXgAAAAAAAAACHSHO7ftX4dQuIdIc7t+1fh1C4AAAM7SNR0L+lWdKcklNPUhKeG8YyknjkPrjWj1et3FT4S8AQca0er1u4qfCONaPV63cVPhLwBBxrR6vW7ip8I41o9XrdxU+EvAEHGtHq9buKnwjjWj1et3FT4S8AQca0er1u4qfCONaPV63cVPhLwB5T5b156T+SVzY2NnXlUnTajHgZrL9GWsI3ONaPV63cVPhLwBBxrR6vW7ip8J8WVXadKTrRpTUeDgszhKGWnNvGUs8q/U0gAAAAi0vzNdpS8SJaRaX5mu0peJEC0AAAAAAAAAAQ6Q53b9q/DqFxDpDndv2r8OoXAAAAAAAAAAAAAAAAAAAAAAAAACLS/M12lLxIlpFpfma7Sl4kQLQAAAAAAAAABDpDndv2r8OoXEOkOd2/avw6hcAAAAAAAAAAAAAAAAAAAAAAAAAItL8zXaUvEiWkWl+ZrtKXiRAtAAAAAAAAAAGdp2FVWW0288TpZnHdrJvVksNf+x02e+68u7XmUK4ou42ZVVrpazjnfq8mcejJ82t5b3eXbVVLDw8cmfz6eQDjs9915d2vM4XK0jSq04RvIvXnqv8Alci1ZS+96Yr9TUJKWk7GqpundwfB757/AKKWU2/ZmMln/a/QB87PfdeXdrzGz33Xl3a8yi1uaF3R4a2qqUXlZXpTw1+ae4+6lSFKm6lWSSSy29ySXK2wM5x0htnA7bHGq3ng+nKX3jts9915d2vM/VpSxdrtSuY6mdXP+70Y9PsK4SU4KUXue9AR7PfdeXdrzOFstI1a1SEryK1JqK/lcq1Iy+96ZNf2L7q5o2lLhbioorKWX6XuS9rOM9J2MI05Su4Yq44N5WJJ4w0+lPWW/wD3L0gfOz33Xl3a8xs9915d2vMtJ7q+tbOUY3VeMdbky+XkX6ZaWfagI7BaRubONad7FNreuC/7HfZ77ry7teZ22y32vZFVWvjOr6F7fQdwMrSC0jbWU69O8i3FZS4L/sUbPfdeXdrzKXcUVcK3dVa7Tko536qaTePRlpf3Odpe2t5rbLXjLVeHh5wwOWz33Xl3a8zhcrSNKrThG9i9eeq/5XItWUvvemK/U1CeV9aQjUcriP8AK/8ALvXzN2t870fNaf5MDls9915d2vMbPfdeXdrzKaFencUlVoyynyPDR+1akKNJ1askoxTbb5ElytgQRWkNtdB3kcaqeeD6ctfeOlWzua6UK15lKUZYUEs6rUsZz7D7npOyp2m11LhKHJrPdvKoyjOKlB5T5GgP0AAAAAAAAAARVLKXGLvaMoqXB6m+Od+cpt53r2E+hdFT0bObdWOJYxGClGKw23LDk/nPO/H3UaoAGAtB3VS3rU7i5g5VU466g1qw+dqxUdbCScl+e/OW8rfAEejLSpaUJKtUUpSnKcnFYWZPOEsvkXtO15TqVrSdKjKKk4tJyjrRTa3NxytZezO87ADBloSvOwVtUqUpPW15SnGctafJrNqa34/ssLCSWDYsqMrazhQqVXNxik5S5ZNLGX7XynYAS6SoVrm1dKhOKbe/XjrRcelNZXKulMyH8nq/AUaCvI4p040m3B5cE6bbXzt0swf/ANdON/oQAMzTejq2kqapU68Yx/1KUNZ5ympReVqyWHjo38m40wBkR0VW45WkJVoL06kZKUlhxUZPWacd6lycqNcADGehakNPPS1K+k24SjqTjFxSephJpKSitVvGeWT/ACOmg9Ez0ZnhK6liEKccRx8ynraud7zL5zy+Tk3GqAB5+j8nKlvQuKML3hFXzrcNBPli086mrrZbXTyLHtPQACLRNnOxs+AqVdZ60nuzhKTbUY5beEnjl/TkO1/b7XZTtt3z4uPzk2t6xvSayv7o7gDBjoW8p28I07qGtCpKpFOMnCLalHVS186urJvGeX0Lca1haxsbGnaQk2oQjFN8rUVjf+hQAAAAAAAAAAAAAAAAAAAAAAAAAAAAAAAAAAAAAAAAAAAAAAAAAAAAAAAAAAAAAAAAAAAAAAAAAAAAAAAAAAAAAAD/2Q==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5" t="14553" r="4369" b="8979"/>
          <a:stretch/>
        </p:blipFill>
        <p:spPr>
          <a:xfrm>
            <a:off x="7271657" y="4821383"/>
            <a:ext cx="1864426" cy="163879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09"/>
          <a:stretch/>
        </p:blipFill>
        <p:spPr>
          <a:xfrm>
            <a:off x="8140721" y="2175164"/>
            <a:ext cx="1990725" cy="163508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49053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84197" y="1066800"/>
            <a:ext cx="8229600" cy="535729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Example from p. 19</a:t>
            </a:r>
          </a:p>
          <a:p>
            <a:pPr lvl="1" eaLnBrk="1" hangingPunct="1"/>
            <a:r>
              <a:rPr lang="en-US" altLang="en-US" sz="2400" dirty="0"/>
              <a:t>Textile manufacturer produces cloth with various percentages of cotton</a:t>
            </a:r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endParaRPr lang="en-US" altLang="en-US" sz="2400" dirty="0"/>
          </a:p>
          <a:p>
            <a:pPr lvl="1" eaLnBrk="1" hangingPunct="1"/>
            <a:r>
              <a:rPr lang="en-US" altLang="en-US" sz="2400" dirty="0"/>
              <a:t>How can graphics be used to determine distinction between samples?...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061" y="82253"/>
            <a:ext cx="8229600" cy="639762"/>
          </a:xfrm>
        </p:spPr>
        <p:txBody>
          <a:bodyPr/>
          <a:lstStyle/>
          <a:p>
            <a:r>
              <a:rPr lang="en-US" altLang="en-US" sz="3600" dirty="0"/>
              <a:t>Scatter Plot</a:t>
            </a:r>
          </a:p>
        </p:txBody>
      </p:sp>
      <p:pic>
        <p:nvPicPr>
          <p:cNvPr id="32771" name="Picture 3" descr="T01_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5664" y="2819401"/>
            <a:ext cx="6254395" cy="2132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038600" y="2400939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dirty="0">
                <a:latin typeface="+mn-lt"/>
              </a:rPr>
              <a:t>Table 1.3: Tensile strength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4937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r>
              <a:rPr lang="en-US" altLang="en-US" sz="3600" dirty="0"/>
              <a:t>Example – Page 19</a:t>
            </a:r>
          </a:p>
        </p:txBody>
      </p:sp>
      <p:pic>
        <p:nvPicPr>
          <p:cNvPr id="33797" name="Picture 3" descr="01_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1" y="1898650"/>
            <a:ext cx="7705725" cy="419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90800" y="6122437"/>
            <a:ext cx="73247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+mn-lt"/>
              </a:rPr>
              <a:t>Figure 1.5  Scatter plot of tensile strength and cotton percentages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Stem-and-Leaf Displays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Quick way to get visual representation of data</a:t>
            </a:r>
          </a:p>
          <a:p>
            <a:pPr eaLnBrk="1" hangingPunct="1"/>
            <a:r>
              <a:rPr lang="en-US" altLang="en-US" dirty="0"/>
              <a:t>How to make:</a:t>
            </a:r>
          </a:p>
          <a:p>
            <a:pPr marL="971550" lvl="1" indent="-514350" eaLnBrk="1" hangingPunct="1">
              <a:buFont typeface="Arial" charset="0"/>
              <a:buAutoNum type="arabicPeriod"/>
            </a:pPr>
            <a:r>
              <a:rPr lang="en-US" altLang="en-US" dirty="0"/>
              <a:t>Select one or more digits for stem values</a:t>
            </a:r>
          </a:p>
          <a:p>
            <a:pPr marL="971550" lvl="1" indent="-514350" eaLnBrk="1" hangingPunct="1">
              <a:buFont typeface="Arial" charset="0"/>
              <a:buAutoNum type="arabicPeriod"/>
            </a:pPr>
            <a:r>
              <a:rPr lang="en-US" altLang="en-US" dirty="0"/>
              <a:t>List stem values in vertical column</a:t>
            </a:r>
          </a:p>
          <a:p>
            <a:pPr marL="971550" lvl="1" indent="-514350" eaLnBrk="1" hangingPunct="1">
              <a:buFont typeface="Arial" charset="0"/>
              <a:buAutoNum type="arabicPeriod"/>
            </a:pPr>
            <a:r>
              <a:rPr lang="en-US" altLang="en-US" dirty="0"/>
              <a:t>Record leaf for each observation besides corresponding stem value</a:t>
            </a:r>
          </a:p>
          <a:p>
            <a:pPr marL="971550" lvl="1" indent="-514350" eaLnBrk="1" hangingPunct="1">
              <a:buFont typeface="Arial" charset="0"/>
              <a:buAutoNum type="arabicPeriod"/>
            </a:pPr>
            <a:r>
              <a:rPr lang="en-US" altLang="en-US" dirty="0"/>
              <a:t>Indicate units somewhere in display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559CCE-8A8D-4AC0-8C3D-75E732654DF8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797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30220" y="3170754"/>
            <a:ext cx="8229600" cy="762000"/>
          </a:xfrm>
        </p:spPr>
        <p:txBody>
          <a:bodyPr/>
          <a:lstStyle/>
          <a:p>
            <a:r>
              <a:rPr lang="en-US" altLang="en-US" sz="2800" dirty="0">
                <a:latin typeface="+mn-lt"/>
              </a:rPr>
              <a:t>Table 1.5  Stem-and-Leaf Plot of Battery Life</a:t>
            </a:r>
          </a:p>
        </p:txBody>
      </p:sp>
      <p:pic>
        <p:nvPicPr>
          <p:cNvPr id="35843" name="Picture 4" descr="T01_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256" y="3962400"/>
            <a:ext cx="8345488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 descr="T01_0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576264"/>
            <a:ext cx="665480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4601" y="162997"/>
            <a:ext cx="38769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>
                <a:latin typeface="+mn-lt"/>
              </a:rPr>
              <a:t>Table 1.4  Car Battery Life</a:t>
            </a:r>
            <a:endParaRPr lang="en-US" sz="2800" dirty="0">
              <a:latin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Table 1.6  Double-Stem-and-Leaf Plot of Battery Life</a:t>
            </a:r>
          </a:p>
        </p:txBody>
      </p:sp>
      <p:pic>
        <p:nvPicPr>
          <p:cNvPr id="36867" name="Picture 4" descr="T01_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676400"/>
            <a:ext cx="66548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0535"/>
            <a:ext cx="8229600" cy="760412"/>
          </a:xfrm>
        </p:spPr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Example: Stem-and-Leaf Displays</a:t>
            </a:r>
            <a:endParaRPr lang="en-US" sz="360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>
          <a:xfrm>
            <a:off x="2209800" y="1295400"/>
            <a:ext cx="7924800" cy="4800600"/>
          </a:xfrm>
        </p:spPr>
        <p:txBody>
          <a:bodyPr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165633"/>
              </p:ext>
            </p:extLst>
          </p:nvPr>
        </p:nvGraphicFramePr>
        <p:xfrm>
          <a:off x="2225040" y="1619180"/>
          <a:ext cx="66294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09800" y="911294"/>
            <a:ext cx="7086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  <a:cs typeface="Times New Roman" pitchFamily="18" charset="0"/>
              </a:rPr>
              <a:t>Grade point averages of 15 University of Pittsburgh Engineering Freshmen: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049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Frequency Distribution and Histograms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FB67A-6630-458E-904F-361A24CBBFC4}" type="slidenum">
              <a:rPr lang="en-US"/>
              <a:pPr>
                <a:defRPr/>
              </a:pPr>
              <a:t>38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800" b="1" dirty="0"/>
                  <a:t>Frequency</a:t>
                </a:r>
                <a:r>
                  <a:rPr lang="en-US" sz="2800" dirty="0"/>
                  <a:t> – # of times a particular value occurs in the data set</a:t>
                </a:r>
              </a:p>
              <a:p>
                <a:r>
                  <a:rPr lang="en-US" sz="2800" b="1" dirty="0"/>
                  <a:t>Relative Frequency </a:t>
                </a:r>
                <a:r>
                  <a:rPr lang="en-US" sz="2800" dirty="0"/>
                  <a:t>– proportion of times the value occurs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Rel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Freq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times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value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occurs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observations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in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data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set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r>
                  <a:rPr lang="en-US" sz="2800" b="1" dirty="0"/>
                  <a:t>Frequency Distribution </a:t>
                </a:r>
                <a:r>
                  <a:rPr lang="en-US" sz="2800" dirty="0"/>
                  <a:t>– a tabulation of the frequencies and/or relative frequency</a:t>
                </a:r>
              </a:p>
              <a:p>
                <a:r>
                  <a:rPr lang="en-US" sz="2800" b="1" dirty="0"/>
                  <a:t>Histogram</a:t>
                </a:r>
                <a:r>
                  <a:rPr lang="en-US" sz="2800" dirty="0"/>
                  <a:t> – vertical bar graph of the frequency distribution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b="-4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58225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sz="3600" dirty="0"/>
              <a:t>Example – page 21</a:t>
            </a:r>
            <a:endParaRPr lang="en-US" altLang="en-US" sz="3600" dirty="0"/>
          </a:p>
        </p:txBody>
      </p:sp>
      <p:pic>
        <p:nvPicPr>
          <p:cNvPr id="47107" name="Picture 3" descr="T01_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95401"/>
            <a:ext cx="7472362" cy="35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438400" y="5334000"/>
            <a:ext cx="6324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dirty="0">
                <a:latin typeface="+mn-lt"/>
              </a:rPr>
              <a:t>Table 1.7  Relative Frequency Distribution of Battery Life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52400"/>
            <a:ext cx="8229600" cy="792162"/>
          </a:xfrm>
        </p:spPr>
        <p:txBody>
          <a:bodyPr/>
          <a:lstStyle/>
          <a:p>
            <a:r>
              <a:rPr lang="en-US" sz="3600" dirty="0"/>
              <a:t>Example – page 21(cont.)</a:t>
            </a:r>
            <a:endParaRPr lang="en-US" altLang="en-US" sz="3600" dirty="0"/>
          </a:p>
        </p:txBody>
      </p:sp>
      <p:pic>
        <p:nvPicPr>
          <p:cNvPr id="48131" name="Picture 3" descr="01_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133600"/>
            <a:ext cx="7843838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581401" y="6096000"/>
            <a:ext cx="43689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>
                <a:latin typeface="+mn-lt"/>
              </a:rPr>
              <a:t>Figure 1.6  Relative frequency histogram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Example - Frequency Distribution and Histogram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cs typeface="Times New Roman" pitchFamily="18" charset="0"/>
              </a:rPr>
              <a:t>Grade point averages of 40 University of Pittsburgh Engineering Freshmen:</a:t>
            </a: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pPr marL="457200" indent="-457200"/>
            <a:endParaRPr lang="en-US" sz="2000" dirty="0">
              <a:cs typeface="Times New Roman" pitchFamily="18" charset="0"/>
            </a:endParaRPr>
          </a:p>
          <a:p>
            <a:r>
              <a:rPr lang="en-US" sz="2000" dirty="0">
                <a:cs typeface="Times New Roman" pitchFamily="18" charset="0"/>
              </a:rPr>
              <a:t>We want a compact summary of data.</a:t>
            </a: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619500"/>
              </p:ext>
            </p:extLst>
          </p:nvPr>
        </p:nvGraphicFramePr>
        <p:xfrm>
          <a:off x="2590800" y="2209800"/>
          <a:ext cx="6096000" cy="296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26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1" y="4648200"/>
          <a:ext cx="6857999" cy="1447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2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1.0 - &lt;2.0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2.0 - &lt;3.0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3.0 - &lt;4.0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2971" y="24882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Example - Frequency Distribution and Histogram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935377"/>
              </p:ext>
            </p:extLst>
          </p:nvPr>
        </p:nvGraphicFramePr>
        <p:xfrm>
          <a:off x="2590800" y="1295400"/>
          <a:ext cx="6096000" cy="2966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286001" y="4648200"/>
          <a:ext cx="6857999" cy="1478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2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788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1.0 - &lt;2.0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2.0 - &lt;3.0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3.0 - &lt;4.0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78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704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648276"/>
              </p:ext>
            </p:extLst>
          </p:nvPr>
        </p:nvGraphicFramePr>
        <p:xfrm>
          <a:off x="2286001" y="4648200"/>
          <a:ext cx="6857999" cy="1447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2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973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1.0 - &lt;2.0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2.0 - &lt;3.0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3.0 - &lt;4.0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73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8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Relative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+mn-lt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50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n-lt"/>
                <a:cs typeface="Times New Roman" pitchFamily="18" charset="0"/>
              </a:rPr>
              <a:t>Example - Frequency Distribution and Histogram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457200" indent="-457200"/>
            <a:r>
              <a:rPr lang="en-US" sz="1800" i="1" dirty="0">
                <a:cs typeface="Times New Roman" pitchFamily="18" charset="0"/>
              </a:rPr>
              <a:t>Frequency distribution</a:t>
            </a:r>
            <a:r>
              <a:rPr lang="en-US" sz="1800" dirty="0">
                <a:cs typeface="Times New Roman" pitchFamily="18" charset="0"/>
              </a:rPr>
              <a:t> - a grouped tabulation of data arranged according to size / a more compact summary of data than the original observations</a:t>
            </a:r>
          </a:p>
          <a:p>
            <a:pPr marL="457200" indent="-457200"/>
            <a:r>
              <a:rPr lang="en-US" sz="1800" i="1" dirty="0">
                <a:cs typeface="Times New Roman" pitchFamily="18" charset="0"/>
              </a:rPr>
              <a:t>Histogram</a:t>
            </a:r>
            <a:r>
              <a:rPr lang="en-US" sz="1800" dirty="0">
                <a:cs typeface="Times New Roman" pitchFamily="18" charset="0"/>
              </a:rPr>
              <a:t> - a vertical bar graph used to make a picture of the frequency distribution.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841216"/>
              </p:ext>
            </p:extLst>
          </p:nvPr>
        </p:nvGraphicFramePr>
        <p:xfrm>
          <a:off x="2667001" y="3009563"/>
          <a:ext cx="6857999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2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1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1.0 - &lt;2.0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2.0 - &lt;3.0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3.0 - &lt;4.0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Relative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(%7.5)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(%72.5)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(%20)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334000" y="3962400"/>
            <a:ext cx="36576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9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Example - Frequency Distribution and Histogram</a:t>
            </a:r>
            <a:endParaRPr lang="en-US" sz="360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44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51016284"/>
              </p:ext>
            </p:extLst>
          </p:nvPr>
        </p:nvGraphicFramePr>
        <p:xfrm>
          <a:off x="1905000" y="1447801"/>
          <a:ext cx="8229600" cy="493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1"/>
          <p:cNvSpPr txBox="1"/>
          <p:nvPr/>
        </p:nvSpPr>
        <p:spPr>
          <a:xfrm>
            <a:off x="2699658" y="5410200"/>
            <a:ext cx="7663542" cy="533400"/>
          </a:xfrm>
          <a:prstGeom prst="rect">
            <a:avLst/>
          </a:prstGeom>
          <a:solidFill>
            <a:schemeClr val="bg1"/>
          </a:solidFill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		          2			   3  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37053705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1624014" y="241300"/>
            <a:ext cx="8410575" cy="9144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Frequency Distribution and Histogram</a:t>
            </a:r>
          </a:p>
        </p:txBody>
      </p:sp>
      <p:sp>
        <p:nvSpPr>
          <p:cNvPr id="49155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786423-34DA-4FF2-A9BF-26672508D7B4}" type="slidenum">
              <a:rPr lang="en-US" altLang="en-US" sz="1200">
                <a:latin typeface="Tahoma" panose="020B060403050404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39940" name="Rectangle 3"/>
          <p:cNvSpPr>
            <a:spLocks noChangeArrowheads="1"/>
          </p:cNvSpPr>
          <p:nvPr/>
        </p:nvSpPr>
        <p:spPr bwMode="auto">
          <a:xfrm>
            <a:off x="1981200" y="1524001"/>
            <a:ext cx="76962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Steps for creating a frequency distribution and histogram: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Divide the relevant measurement scale into a collection of disjoint (non-overlapping) equal size intervals such that each observation in the data can be placed into one of the intervals.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Once these class intervals (classes) have been chosen, list along the left margin.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Count the number of observations that fall into each class (frequencies).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Determine the relative frequency by dividing the frequencies by n.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Draw a horizontal line (x-axis) to represent the measurement scale and mark the boundaries of the adjacent class intervals.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Draw a vertical line (y-axis) to represent the relative frequencies.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Draw the bars to represent the relative frequency in each class.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206285-4FFA-450B-AF21-7D6E6E319939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1752600" y="4648201"/>
            <a:ext cx="8763000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latin typeface="+mn-lt"/>
                <a:cs typeface="Times New Roman" panose="02020603050405020304" pitchFamily="18" charset="0"/>
              </a:rPr>
              <a:t>Peaks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:  A histogram may be </a:t>
            </a:r>
            <a:r>
              <a:rPr lang="en-US" altLang="en-US" sz="1800" dirty="0" err="1">
                <a:latin typeface="+mn-lt"/>
                <a:cs typeface="Times New Roman" panose="02020603050405020304" pitchFamily="18" charset="0"/>
              </a:rPr>
              <a:t>unimodal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, bimodal, or multimodal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 err="1">
                <a:latin typeface="+mn-lt"/>
                <a:cs typeface="Times New Roman" panose="02020603050405020304" pitchFamily="18" charset="0"/>
              </a:rPr>
              <a:t>Skewness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:  Looking at a histogram or a stem and leaf diagram helps us to determine if data are </a:t>
            </a:r>
            <a:r>
              <a:rPr lang="en-US" altLang="en-US" sz="1800" b="1" dirty="0">
                <a:latin typeface="+mn-lt"/>
                <a:cs typeface="Times New Roman" panose="02020603050405020304" pitchFamily="18" charset="0"/>
              </a:rPr>
              <a:t>symmetric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latin typeface="+mn-lt"/>
                <a:cs typeface="Times New Roman" panose="02020603050405020304" pitchFamily="18" charset="0"/>
              </a:rPr>
              <a:t>positively skewed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 (skewed right), or </a:t>
            </a:r>
            <a:r>
              <a:rPr lang="en-US" altLang="en-US" sz="1800" b="1" dirty="0">
                <a:latin typeface="+mn-lt"/>
                <a:cs typeface="Times New Roman" panose="02020603050405020304" pitchFamily="18" charset="0"/>
              </a:rPr>
              <a:t>negatively skewed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 (skewed left)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>
                <a:latin typeface="+mn-lt"/>
                <a:cs typeface="Times New Roman" panose="02020603050405020304" pitchFamily="18" charset="0"/>
              </a:rPr>
              <a:t>Outliers</a:t>
            </a:r>
            <a:r>
              <a:rPr lang="en-US" altLang="en-US" sz="1800" dirty="0">
                <a:latin typeface="+mn-lt"/>
                <a:cs typeface="Times New Roman" panose="02020603050405020304" pitchFamily="18" charset="0"/>
              </a:rPr>
              <a:t>:  These graphs also show </a:t>
            </a:r>
            <a:r>
              <a:rPr lang="en-US" altLang="en-US" sz="1800" b="1" dirty="0">
                <a:latin typeface="+mn-lt"/>
                <a:cs typeface="Times New Roman" panose="02020603050405020304" pitchFamily="18" charset="0"/>
              </a:rPr>
              <a:t>outliers</a:t>
            </a:r>
            <a:r>
              <a:rPr lang="en-US" altLang="en-US" sz="2400" dirty="0">
                <a:latin typeface="+mn-lt"/>
              </a:rPr>
              <a:t> </a:t>
            </a:r>
          </a:p>
        </p:txBody>
      </p:sp>
      <p:sp>
        <p:nvSpPr>
          <p:cNvPr id="28676" name="Text Box 3"/>
          <p:cNvSpPr txBox="1">
            <a:spLocks noChangeArrowheads="1"/>
          </p:cNvSpPr>
          <p:nvPr/>
        </p:nvSpPr>
        <p:spPr bwMode="auto">
          <a:xfrm>
            <a:off x="2209800" y="191870"/>
            <a:ext cx="6705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sz="3600" dirty="0">
                <a:latin typeface="+mj-lt"/>
              </a:rPr>
              <a:t>Histogram Shapes</a:t>
            </a:r>
          </a:p>
        </p:txBody>
      </p:sp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838200"/>
            <a:ext cx="5791200" cy="333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2743200" y="22098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symmetric </a:t>
            </a:r>
            <a:r>
              <a:rPr lang="en-US" altLang="en-US" sz="2400" dirty="0" err="1">
                <a:latin typeface="+mn-lt"/>
              </a:rPr>
              <a:t>unimodal</a:t>
            </a:r>
            <a:endParaRPr lang="en-US" altLang="en-US" sz="2400" dirty="0">
              <a:latin typeface="+mn-lt"/>
            </a:endParaRP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6019800" y="22098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bimodal</a:t>
            </a:r>
          </a:p>
        </p:txBody>
      </p:sp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2819400" y="41148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positively skewed</a:t>
            </a:r>
          </a:p>
        </p:txBody>
      </p:sp>
      <p:sp>
        <p:nvSpPr>
          <p:cNvPr id="55305" name="Text Box 9"/>
          <p:cNvSpPr txBox="1">
            <a:spLocks noChangeArrowheads="1"/>
          </p:cNvSpPr>
          <p:nvPr/>
        </p:nvSpPr>
        <p:spPr bwMode="auto">
          <a:xfrm>
            <a:off x="5715000" y="41148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+mn-lt"/>
              </a:rPr>
              <a:t>negatively skewed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E9C4AE-D8B6-40D7-B300-71EBD3311EE2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5539" name="Text Box 2"/>
          <p:cNvSpPr txBox="1">
            <a:spLocks noChangeArrowheads="1"/>
          </p:cNvSpPr>
          <p:nvPr/>
        </p:nvSpPr>
        <p:spPr bwMode="auto">
          <a:xfrm>
            <a:off x="2057400" y="348983"/>
            <a:ext cx="8001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3600" dirty="0">
                <a:latin typeface="+mj-lt"/>
              </a:rPr>
              <a:t>Three Different Shapes for a Population Distribution</a:t>
            </a:r>
          </a:p>
        </p:txBody>
      </p:sp>
      <p:graphicFrame>
        <p:nvGraphicFramePr>
          <p:cNvPr id="65540" name="Object 3"/>
          <p:cNvGraphicFramePr>
            <a:graphicFrameLocks noChangeAspect="1"/>
          </p:cNvGraphicFramePr>
          <p:nvPr/>
        </p:nvGraphicFramePr>
        <p:xfrm>
          <a:off x="2209800" y="1828801"/>
          <a:ext cx="7162800" cy="400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428571" imgH="2476190" progId="PBrush">
                  <p:embed/>
                </p:oleObj>
              </mc:Choice>
              <mc:Fallback>
                <p:oleObj name="Bitmap Image" r:id="rId3" imgW="4428571" imgH="2476190" progId="PBrush">
                  <p:embed/>
                  <p:pic>
                    <p:nvPicPr>
                      <p:cNvPr id="6554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828801"/>
                        <a:ext cx="7162800" cy="400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Line 5"/>
          <p:cNvSpPr>
            <a:spLocks noChangeShapeType="1"/>
          </p:cNvSpPr>
          <p:nvPr/>
        </p:nvSpPr>
        <p:spPr bwMode="auto">
          <a:xfrm>
            <a:off x="4038600" y="301625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3" name="Line 6"/>
          <p:cNvSpPr>
            <a:spLocks noChangeShapeType="1"/>
          </p:cNvSpPr>
          <p:nvPr/>
        </p:nvSpPr>
        <p:spPr bwMode="auto">
          <a:xfrm>
            <a:off x="3743632" y="5341374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4" name="Line 7"/>
          <p:cNvSpPr>
            <a:spLocks noChangeShapeType="1"/>
          </p:cNvSpPr>
          <p:nvPr/>
        </p:nvSpPr>
        <p:spPr bwMode="auto">
          <a:xfrm>
            <a:off x="4022952" y="5370871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7" name="Line 10"/>
          <p:cNvSpPr>
            <a:spLocks noChangeShapeType="1"/>
          </p:cNvSpPr>
          <p:nvPr/>
        </p:nvSpPr>
        <p:spPr bwMode="auto">
          <a:xfrm>
            <a:off x="8305800" y="5486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8" name="Line 11"/>
          <p:cNvSpPr>
            <a:spLocks noChangeShapeType="1"/>
          </p:cNvSpPr>
          <p:nvPr/>
        </p:nvSpPr>
        <p:spPr bwMode="auto">
          <a:xfrm>
            <a:off x="8610600" y="5486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49" name="Text Box 12"/>
          <p:cNvSpPr txBox="1">
            <a:spLocks noChangeArrowheads="1"/>
          </p:cNvSpPr>
          <p:nvPr/>
        </p:nvSpPr>
        <p:spPr bwMode="auto">
          <a:xfrm>
            <a:off x="5410200" y="2209801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+mn-lt"/>
              </a:rPr>
              <a:t>symmetric</a:t>
            </a:r>
          </a:p>
        </p:txBody>
      </p:sp>
      <p:sp>
        <p:nvSpPr>
          <p:cNvPr id="65550" name="Text Box 13"/>
          <p:cNvSpPr txBox="1">
            <a:spLocks noChangeArrowheads="1"/>
          </p:cNvSpPr>
          <p:nvPr/>
        </p:nvSpPr>
        <p:spPr bwMode="auto">
          <a:xfrm>
            <a:off x="4038600" y="4114801"/>
            <a:ext cx="2743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+mn-lt"/>
              </a:rPr>
              <a:t>positive skew</a:t>
            </a:r>
          </a:p>
        </p:txBody>
      </p:sp>
      <p:sp>
        <p:nvSpPr>
          <p:cNvPr id="65551" name="Text Box 15"/>
          <p:cNvSpPr txBox="1">
            <a:spLocks noChangeArrowheads="1"/>
          </p:cNvSpPr>
          <p:nvPr/>
        </p:nvSpPr>
        <p:spPr bwMode="auto">
          <a:xfrm>
            <a:off x="8077200" y="3962401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+mn-lt"/>
              </a:rPr>
              <a:t>negative skew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A9465-FE80-9A5C-BFAA-C48012631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3429000"/>
            <a:ext cx="1143000" cy="406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4613FC-9703-C7F6-17D6-B9D196E81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5791200"/>
            <a:ext cx="2540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53D63C-29D0-68F9-6FE1-C6B3A6708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5791200"/>
            <a:ext cx="254000" cy="40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04A24-427B-4931-990D-011FB0FD7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5867400"/>
            <a:ext cx="254000" cy="30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DC5B60-EF78-33CD-9956-3D7A97B7CC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5943600"/>
            <a:ext cx="254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1848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latin typeface="+mn-lt"/>
                <a:cs typeface="Times New Roman" pitchFamily="18" charset="0"/>
              </a:rPr>
              <a:t>Boxplots</a:t>
            </a:r>
            <a:endParaRPr lang="en-US" sz="360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cs typeface="Times New Roman" pitchFamily="18" charset="0"/>
              </a:rPr>
              <a:t>We want a pictorial summary which describes the most important features of the data set, e.g., central tendency, variability, symmetry, outliers. 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cs typeface="Times New Roman" pitchFamily="18" charset="0"/>
              </a:rPr>
              <a:t>Also, we want this summary to not be too sensitive to the presence of a few outliers. 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cs typeface="Times New Roman" pitchFamily="18" charset="0"/>
              </a:rPr>
              <a:t>Reminder: median is not much sensitive to outliers!</a:t>
            </a:r>
          </a:p>
          <a:p>
            <a:pPr>
              <a:spcBef>
                <a:spcPct val="50000"/>
              </a:spcBef>
            </a:pPr>
            <a:r>
              <a:rPr lang="en-US" sz="2400" dirty="0">
                <a:cs typeface="Times New Roman" pitchFamily="18" charset="0"/>
              </a:rPr>
              <a:t>We want the pictorial summary to give us some information about the spread as well, but median only divides the data into two parts.</a:t>
            </a:r>
          </a:p>
          <a:p>
            <a:pPr lvl="1">
              <a:spcBef>
                <a:spcPct val="50000"/>
              </a:spcBef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18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Boxplots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E2E885-1A90-49CD-87B8-DC186A9DB999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50181" name="Line 3"/>
          <p:cNvSpPr>
            <a:spLocks noChangeShapeType="1"/>
          </p:cNvSpPr>
          <p:nvPr/>
        </p:nvSpPr>
        <p:spPr bwMode="auto">
          <a:xfrm>
            <a:off x="3124200" y="4876800"/>
            <a:ext cx="632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2" name="Rectangle 4"/>
          <p:cNvSpPr>
            <a:spLocks noChangeArrowheads="1"/>
          </p:cNvSpPr>
          <p:nvPr/>
        </p:nvSpPr>
        <p:spPr bwMode="auto">
          <a:xfrm>
            <a:off x="5867400" y="3429000"/>
            <a:ext cx="838200" cy="1219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3" name="Line 5"/>
          <p:cNvSpPr>
            <a:spLocks noChangeShapeType="1"/>
          </p:cNvSpPr>
          <p:nvPr/>
        </p:nvSpPr>
        <p:spPr bwMode="auto">
          <a:xfrm>
            <a:off x="6400800" y="34290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4" name="Line 6"/>
          <p:cNvSpPr>
            <a:spLocks noChangeShapeType="1"/>
          </p:cNvSpPr>
          <p:nvPr/>
        </p:nvSpPr>
        <p:spPr bwMode="auto">
          <a:xfrm>
            <a:off x="6705600" y="40386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5" name="Line 7"/>
          <p:cNvSpPr>
            <a:spLocks noChangeShapeType="1"/>
          </p:cNvSpPr>
          <p:nvPr/>
        </p:nvSpPr>
        <p:spPr bwMode="auto">
          <a:xfrm flipH="1">
            <a:off x="5181600" y="40386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6" name="Oval 8"/>
          <p:cNvSpPr>
            <a:spLocks noChangeArrowheads="1"/>
          </p:cNvSpPr>
          <p:nvPr/>
        </p:nvSpPr>
        <p:spPr bwMode="auto">
          <a:xfrm>
            <a:off x="4876800" y="3962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7" name="Oval 9"/>
          <p:cNvSpPr>
            <a:spLocks noChangeArrowheads="1"/>
          </p:cNvSpPr>
          <p:nvPr/>
        </p:nvSpPr>
        <p:spPr bwMode="auto">
          <a:xfrm>
            <a:off x="7315200" y="396240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8" name="Oval 10"/>
          <p:cNvSpPr>
            <a:spLocks noChangeArrowheads="1"/>
          </p:cNvSpPr>
          <p:nvPr/>
        </p:nvSpPr>
        <p:spPr bwMode="auto">
          <a:xfrm>
            <a:off x="3657600" y="3962400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9" name="Oval 11"/>
          <p:cNvSpPr>
            <a:spLocks noChangeArrowheads="1"/>
          </p:cNvSpPr>
          <p:nvPr/>
        </p:nvSpPr>
        <p:spPr bwMode="auto">
          <a:xfrm>
            <a:off x="3352800" y="3962400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6134100" y="5562600"/>
            <a:ext cx="1447800" cy="430213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</a:p>
        </p:txBody>
      </p:sp>
      <p:sp>
        <p:nvSpPr>
          <p:cNvPr id="50191" name="Line 13"/>
          <p:cNvSpPr>
            <a:spLocks noChangeShapeType="1"/>
          </p:cNvSpPr>
          <p:nvPr/>
        </p:nvSpPr>
        <p:spPr bwMode="auto">
          <a:xfrm flipV="1">
            <a:off x="6400800" y="4724400"/>
            <a:ext cx="0" cy="838200"/>
          </a:xfrm>
          <a:prstGeom prst="line">
            <a:avLst/>
          </a:prstGeom>
          <a:noFill/>
          <a:ln w="222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92" name="Line 14"/>
          <p:cNvSpPr>
            <a:spLocks noChangeShapeType="1"/>
          </p:cNvSpPr>
          <p:nvPr/>
        </p:nvSpPr>
        <p:spPr bwMode="auto">
          <a:xfrm flipV="1">
            <a:off x="3124200" y="4191000"/>
            <a:ext cx="457200" cy="1371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auto">
          <a:xfrm>
            <a:off x="1847557" y="5589092"/>
            <a:ext cx="2114843" cy="430887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outliers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6858000" y="2057401"/>
            <a:ext cx="1905000" cy="430213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 fourth </a:t>
            </a: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4191000" y="2057401"/>
            <a:ext cx="1981200" cy="430213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Fourth</a:t>
            </a:r>
          </a:p>
        </p:txBody>
      </p:sp>
      <p:sp>
        <p:nvSpPr>
          <p:cNvPr id="50196" name="Line 18"/>
          <p:cNvSpPr>
            <a:spLocks noChangeShapeType="1"/>
          </p:cNvSpPr>
          <p:nvPr/>
        </p:nvSpPr>
        <p:spPr bwMode="auto">
          <a:xfrm flipH="1">
            <a:off x="6705600" y="2487614"/>
            <a:ext cx="381000" cy="865187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97" name="Line 19"/>
          <p:cNvSpPr>
            <a:spLocks noChangeShapeType="1"/>
          </p:cNvSpPr>
          <p:nvPr/>
        </p:nvSpPr>
        <p:spPr bwMode="auto">
          <a:xfrm>
            <a:off x="5524500" y="2487614"/>
            <a:ext cx="342900" cy="865187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4038600" y="5589589"/>
            <a:ext cx="1828800" cy="430887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Mild Outliers</a:t>
            </a:r>
          </a:p>
        </p:txBody>
      </p:sp>
      <p:sp>
        <p:nvSpPr>
          <p:cNvPr id="50199" name="Line 21"/>
          <p:cNvSpPr>
            <a:spLocks noChangeShapeType="1"/>
          </p:cNvSpPr>
          <p:nvPr/>
        </p:nvSpPr>
        <p:spPr bwMode="auto">
          <a:xfrm flipV="1">
            <a:off x="4800600" y="4191000"/>
            <a:ext cx="152400" cy="1371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00" name="Line 22"/>
          <p:cNvSpPr>
            <a:spLocks noChangeShapeType="1"/>
          </p:cNvSpPr>
          <p:nvPr/>
        </p:nvSpPr>
        <p:spPr bwMode="auto">
          <a:xfrm flipV="1">
            <a:off x="5562600" y="4114800"/>
            <a:ext cx="1714500" cy="1474788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01" name="TextBox 25"/>
          <p:cNvSpPr txBox="1">
            <a:spLocks noChangeArrowheads="1"/>
          </p:cNvSpPr>
          <p:nvPr/>
        </p:nvSpPr>
        <p:spPr bwMode="auto">
          <a:xfrm>
            <a:off x="1981200" y="1295401"/>
            <a:ext cx="845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Pictorial summaries of several important features</a:t>
            </a:r>
          </a:p>
        </p:txBody>
      </p:sp>
      <p:sp>
        <p:nvSpPr>
          <p:cNvPr id="27" name="Text Box 16"/>
          <p:cNvSpPr txBox="1">
            <a:spLocks noChangeArrowheads="1"/>
          </p:cNvSpPr>
          <p:nvPr/>
        </p:nvSpPr>
        <p:spPr bwMode="auto">
          <a:xfrm>
            <a:off x="7467600" y="2971801"/>
            <a:ext cx="1905000" cy="430213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Whisker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2971800" y="2971801"/>
            <a:ext cx="1981200" cy="430213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Whisker</a:t>
            </a:r>
          </a:p>
        </p:txBody>
      </p:sp>
      <p:sp>
        <p:nvSpPr>
          <p:cNvPr id="50204" name="Line 18"/>
          <p:cNvSpPr>
            <a:spLocks noChangeShapeType="1"/>
          </p:cNvSpPr>
          <p:nvPr/>
        </p:nvSpPr>
        <p:spPr bwMode="auto">
          <a:xfrm flipH="1">
            <a:off x="7086600" y="3402014"/>
            <a:ext cx="381000" cy="560387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05" name="Line 19"/>
          <p:cNvSpPr>
            <a:spLocks noChangeShapeType="1"/>
          </p:cNvSpPr>
          <p:nvPr/>
        </p:nvSpPr>
        <p:spPr bwMode="auto">
          <a:xfrm>
            <a:off x="4953000" y="3402014"/>
            <a:ext cx="228600" cy="560387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4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nimBg="1"/>
      <p:bldP spid="50182" grpId="0" animBg="1"/>
      <p:bldP spid="50183" grpId="0" animBg="1"/>
      <p:bldP spid="50184" grpId="0" animBg="1"/>
      <p:bldP spid="50185" grpId="0" animBg="1"/>
      <p:bldP spid="50186" grpId="0" animBg="1"/>
      <p:bldP spid="50187" grpId="0" animBg="1"/>
      <p:bldP spid="50188" grpId="0" animBg="1"/>
      <p:bldP spid="50189" grpId="0" animBg="1"/>
      <p:bldP spid="15" grpId="0" animBg="1"/>
      <p:bldP spid="50191" grpId="0" animBg="1"/>
      <p:bldP spid="50192" grpId="0" animBg="1"/>
      <p:bldP spid="18" grpId="0" animBg="1"/>
      <p:bldP spid="19" grpId="0" animBg="1"/>
      <p:bldP spid="20" grpId="0" animBg="1"/>
      <p:bldP spid="50196" grpId="0" animBg="1"/>
      <p:bldP spid="50197" grpId="0" animBg="1"/>
      <p:bldP spid="23" grpId="0" animBg="1"/>
      <p:bldP spid="50199" grpId="0" animBg="1"/>
      <p:bldP spid="50200" grpId="0" animBg="1"/>
      <p:bldP spid="27" grpId="0" animBg="1"/>
      <p:bldP spid="28" grpId="0" animBg="1"/>
      <p:bldP spid="50204" grpId="0" animBg="1"/>
      <p:bldP spid="5020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Constructing a Box Plot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DB2652-D472-4279-BA39-925A16BFEBA8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47800"/>
                <a:ext cx="8229600" cy="5257800"/>
              </a:xfrm>
            </p:spPr>
            <p:txBody>
              <a:bodyPr>
                <a:normAutofit fontScale="775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/>
                  <a:t>Order the data from smallest to largest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/>
                  <a:t>Determine the median,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100" i="1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endParaRPr lang="en-US" sz="31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/>
                  <a:t>Determine the </a:t>
                </a:r>
                <a:r>
                  <a:rPr lang="en-US" sz="3100" b="1" dirty="0"/>
                  <a:t>lower fourth </a:t>
                </a:r>
                <a:r>
                  <a:rPr lang="en-US" sz="3100" dirty="0"/>
                  <a:t>– median of smaller half of data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/>
                  <a:t>Determine the </a:t>
                </a:r>
                <a:r>
                  <a:rPr lang="en-US" sz="3100" b="1" dirty="0"/>
                  <a:t>upper fourth </a:t>
                </a:r>
                <a:r>
                  <a:rPr lang="en-US" sz="3100" dirty="0"/>
                  <a:t>– median of larger half of data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/>
                  <a:t>Calculate the </a:t>
                </a:r>
                <a:r>
                  <a:rPr lang="en-US" sz="3100" b="1" dirty="0"/>
                  <a:t>fourth spread</a:t>
                </a:r>
                <a:r>
                  <a:rPr lang="en-US" sz="3100" dirty="0"/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31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sz="3100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3100">
                        <a:latin typeface="Cambria Math"/>
                      </a:rPr>
                      <m:t>upper</m:t>
                    </m:r>
                    <m:r>
                      <a:rPr lang="en-US" sz="31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3100">
                        <a:latin typeface="Cambria Math"/>
                      </a:rPr>
                      <m:t>fourth</m:t>
                    </m:r>
                    <m:r>
                      <a:rPr lang="en-US" sz="3100">
                        <a:latin typeface="Cambria Math"/>
                      </a:rPr>
                      <m:t> −</m:t>
                    </m:r>
                    <m:r>
                      <m:rPr>
                        <m:sty m:val="p"/>
                      </m:rPr>
                      <a:rPr lang="en-US" sz="3100">
                        <a:latin typeface="Cambria Math"/>
                      </a:rPr>
                      <m:t>lower</m:t>
                    </m:r>
                    <m:r>
                      <a:rPr lang="en-US" sz="3100"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3100">
                        <a:latin typeface="Cambria Math"/>
                      </a:rPr>
                      <m:t>fourth</m:t>
                    </m:r>
                  </m:oMath>
                </a14:m>
                <a:endParaRPr lang="en-US" sz="31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/>
                  <a:t>Draw a horizontal measurement scale (x-axis)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/>
                  <a:t>Place rectangle above the axis</a:t>
                </a:r>
              </a:p>
              <a:p>
                <a:pPr marL="914400" lvl="1" indent="-514350">
                  <a:buFont typeface="Arial" panose="020B0604020202020204" pitchFamily="34" charset="0"/>
                  <a:buChar char="•"/>
                </a:pPr>
                <a:r>
                  <a:rPr lang="en-US" dirty="0"/>
                  <a:t>Left edge at lower fourth</a:t>
                </a:r>
              </a:p>
              <a:p>
                <a:pPr marL="914400" lvl="1" indent="-514350">
                  <a:buFont typeface="Arial" panose="020B0604020202020204" pitchFamily="34" charset="0"/>
                  <a:buChar char="•"/>
                </a:pPr>
                <a:r>
                  <a:rPr lang="en-US" dirty="0"/>
                  <a:t>Right edge at upper fourth</a:t>
                </a:r>
              </a:p>
              <a:p>
                <a:pPr marL="914400" lvl="1" indent="-514350">
                  <a:buFont typeface="Arial" panose="020B0604020202020204" pitchFamily="34" charset="0"/>
                  <a:buChar char="•"/>
                </a:pPr>
                <a:r>
                  <a:rPr lang="en-US" dirty="0"/>
                  <a:t>Vertical line inside rectangle at median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/>
                  <a:t>Draw “whiskers”</a:t>
                </a:r>
              </a:p>
              <a:p>
                <a:pPr marL="914400" lvl="1" indent="-514350">
                  <a:buFont typeface="Arial" panose="020B0604020202020204" pitchFamily="34" charset="0"/>
                  <a:buChar char="•"/>
                </a:pPr>
                <a:r>
                  <a:rPr lang="en-US" dirty="0"/>
                  <a:t>Lines coming out of either side of rectangle to smallest and largest observations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47800"/>
                <a:ext cx="8229600" cy="5257800"/>
              </a:xfrm>
              <a:blipFill>
                <a:blip r:embed="rId3"/>
                <a:stretch>
                  <a:fillRect l="-1233" t="-2415"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57865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524001"/>
                <a:ext cx="8229600" cy="5060950"/>
              </a:xfrm>
            </p:spPr>
            <p:txBody>
              <a:bodyPr/>
              <a:lstStyle/>
              <a:p>
                <a:r>
                  <a:rPr lang="en-US" sz="2400" dirty="0"/>
                  <a:t>Values farther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1.5</m:t>
                        </m:r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from either the upper or lower fourth are mild outliers</a:t>
                </a:r>
              </a:p>
              <a:p>
                <a:pPr lvl="1"/>
                <a:r>
                  <a:rPr lang="en-US" sz="2200" dirty="0"/>
                  <a:t>Indicated on boxplot with</a:t>
                </a:r>
              </a:p>
              <a:p>
                <a:r>
                  <a:rPr lang="en-US" sz="2400" dirty="0"/>
                  <a:t>Values farther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3.0</m:t>
                        </m:r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from either the upper or lower fourth are extreme outliers</a:t>
                </a:r>
              </a:p>
              <a:p>
                <a:pPr lvl="1"/>
                <a:r>
                  <a:rPr lang="en-US" sz="2200" dirty="0"/>
                  <a:t>Indicated on boxplot with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524001"/>
                <a:ext cx="8229600" cy="5060950"/>
              </a:xfrm>
              <a:blipFill>
                <a:blip r:embed="rId2"/>
                <a:stretch>
                  <a:fillRect l="-1079" t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Boxplots with Outliers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Engr 0020 - Claypool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4F7491-E124-4972-97E6-605F3A65DFE6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943600" y="2438400"/>
            <a:ext cx="152400" cy="152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943600" y="3657600"/>
            <a:ext cx="152400" cy="152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28800" y="6172200"/>
            <a:ext cx="17526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2233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738" y="4114800"/>
            <a:ext cx="5732462" cy="247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12160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/>
          <a:lstStyle/>
          <a:p>
            <a:r>
              <a:rPr lang="en-US" sz="3600" dirty="0"/>
              <a:t>Example 1.5 – Page 25</a:t>
            </a:r>
            <a:endParaRPr lang="en-US" altLang="en-US" sz="3600" dirty="0"/>
          </a:p>
        </p:txBody>
      </p:sp>
      <p:pic>
        <p:nvPicPr>
          <p:cNvPr id="79877" name="Picture 4" descr="T01_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2247900"/>
            <a:ext cx="7870825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62200" y="1786236"/>
            <a:ext cx="51671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latin typeface="+mn-lt"/>
              </a:rPr>
              <a:t>Table 1.8</a:t>
            </a:r>
            <a:r>
              <a:rPr lang="en-US" altLang="en-US" sz="2400" dirty="0">
                <a:latin typeface="+mn-lt"/>
              </a:rPr>
              <a:t>  Nicotine Data for Example 1.5</a:t>
            </a:r>
            <a:endParaRPr lang="en-US" sz="2400" dirty="0">
              <a:latin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r>
              <a:rPr lang="en-US" sz="3600" dirty="0"/>
              <a:t>Example 1.5 – Page 25</a:t>
            </a:r>
            <a:endParaRPr lang="en-US" altLang="en-US" sz="3600" dirty="0"/>
          </a:p>
        </p:txBody>
      </p:sp>
      <p:pic>
        <p:nvPicPr>
          <p:cNvPr id="80901" name="Picture 3" descr="01_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1524001"/>
            <a:ext cx="7167562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09838" y="6212443"/>
            <a:ext cx="6400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b="1" dirty="0">
                <a:latin typeface="+mn-lt"/>
              </a:rPr>
              <a:t>Figure 1.9</a:t>
            </a:r>
            <a:r>
              <a:rPr lang="en-US" altLang="en-US" sz="2000" dirty="0">
                <a:latin typeface="+mn-lt"/>
              </a:rPr>
              <a:t>  Box-and-whisker plot for Example 1.5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0535"/>
            <a:ext cx="8229600" cy="760412"/>
          </a:xfrm>
        </p:spPr>
        <p:txBody>
          <a:bodyPr/>
          <a:lstStyle/>
          <a:p>
            <a:r>
              <a:rPr lang="en-US" sz="3600" dirty="0">
                <a:latin typeface="+mn-lt"/>
                <a:cs typeface="Times New Roman" pitchFamily="18" charset="0"/>
              </a:rPr>
              <a:t>Example: Box Plot</a:t>
            </a:r>
            <a:endParaRPr lang="en-US" sz="3600" dirty="0"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5551C-8FE0-4312-8D7B-A2A5623DD850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2"/>
          </p:nvPr>
        </p:nvSpPr>
        <p:spPr>
          <a:xfrm>
            <a:off x="2209800" y="1295400"/>
            <a:ext cx="7924800" cy="4800600"/>
          </a:xfrm>
        </p:spPr>
        <p:txBody>
          <a:bodyPr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25040" y="1619180"/>
          <a:ext cx="662940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3.1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  <a:cs typeface="Times New Roman" pitchFamily="18" charset="0"/>
                        </a:rPr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209800" y="911294"/>
            <a:ext cx="7086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  <a:cs typeface="Times New Roman" pitchFamily="18" charset="0"/>
              </a:rPr>
              <a:t>Grade point averages of 15 University of Pittsburgh Engineering Freshmen: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1183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37F0-2267-FB22-912D-96C663CF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313F9-B746-3147-99DF-163B8CF16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have talked about several graphical display techniques.</a:t>
            </a:r>
          </a:p>
          <a:p>
            <a:pPr lvl="1"/>
            <a:r>
              <a:rPr lang="en-US" sz="2000" dirty="0"/>
              <a:t>Scatter plot</a:t>
            </a:r>
          </a:p>
          <a:p>
            <a:pPr lvl="1"/>
            <a:r>
              <a:rPr lang="en-US" sz="2000" dirty="0"/>
              <a:t>Stem-and-Leaf plot</a:t>
            </a:r>
          </a:p>
          <a:p>
            <a:pPr lvl="1"/>
            <a:r>
              <a:rPr lang="en-US" sz="2000" dirty="0"/>
              <a:t>Histogram</a:t>
            </a:r>
          </a:p>
          <a:p>
            <a:pPr lvl="1"/>
            <a:r>
              <a:rPr lang="en-US" sz="2000" dirty="0"/>
              <a:t>Box plot</a:t>
            </a:r>
          </a:p>
          <a:p>
            <a:r>
              <a:rPr lang="en-US" sz="2400" dirty="0"/>
              <a:t>Much easier for human to see patterns, understand the data and identify problems.</a:t>
            </a:r>
          </a:p>
          <a:p>
            <a:r>
              <a:rPr lang="en-US" sz="2400" dirty="0"/>
              <a:t>Need to know how to construct = How to interpret the plots</a:t>
            </a:r>
          </a:p>
          <a:p>
            <a:r>
              <a:rPr lang="en-US" sz="2400" dirty="0"/>
              <a:t>Data Viz or Data visualization is an extremely important subject within the field of statistics and data analysis</a:t>
            </a:r>
          </a:p>
          <a:p>
            <a:pPr lvl="1"/>
            <a:r>
              <a:rPr lang="en-US" sz="2000" dirty="0"/>
              <a:t>Python package: matplotlib and seaborn</a:t>
            </a:r>
          </a:p>
          <a:p>
            <a:pPr lvl="1"/>
            <a:r>
              <a:rPr lang="en-US" sz="2000" dirty="0"/>
              <a:t>Interactive Data Viz Packages</a:t>
            </a:r>
          </a:p>
          <a:p>
            <a:pPr lvl="1"/>
            <a:r>
              <a:rPr lang="en-US" sz="2000" dirty="0" err="1"/>
              <a:t>Plotly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3D33F-4D3E-0C21-6401-C756113E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7526D3-ECA5-47F7-B37B-97843A7D96AB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909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4191</TotalTime>
  <Words>2649</Words>
  <Application>Microsoft Macintosh PowerPoint</Application>
  <PresentationFormat>Widescreen</PresentationFormat>
  <Paragraphs>768</Paragraphs>
  <Slides>55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Book Antiqua</vt:lpstr>
      <vt:lpstr>Calibri</vt:lpstr>
      <vt:lpstr>Cambria Math</vt:lpstr>
      <vt:lpstr>Symbol</vt:lpstr>
      <vt:lpstr>Tahoma</vt:lpstr>
      <vt:lpstr>Times New Roman</vt:lpstr>
      <vt:lpstr>Office Theme</vt:lpstr>
      <vt:lpstr>Bitmap Image</vt:lpstr>
      <vt:lpstr>Welcome to ENGR 21: Probability and Statistics for Engineers I</vt:lpstr>
      <vt:lpstr>Introduction to Statistics and Data Analysis</vt:lpstr>
      <vt:lpstr>Learning Objectives</vt:lpstr>
      <vt:lpstr>Introduction</vt:lpstr>
      <vt:lpstr>Variability in Scientific Data</vt:lpstr>
      <vt:lpstr>Populations &amp; Samples</vt:lpstr>
      <vt:lpstr>Populations &amp; Samples</vt:lpstr>
      <vt:lpstr>The Role of Probability</vt:lpstr>
      <vt:lpstr>How do Probability &amp; Statistical Inference Work Together?</vt:lpstr>
      <vt:lpstr>Course Roadmap</vt:lpstr>
      <vt:lpstr>Sampling / Data Collection</vt:lpstr>
      <vt:lpstr>Samples</vt:lpstr>
      <vt:lpstr>Measures of Location</vt:lpstr>
      <vt:lpstr>Notation</vt:lpstr>
      <vt:lpstr>The Sample Mean</vt:lpstr>
      <vt:lpstr>Example - Mean </vt:lpstr>
      <vt:lpstr>Measures of Location: The Sample Median</vt:lpstr>
      <vt:lpstr>Example - Median</vt:lpstr>
      <vt:lpstr>Measures of Central Tendency or Location</vt:lpstr>
      <vt:lpstr>Mean and Median – Sensitivity to Outliers</vt:lpstr>
      <vt:lpstr>Mean and Median – Sensitivity to Outliers</vt:lpstr>
      <vt:lpstr>Measures of Variability</vt:lpstr>
      <vt:lpstr>Measures of Variability </vt:lpstr>
      <vt:lpstr>Range</vt:lpstr>
      <vt:lpstr>Variance</vt:lpstr>
      <vt:lpstr>Variance &amp; Standard Deviation</vt:lpstr>
      <vt:lpstr>Why Divide by n-1?</vt:lpstr>
      <vt:lpstr>Example 1</vt:lpstr>
      <vt:lpstr>Example 2</vt:lpstr>
      <vt:lpstr>Compare Examples 1 &amp; 2</vt:lpstr>
      <vt:lpstr>Statistical Modeling, Scientific Inspection and Graphical Diagnostics</vt:lpstr>
      <vt:lpstr>Scatter Plot</vt:lpstr>
      <vt:lpstr>Example – Page 19</vt:lpstr>
      <vt:lpstr>Stem-and-Leaf Displays</vt:lpstr>
      <vt:lpstr>Table 1.5  Stem-and-Leaf Plot of Battery Life</vt:lpstr>
      <vt:lpstr>Table 1.6  Double-Stem-and-Leaf Plot of Battery Life</vt:lpstr>
      <vt:lpstr>Example: Stem-and-Leaf Displays</vt:lpstr>
      <vt:lpstr>Frequency Distribution and Histograms</vt:lpstr>
      <vt:lpstr>Example – page 21</vt:lpstr>
      <vt:lpstr>Example – page 21(cont.)</vt:lpstr>
      <vt:lpstr>Example - Frequency Distribution and Histogram</vt:lpstr>
      <vt:lpstr>Example - Frequency Distribution and Histogram</vt:lpstr>
      <vt:lpstr>Example - Frequency Distribution and Histogram</vt:lpstr>
      <vt:lpstr>Example - Frequency Distribution and Histogram</vt:lpstr>
      <vt:lpstr>Frequency Distribution and Histogram</vt:lpstr>
      <vt:lpstr>PowerPoint Presentation</vt:lpstr>
      <vt:lpstr>PowerPoint Presentation</vt:lpstr>
      <vt:lpstr>Boxplots</vt:lpstr>
      <vt:lpstr>Boxplots</vt:lpstr>
      <vt:lpstr>Constructing a Box Plot</vt:lpstr>
      <vt:lpstr>Boxplots with Outliers</vt:lpstr>
      <vt:lpstr>Example 1.5 – Page 25</vt:lpstr>
      <vt:lpstr>Example 1.5 – Page 25</vt:lpstr>
      <vt:lpstr>Example: Box Plot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Descriptive Statistics</dc:title>
  <dc:creator>Karen Bursic</dc:creator>
  <cp:lastModifiedBy>Leu, Paul W</cp:lastModifiedBy>
  <cp:revision>193</cp:revision>
  <cp:lastPrinted>2016-01-12T16:58:09Z</cp:lastPrinted>
  <dcterms:created xsi:type="dcterms:W3CDTF">2004-01-03T21:37:17Z</dcterms:created>
  <dcterms:modified xsi:type="dcterms:W3CDTF">2026-01-13T15:57:20Z</dcterms:modified>
</cp:coreProperties>
</file>