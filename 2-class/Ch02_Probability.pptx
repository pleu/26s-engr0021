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85"/>
  </p:notesMasterIdLst>
  <p:handoutMasterIdLst>
    <p:handoutMasterId r:id="rId86"/>
  </p:handoutMasterIdLst>
  <p:sldIdLst>
    <p:sldId id="287" r:id="rId2"/>
    <p:sldId id="302" r:id="rId3"/>
    <p:sldId id="256" r:id="rId4"/>
    <p:sldId id="294" r:id="rId5"/>
    <p:sldId id="336" r:id="rId6"/>
    <p:sldId id="334" r:id="rId7"/>
    <p:sldId id="335" r:id="rId8"/>
    <p:sldId id="303" r:id="rId9"/>
    <p:sldId id="293" r:id="rId10"/>
    <p:sldId id="337" r:id="rId11"/>
    <p:sldId id="338" r:id="rId12"/>
    <p:sldId id="339" r:id="rId13"/>
    <p:sldId id="340" r:id="rId14"/>
    <p:sldId id="344" r:id="rId15"/>
    <p:sldId id="342" r:id="rId16"/>
    <p:sldId id="345" r:id="rId17"/>
    <p:sldId id="305" r:id="rId18"/>
    <p:sldId id="295" r:id="rId19"/>
    <p:sldId id="381" r:id="rId20"/>
    <p:sldId id="355" r:id="rId21"/>
    <p:sldId id="343" r:id="rId22"/>
    <p:sldId id="347" r:id="rId23"/>
    <p:sldId id="356" r:id="rId24"/>
    <p:sldId id="390" r:id="rId25"/>
    <p:sldId id="358" r:id="rId26"/>
    <p:sldId id="349" r:id="rId27"/>
    <p:sldId id="357" r:id="rId28"/>
    <p:sldId id="350" r:id="rId29"/>
    <p:sldId id="351" r:id="rId30"/>
    <p:sldId id="360" r:id="rId31"/>
    <p:sldId id="361" r:id="rId32"/>
    <p:sldId id="389" r:id="rId33"/>
    <p:sldId id="359" r:id="rId34"/>
    <p:sldId id="362" r:id="rId35"/>
    <p:sldId id="391" r:id="rId36"/>
    <p:sldId id="353" r:id="rId37"/>
    <p:sldId id="397" r:id="rId38"/>
    <p:sldId id="363" r:id="rId39"/>
    <p:sldId id="364" r:id="rId40"/>
    <p:sldId id="366" r:id="rId41"/>
    <p:sldId id="392" r:id="rId42"/>
    <p:sldId id="393" r:id="rId43"/>
    <p:sldId id="394" r:id="rId44"/>
    <p:sldId id="368" r:id="rId45"/>
    <p:sldId id="377" r:id="rId46"/>
    <p:sldId id="379" r:id="rId47"/>
    <p:sldId id="378" r:id="rId48"/>
    <p:sldId id="380" r:id="rId49"/>
    <p:sldId id="388" r:id="rId50"/>
    <p:sldId id="387" r:id="rId51"/>
    <p:sldId id="369" r:id="rId52"/>
    <p:sldId id="395" r:id="rId53"/>
    <p:sldId id="373" r:id="rId54"/>
    <p:sldId id="396" r:id="rId55"/>
    <p:sldId id="462" r:id="rId56"/>
    <p:sldId id="463" r:id="rId57"/>
    <p:sldId id="436" r:id="rId58"/>
    <p:sldId id="437" r:id="rId59"/>
    <p:sldId id="438" r:id="rId60"/>
    <p:sldId id="439" r:id="rId61"/>
    <p:sldId id="455" r:id="rId62"/>
    <p:sldId id="441" r:id="rId63"/>
    <p:sldId id="442" r:id="rId64"/>
    <p:sldId id="443" r:id="rId65"/>
    <p:sldId id="444" r:id="rId66"/>
    <p:sldId id="445" r:id="rId67"/>
    <p:sldId id="446" r:id="rId68"/>
    <p:sldId id="466" r:id="rId69"/>
    <p:sldId id="467" r:id="rId70"/>
    <p:sldId id="457" r:id="rId71"/>
    <p:sldId id="469" r:id="rId72"/>
    <p:sldId id="451" r:id="rId73"/>
    <p:sldId id="452" r:id="rId74"/>
    <p:sldId id="422" r:id="rId75"/>
    <p:sldId id="428" r:id="rId76"/>
    <p:sldId id="431" r:id="rId77"/>
    <p:sldId id="464" r:id="rId78"/>
    <p:sldId id="465" r:id="rId79"/>
    <p:sldId id="430" r:id="rId80"/>
    <p:sldId id="459" r:id="rId81"/>
    <p:sldId id="460" r:id="rId82"/>
    <p:sldId id="461" r:id="rId83"/>
    <p:sldId id="458" r:id="rId84"/>
  </p:sldIdLst>
  <p:sldSz cx="12192000" cy="6858000"/>
  <p:notesSz cx="7099300" cy="10234613"/>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85342" autoAdjust="0"/>
  </p:normalViewPr>
  <p:slideViewPr>
    <p:cSldViewPr>
      <p:cViewPr varScale="1">
        <p:scale>
          <a:sx n="103" d="100"/>
          <a:sy n="103" d="100"/>
        </p:scale>
        <p:origin x="1336" y="1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717237380211202E-2"/>
          <c:y val="0.10084586017656884"/>
          <c:w val="0.90152307269730814"/>
          <c:h val="0.73689016145709063"/>
        </c:manualLayout>
      </c:layout>
      <c:scatterChart>
        <c:scatterStyle val="lineMarker"/>
        <c:varyColors val="0"/>
        <c:ser>
          <c:idx val="0"/>
          <c:order val="0"/>
          <c:tx>
            <c:strRef>
              <c:f>Sheet1!$B$1</c:f>
              <c:strCache>
                <c:ptCount val="1"/>
                <c:pt idx="0">
                  <c:v>Y-Values</c:v>
                </c:pt>
              </c:strCache>
            </c:strRef>
          </c:tx>
          <c:spPr>
            <a:ln w="28575">
              <a:noFill/>
            </a:ln>
          </c:spPr>
          <c:xVal>
            <c:numRef>
              <c:f>Sheet1!$A$2:$A$41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numCache>
            </c:numRef>
          </c:xVal>
          <c:yVal>
            <c:numRef>
              <c:f>Sheet1!$B$2:$B$41</c:f>
              <c:numCache>
                <c:formatCode>General</c:formatCode>
                <c:ptCount val="40"/>
                <c:pt idx="0">
                  <c:v>1</c:v>
                </c:pt>
                <c:pt idx="1">
                  <c:v>1</c:v>
                </c:pt>
                <c:pt idx="2">
                  <c:v>0.66666666666666663</c:v>
                </c:pt>
                <c:pt idx="3">
                  <c:v>0.75000000000000089</c:v>
                </c:pt>
                <c:pt idx="4">
                  <c:v>0.60000000000000064</c:v>
                </c:pt>
                <c:pt idx="5">
                  <c:v>0.66666666666666663</c:v>
                </c:pt>
                <c:pt idx="6">
                  <c:v>0.71428571428571463</c:v>
                </c:pt>
                <c:pt idx="7">
                  <c:v>0.62500000000000089</c:v>
                </c:pt>
                <c:pt idx="8">
                  <c:v>0.66666666666666663</c:v>
                </c:pt>
                <c:pt idx="9">
                  <c:v>0.70000000000000062</c:v>
                </c:pt>
                <c:pt idx="10">
                  <c:v>0.63636363636363724</c:v>
                </c:pt>
                <c:pt idx="11">
                  <c:v>0.5833333333333337</c:v>
                </c:pt>
                <c:pt idx="12">
                  <c:v>0.53846153846153844</c:v>
                </c:pt>
                <c:pt idx="13">
                  <c:v>0.57142857142857251</c:v>
                </c:pt>
                <c:pt idx="14">
                  <c:v>0.60000000000000064</c:v>
                </c:pt>
                <c:pt idx="15">
                  <c:v>0.62500000000000089</c:v>
                </c:pt>
                <c:pt idx="16">
                  <c:v>0.64705882352941346</c:v>
                </c:pt>
                <c:pt idx="17">
                  <c:v>0.6111111111111116</c:v>
                </c:pt>
                <c:pt idx="18">
                  <c:v>0.57894736842105254</c:v>
                </c:pt>
                <c:pt idx="19">
                  <c:v>0.60000000000000064</c:v>
                </c:pt>
                <c:pt idx="20">
                  <c:v>0.61904761904761962</c:v>
                </c:pt>
                <c:pt idx="21">
                  <c:v>0.59090909090909183</c:v>
                </c:pt>
                <c:pt idx="22">
                  <c:v>0.60869565217391519</c:v>
                </c:pt>
                <c:pt idx="23">
                  <c:v>0.5833333333333337</c:v>
                </c:pt>
                <c:pt idx="24">
                  <c:v>0.60000000000000064</c:v>
                </c:pt>
                <c:pt idx="25">
                  <c:v>0.57692307692307843</c:v>
                </c:pt>
                <c:pt idx="26">
                  <c:v>0.55555555555555569</c:v>
                </c:pt>
                <c:pt idx="27">
                  <c:v>0.57142857142857251</c:v>
                </c:pt>
                <c:pt idx="28">
                  <c:v>0.5517241379310347</c:v>
                </c:pt>
                <c:pt idx="29">
                  <c:v>0.56666666666666654</c:v>
                </c:pt>
                <c:pt idx="30">
                  <c:v>0.54838709677419362</c:v>
                </c:pt>
                <c:pt idx="31">
                  <c:v>0.53125</c:v>
                </c:pt>
                <c:pt idx="32">
                  <c:v>0.54545454545454541</c:v>
                </c:pt>
                <c:pt idx="33">
                  <c:v>0.52941176470588236</c:v>
                </c:pt>
                <c:pt idx="34">
                  <c:v>0.51428571428571423</c:v>
                </c:pt>
                <c:pt idx="35">
                  <c:v>0.52777777777777779</c:v>
                </c:pt>
                <c:pt idx="36">
                  <c:v>0.54054054054054068</c:v>
                </c:pt>
              </c:numCache>
            </c:numRef>
          </c:yVal>
          <c:smooth val="0"/>
          <c:extLst>
            <c:ext xmlns:c16="http://schemas.microsoft.com/office/drawing/2014/chart" uri="{C3380CC4-5D6E-409C-BE32-E72D297353CC}">
              <c16:uniqueId val="{00000000-B02C-AB41-A12F-0236E4F111FA}"/>
            </c:ext>
          </c:extLst>
        </c:ser>
        <c:dLbls>
          <c:showLegendKey val="0"/>
          <c:showVal val="0"/>
          <c:showCatName val="0"/>
          <c:showSerName val="0"/>
          <c:showPercent val="0"/>
          <c:showBubbleSize val="0"/>
        </c:dLbls>
        <c:axId val="287084672"/>
        <c:axId val="242132840"/>
      </c:scatterChart>
      <c:valAx>
        <c:axId val="287084672"/>
        <c:scaling>
          <c:orientation val="minMax"/>
        </c:scaling>
        <c:delete val="0"/>
        <c:axPos val="b"/>
        <c:numFmt formatCode="General" sourceLinked="1"/>
        <c:majorTickMark val="none"/>
        <c:minorTickMark val="none"/>
        <c:tickLblPos val="nextTo"/>
        <c:txPr>
          <a:bodyPr/>
          <a:lstStyle/>
          <a:p>
            <a:pPr>
              <a:defRPr>
                <a:latin typeface="Times New Roman" pitchFamily="18" charset="0"/>
                <a:cs typeface="Times New Roman" pitchFamily="18" charset="0"/>
              </a:defRPr>
            </a:pPr>
            <a:endParaRPr lang="en-US"/>
          </a:p>
        </c:txPr>
        <c:crossAx val="242132840"/>
        <c:crosses val="autoZero"/>
        <c:crossBetween val="midCat"/>
      </c:valAx>
      <c:valAx>
        <c:axId val="242132840"/>
        <c:scaling>
          <c:orientation val="minMax"/>
          <c:max val="1"/>
          <c:min val="0"/>
        </c:scaling>
        <c:delete val="0"/>
        <c:axPos val="l"/>
        <c:numFmt formatCode="General" sourceLinked="1"/>
        <c:majorTickMark val="none"/>
        <c:minorTickMark val="none"/>
        <c:tickLblPos val="nextTo"/>
        <c:txPr>
          <a:bodyPr/>
          <a:lstStyle/>
          <a:p>
            <a:pPr>
              <a:defRPr>
                <a:latin typeface="Times New Roman" pitchFamily="18" charset="0"/>
                <a:cs typeface="Times New Roman" pitchFamily="18" charset="0"/>
              </a:defRPr>
            </a:pPr>
            <a:endParaRPr lang="en-US"/>
          </a:p>
        </c:txPr>
        <c:crossAx val="287084672"/>
        <c:crosses val="autoZero"/>
        <c:crossBetween val="midCat"/>
        <c:majorUnit val="1"/>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575" cy="512763"/>
          </a:xfrm>
          <a:prstGeom prst="rect">
            <a:avLst/>
          </a:prstGeom>
        </p:spPr>
        <p:txBody>
          <a:bodyPr vert="horz" lIns="91434" tIns="45716" rIns="91434" bIns="45716" rtlCol="0"/>
          <a:lstStyle>
            <a:lvl1pPr algn="l">
              <a:defRPr sz="1200"/>
            </a:lvl1pPr>
          </a:lstStyle>
          <a:p>
            <a:endParaRPr lang="en-US"/>
          </a:p>
        </p:txBody>
      </p:sp>
      <p:sp>
        <p:nvSpPr>
          <p:cNvPr id="3" name="Date Placeholder 2"/>
          <p:cNvSpPr>
            <a:spLocks noGrp="1"/>
          </p:cNvSpPr>
          <p:nvPr>
            <p:ph type="dt" sz="quarter" idx="1"/>
          </p:nvPr>
        </p:nvSpPr>
        <p:spPr>
          <a:xfrm>
            <a:off x="4021138" y="0"/>
            <a:ext cx="3076575" cy="512763"/>
          </a:xfrm>
          <a:prstGeom prst="rect">
            <a:avLst/>
          </a:prstGeom>
        </p:spPr>
        <p:txBody>
          <a:bodyPr vert="horz" lIns="91434" tIns="45716" rIns="91434" bIns="45716" rtlCol="0"/>
          <a:lstStyle>
            <a:lvl1pPr algn="r">
              <a:defRPr sz="1200"/>
            </a:lvl1pPr>
          </a:lstStyle>
          <a:p>
            <a:endParaRPr 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34" tIns="45716" rIns="91434" bIns="45716" rtlCol="0" anchor="b"/>
          <a:lstStyle>
            <a:lvl1pPr algn="l">
              <a:defRPr sz="1200"/>
            </a:lvl1pPr>
          </a:lstStyle>
          <a:p>
            <a:endParaRPr lang="en-US"/>
          </a:p>
        </p:txBody>
      </p:sp>
      <p:sp>
        <p:nvSpPr>
          <p:cNvPr id="5" name="Slide Number Placeholder 4"/>
          <p:cNvSpPr>
            <a:spLocks noGrp="1"/>
          </p:cNvSpPr>
          <p:nvPr>
            <p:ph type="sldNum" sz="quarter" idx="3"/>
          </p:nvPr>
        </p:nvSpPr>
        <p:spPr>
          <a:xfrm>
            <a:off x="4021138" y="9721851"/>
            <a:ext cx="3076575" cy="512763"/>
          </a:xfrm>
          <a:prstGeom prst="rect">
            <a:avLst/>
          </a:prstGeom>
        </p:spPr>
        <p:txBody>
          <a:bodyPr vert="horz" lIns="91434" tIns="45716" rIns="91434" bIns="45716" rtlCol="0" anchor="b"/>
          <a:lstStyle>
            <a:lvl1pPr algn="r">
              <a:defRPr sz="1200"/>
            </a:lvl1pPr>
          </a:lstStyle>
          <a:p>
            <a:fld id="{948FD879-D008-450E-8588-E67667E90465}" type="slidenum">
              <a:rPr lang="en-US" smtClean="0"/>
              <a:t>‹#›</a:t>
            </a:fld>
            <a:endParaRPr lang="en-US"/>
          </a:p>
        </p:txBody>
      </p:sp>
    </p:spTree>
    <p:extLst>
      <p:ext uri="{BB962C8B-B14F-4D97-AF65-F5344CB8AC3E}">
        <p14:creationId xmlns:p14="http://schemas.microsoft.com/office/powerpoint/2010/main" val="101600370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1"/>
            <a:ext cx="3076363" cy="512081"/>
          </a:xfrm>
          <a:prstGeom prst="rect">
            <a:avLst/>
          </a:prstGeom>
          <a:noFill/>
          <a:ln w="9525">
            <a:noFill/>
            <a:miter lim="800000"/>
            <a:headEnd/>
            <a:tailEnd/>
          </a:ln>
          <a:effectLst/>
        </p:spPr>
        <p:txBody>
          <a:bodyPr vert="horz" wrap="square" lIns="99903" tIns="49952" rIns="99903" bIns="49952" numCol="1" anchor="t" anchorCtr="0" compatLnSpc="1">
            <a:prstTxWarp prst="textNoShape">
              <a:avLst/>
            </a:prstTxWarp>
          </a:bodyPr>
          <a:lstStyle>
            <a:lvl1pPr defTabSz="999818" eaLnBrk="1" hangingPunct="1">
              <a:defRPr sz="1300">
                <a:latin typeface="Times New Roman" pitchFamily="18" charset="0"/>
              </a:defRPr>
            </a:lvl1pPr>
          </a:lstStyle>
          <a:p>
            <a:pPr>
              <a:defRPr/>
            </a:pPr>
            <a:endParaRPr lang="en-US"/>
          </a:p>
        </p:txBody>
      </p:sp>
      <p:sp>
        <p:nvSpPr>
          <p:cNvPr id="17411" name="Rectangle 3"/>
          <p:cNvSpPr>
            <a:spLocks noGrp="1" noChangeArrowheads="1"/>
          </p:cNvSpPr>
          <p:nvPr>
            <p:ph type="dt" idx="1"/>
          </p:nvPr>
        </p:nvSpPr>
        <p:spPr bwMode="auto">
          <a:xfrm>
            <a:off x="4022938" y="1"/>
            <a:ext cx="3076363" cy="512081"/>
          </a:xfrm>
          <a:prstGeom prst="rect">
            <a:avLst/>
          </a:prstGeom>
          <a:noFill/>
          <a:ln w="9525">
            <a:noFill/>
            <a:miter lim="800000"/>
            <a:headEnd/>
            <a:tailEnd/>
          </a:ln>
          <a:effectLst/>
        </p:spPr>
        <p:txBody>
          <a:bodyPr vert="horz" wrap="square" lIns="99903" tIns="49952" rIns="99903" bIns="49952" numCol="1" anchor="t" anchorCtr="0" compatLnSpc="1">
            <a:prstTxWarp prst="textNoShape">
              <a:avLst/>
            </a:prstTxWarp>
          </a:bodyPr>
          <a:lstStyle>
            <a:lvl1pPr algn="r" defTabSz="999818" eaLnBrk="1" hangingPunct="1">
              <a:defRPr sz="1300">
                <a:latin typeface="Times New Roman" pitchFamily="18"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38113" y="766763"/>
            <a:ext cx="6823075"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46575" y="4862142"/>
            <a:ext cx="5206153" cy="4605227"/>
          </a:xfrm>
          <a:prstGeom prst="rect">
            <a:avLst/>
          </a:prstGeom>
          <a:noFill/>
          <a:ln w="9525">
            <a:noFill/>
            <a:miter lim="800000"/>
            <a:headEnd/>
            <a:tailEnd/>
          </a:ln>
          <a:effectLst/>
        </p:spPr>
        <p:txBody>
          <a:bodyPr vert="horz" wrap="square" lIns="99903" tIns="49952" rIns="99903" bIns="4995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9722535"/>
            <a:ext cx="3076363" cy="512080"/>
          </a:xfrm>
          <a:prstGeom prst="rect">
            <a:avLst/>
          </a:prstGeom>
          <a:noFill/>
          <a:ln w="9525">
            <a:noFill/>
            <a:miter lim="800000"/>
            <a:headEnd/>
            <a:tailEnd/>
          </a:ln>
          <a:effectLst/>
        </p:spPr>
        <p:txBody>
          <a:bodyPr vert="horz" wrap="square" lIns="99903" tIns="49952" rIns="99903" bIns="49952" numCol="1" anchor="b" anchorCtr="0" compatLnSpc="1">
            <a:prstTxWarp prst="textNoShape">
              <a:avLst/>
            </a:prstTxWarp>
          </a:bodyPr>
          <a:lstStyle>
            <a:lvl1pPr defTabSz="999818" eaLnBrk="1" hangingPunct="1">
              <a:defRPr sz="1300">
                <a:latin typeface="Times New Roman" pitchFamily="18" charset="0"/>
              </a:defRPr>
            </a:lvl1pPr>
          </a:lstStyle>
          <a:p>
            <a:pPr>
              <a:defRPr/>
            </a:pPr>
            <a:endParaRPr lang="en-US"/>
          </a:p>
        </p:txBody>
      </p:sp>
      <p:sp>
        <p:nvSpPr>
          <p:cNvPr id="17415" name="Rectangle 7"/>
          <p:cNvSpPr>
            <a:spLocks noGrp="1" noChangeArrowheads="1"/>
          </p:cNvSpPr>
          <p:nvPr>
            <p:ph type="sldNum" sz="quarter" idx="5"/>
          </p:nvPr>
        </p:nvSpPr>
        <p:spPr bwMode="auto">
          <a:xfrm>
            <a:off x="4022938" y="9722535"/>
            <a:ext cx="3076363" cy="512080"/>
          </a:xfrm>
          <a:prstGeom prst="rect">
            <a:avLst/>
          </a:prstGeom>
          <a:noFill/>
          <a:ln w="9525">
            <a:noFill/>
            <a:miter lim="800000"/>
            <a:headEnd/>
            <a:tailEnd/>
          </a:ln>
          <a:effectLst/>
        </p:spPr>
        <p:txBody>
          <a:bodyPr vert="horz" wrap="square" lIns="99903" tIns="49952" rIns="99903" bIns="49952" numCol="1" anchor="b" anchorCtr="0" compatLnSpc="1">
            <a:prstTxWarp prst="textNoShape">
              <a:avLst/>
            </a:prstTxWarp>
          </a:bodyPr>
          <a:lstStyle>
            <a:lvl1pPr algn="r" defTabSz="999818" eaLnBrk="1" hangingPunct="1">
              <a:defRPr sz="1300">
                <a:latin typeface="Times New Roman" panose="02020603050405020304" pitchFamily="18" charset="0"/>
              </a:defRPr>
            </a:lvl1pPr>
          </a:lstStyle>
          <a:p>
            <a:pPr>
              <a:defRPr/>
            </a:pPr>
            <a:fld id="{ECF2F05B-3204-4BF6-94A2-8A54A0F83366}" type="slidenum">
              <a:rPr lang="en-US" altLang="en-US"/>
              <a:pPr>
                <a:defRPr/>
              </a:pPr>
              <a:t>‹#›</a:t>
            </a:fld>
            <a:endParaRPr lang="en-US" altLang="en-US"/>
          </a:p>
        </p:txBody>
      </p:sp>
    </p:spTree>
    <p:extLst>
      <p:ext uri="{BB962C8B-B14F-4D97-AF65-F5344CB8AC3E}">
        <p14:creationId xmlns:p14="http://schemas.microsoft.com/office/powerpoint/2010/main" val="4027025589"/>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xfrm>
            <a:off x="138113" y="766763"/>
            <a:ext cx="6823075" cy="3838575"/>
          </a:xfrm>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 name="Slide Number Placeholder 4"/>
          <p:cNvSpPr>
            <a:spLocks noGrp="1"/>
          </p:cNvSpPr>
          <p:nvPr>
            <p:ph type="sldNum" sz="quarter" idx="12"/>
          </p:nvPr>
        </p:nvSpPr>
        <p:spPr/>
        <p:txBody>
          <a:bodyPr/>
          <a:lstStyle/>
          <a:p>
            <a:pPr>
              <a:defRPr/>
            </a:pPr>
            <a:fld id="{ECF2F05B-3204-4BF6-94A2-8A54A0F83366}" type="slidenum">
              <a:rPr lang="en-US" altLang="en-US" smtClean="0"/>
              <a:pPr>
                <a:defRPr/>
              </a:pPr>
              <a:t>1</a:t>
            </a:fld>
            <a:endParaRPr lang="en-US" altLang="en-US"/>
          </a:p>
        </p:txBody>
      </p:sp>
      <p:sp>
        <p:nvSpPr>
          <p:cNvPr id="2" name="Date Placeholder 1"/>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2548900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2</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2631105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xfrm>
            <a:off x="138113" y="766763"/>
            <a:ext cx="6823075" cy="3838575"/>
          </a:xfrm>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5" name="Slide Number Placeholder 4"/>
          <p:cNvSpPr>
            <a:spLocks noGrp="1"/>
          </p:cNvSpPr>
          <p:nvPr>
            <p:ph type="sldNum" sz="quarter" idx="12"/>
          </p:nvPr>
        </p:nvSpPr>
        <p:spPr/>
        <p:txBody>
          <a:bodyPr/>
          <a:lstStyle/>
          <a:p>
            <a:pPr>
              <a:defRPr/>
            </a:pPr>
            <a:fld id="{ECF2F05B-3204-4BF6-94A2-8A54A0F83366}" type="slidenum">
              <a:rPr lang="en-US" altLang="en-US" smtClean="0"/>
              <a:pPr>
                <a:defRPr/>
              </a:pPr>
              <a:t>3</a:t>
            </a:fld>
            <a:endParaRPr lang="en-US" altLang="en-US"/>
          </a:p>
        </p:txBody>
      </p:sp>
      <p:sp>
        <p:nvSpPr>
          <p:cNvPr id="2" name="Date Placeholder 1"/>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3658091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4</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1061256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5</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2689208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6</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1044627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7</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2957187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xfrm>
            <a:off x="138113" y="766763"/>
            <a:ext cx="6823075" cy="3838575"/>
          </a:xfrm>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 name="Slide Number Placeholder 4"/>
          <p:cNvSpPr>
            <a:spLocks noGrp="1"/>
          </p:cNvSpPr>
          <p:nvPr>
            <p:ph type="sldNum" sz="quarter" idx="12"/>
          </p:nvPr>
        </p:nvSpPr>
        <p:spPr/>
        <p:txBody>
          <a:bodyPr/>
          <a:lstStyle/>
          <a:p>
            <a:pPr>
              <a:defRPr/>
            </a:pPr>
            <a:fld id="{ECF2F05B-3204-4BF6-94A2-8A54A0F83366}" type="slidenum">
              <a:rPr lang="en-US" altLang="en-US" smtClean="0"/>
              <a:pPr>
                <a:defRPr/>
              </a:pPr>
              <a:t>8</a:t>
            </a:fld>
            <a:endParaRPr lang="en-US" altLang="en-US"/>
          </a:p>
        </p:txBody>
      </p:sp>
      <p:sp>
        <p:nvSpPr>
          <p:cNvPr id="2" name="Date Placeholder 1"/>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2264402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xfrm>
            <a:off x="138113" y="766763"/>
            <a:ext cx="6823075" cy="3838575"/>
          </a:xfrm>
          <a:ln/>
        </p:spPr>
      </p:sp>
      <p:sp>
        <p:nvSpPr>
          <p:cNvPr id="45059"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dirty="0"/>
          </a:p>
        </p:txBody>
      </p:sp>
      <p:sp>
        <p:nvSpPr>
          <p:cNvPr id="5" name="Slide Number Placeholder 4"/>
          <p:cNvSpPr>
            <a:spLocks noGrp="1"/>
          </p:cNvSpPr>
          <p:nvPr>
            <p:ph type="sldNum" sz="quarter" idx="12"/>
          </p:nvPr>
        </p:nvSpPr>
        <p:spPr/>
        <p:txBody>
          <a:bodyPr/>
          <a:lstStyle/>
          <a:p>
            <a:pPr>
              <a:defRPr/>
            </a:pPr>
            <a:fld id="{ECF2F05B-3204-4BF6-94A2-8A54A0F83366}" type="slidenum">
              <a:rPr lang="en-US" altLang="en-US" smtClean="0"/>
              <a:pPr>
                <a:defRPr/>
              </a:pPr>
              <a:t>9</a:t>
            </a:fld>
            <a:endParaRPr lang="en-US" altLang="en-US"/>
          </a:p>
        </p:txBody>
      </p:sp>
      <p:sp>
        <p:nvSpPr>
          <p:cNvPr id="2" name="Date Placeholder 1"/>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1077116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10</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2585264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11</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2240483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12</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1472836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13</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3302330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dirty="0"/>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14</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749789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15</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3328001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sz="1500" dirty="0"/>
          </a:p>
        </p:txBody>
      </p:sp>
      <p:sp>
        <p:nvSpPr>
          <p:cNvPr id="8" name="Slide Number Placeholder 7"/>
          <p:cNvSpPr>
            <a:spLocks noGrp="1"/>
          </p:cNvSpPr>
          <p:nvPr>
            <p:ph type="sldNum" sz="quarter" idx="12"/>
          </p:nvPr>
        </p:nvSpPr>
        <p:spPr/>
        <p:txBody>
          <a:bodyPr/>
          <a:lstStyle/>
          <a:p>
            <a:pPr>
              <a:defRPr/>
            </a:pPr>
            <a:fld id="{ECF2F05B-3204-4BF6-94A2-8A54A0F83366}" type="slidenum">
              <a:rPr lang="en-US" altLang="en-US" smtClean="0"/>
              <a:pPr>
                <a:defRPr/>
              </a:pPr>
              <a:t>16</a:t>
            </a:fld>
            <a:endParaRPr lang="en-US" altLang="en-US"/>
          </a:p>
        </p:txBody>
      </p:sp>
      <p:sp>
        <p:nvSpPr>
          <p:cNvPr id="4" name="Date Placeholder 3"/>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9539841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38113" y="766763"/>
            <a:ext cx="6823075" cy="3838575"/>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 and C are mutually exclusive</a:t>
            </a:r>
          </a:p>
          <a:p>
            <a:endParaRPr lang="en-US" altLang="en-US"/>
          </a:p>
          <a:p>
            <a:r>
              <a:rPr lang="en-US" altLang="en-US"/>
              <a:t>B is a subset of A</a:t>
            </a:r>
          </a:p>
          <a:p>
            <a:r>
              <a:rPr lang="en-US" altLang="en-US"/>
              <a:t>A U B = A</a:t>
            </a:r>
          </a:p>
        </p:txBody>
      </p:sp>
      <p:sp>
        <p:nvSpPr>
          <p:cNvPr id="5" name="Slide Number Placeholder 4"/>
          <p:cNvSpPr>
            <a:spLocks noGrp="1"/>
          </p:cNvSpPr>
          <p:nvPr>
            <p:ph type="sldNum" sz="quarter" idx="12"/>
          </p:nvPr>
        </p:nvSpPr>
        <p:spPr/>
        <p:txBody>
          <a:bodyPr/>
          <a:lstStyle/>
          <a:p>
            <a:pPr>
              <a:defRPr/>
            </a:pPr>
            <a:fld id="{ECF2F05B-3204-4BF6-94A2-8A54A0F83366}" type="slidenum">
              <a:rPr lang="en-US" altLang="en-US" smtClean="0"/>
              <a:pPr>
                <a:defRPr/>
              </a:pPr>
              <a:t>17</a:t>
            </a:fld>
            <a:endParaRPr lang="en-US" altLang="en-US"/>
          </a:p>
        </p:txBody>
      </p:sp>
      <p:sp>
        <p:nvSpPr>
          <p:cNvPr id="2" name="Date Placeholder 1"/>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3213550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xfrm>
            <a:off x="138113" y="766763"/>
            <a:ext cx="6823075" cy="3838575"/>
          </a:xfrm>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tabLst>
                <a:tab pos="497354" algn="l"/>
                <a:tab pos="1495467" algn="l"/>
                <a:tab pos="1687937" algn="l"/>
              </a:tabLst>
            </a:pPr>
            <a:endParaRPr lang="en-US" altLang="en-US" dirty="0">
              <a:latin typeface="Arial" panose="020B0604020202020204" pitchFamily="34" charset="0"/>
            </a:endParaRPr>
          </a:p>
        </p:txBody>
      </p:sp>
      <p:sp>
        <p:nvSpPr>
          <p:cNvPr id="5" name="Slide Number Placeholder 4"/>
          <p:cNvSpPr>
            <a:spLocks noGrp="1"/>
          </p:cNvSpPr>
          <p:nvPr>
            <p:ph type="sldNum" sz="quarter" idx="12"/>
          </p:nvPr>
        </p:nvSpPr>
        <p:spPr/>
        <p:txBody>
          <a:bodyPr/>
          <a:lstStyle/>
          <a:p>
            <a:pPr>
              <a:defRPr/>
            </a:pPr>
            <a:fld id="{ECF2F05B-3204-4BF6-94A2-8A54A0F83366}" type="slidenum">
              <a:rPr lang="en-US" altLang="en-US" smtClean="0"/>
              <a:pPr>
                <a:defRPr/>
              </a:pPr>
              <a:t>18</a:t>
            </a:fld>
            <a:endParaRPr lang="en-US" altLang="en-US"/>
          </a:p>
        </p:txBody>
      </p:sp>
      <p:sp>
        <p:nvSpPr>
          <p:cNvPr id="2" name="Date Placeholder 1"/>
          <p:cNvSpPr>
            <a:spLocks noGrp="1"/>
          </p:cNvSpPr>
          <p:nvPr>
            <p:ph type="dt" idx="14"/>
          </p:nvPr>
        </p:nvSpPr>
        <p:spPr/>
        <p:txBody>
          <a:bodyPr/>
          <a:lstStyle/>
          <a:p>
            <a:pPr>
              <a:defRPr/>
            </a:pPr>
            <a:endParaRPr lang="en-US"/>
          </a:p>
        </p:txBody>
      </p:sp>
    </p:spTree>
    <p:extLst>
      <p:ext uri="{BB962C8B-B14F-4D97-AF65-F5344CB8AC3E}">
        <p14:creationId xmlns:p14="http://schemas.microsoft.com/office/powerpoint/2010/main" val="1126950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CF2F05B-3204-4BF6-94A2-8A54A0F83366}" type="slidenum">
              <a:rPr lang="en-US" altLang="en-US" smtClean="0"/>
              <a:pPr>
                <a:defRPr/>
              </a:pPr>
              <a:t>19</a:t>
            </a:fld>
            <a:endParaRPr lang="en-US" altLang="en-US"/>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1383250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4052">
              <a:defRPr/>
            </a:pPr>
            <a:r>
              <a:rPr lang="en-US" sz="1300" dirty="0">
                <a:cs typeface="Times New Roman" pitchFamily="18" charset="0"/>
              </a:rPr>
              <a:t>Counting techniques eliminate the need for listing each simple event and help to easily assign probabilities to various events when the outcomes are </a:t>
            </a:r>
            <a:r>
              <a:rPr lang="en-US" sz="1300" b="1" dirty="0">
                <a:cs typeface="Times New Roman" pitchFamily="18" charset="0"/>
              </a:rPr>
              <a:t>equally likely</a:t>
            </a:r>
            <a:r>
              <a:rPr lang="en-US" sz="1300" dirty="0">
                <a:cs typeface="Times New Roman" pitchFamily="18" charset="0"/>
              </a:rPr>
              <a:t>. Especially helpful if the sample space is quite large.</a:t>
            </a:r>
          </a:p>
          <a:p>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20</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1013184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26*26*26*10*10*10</a:t>
            </a:r>
          </a:p>
          <a:p>
            <a:r>
              <a:rPr lang="en-US" dirty="0"/>
              <a:t>Could draw a tree</a:t>
            </a:r>
            <a:r>
              <a:rPr lang="en-US" baseline="0" dirty="0"/>
              <a:t> diagram or write out all possibilities but it would take too long, so that’s why we use these multiplication rules</a:t>
            </a:r>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23</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5359353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25</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441584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26</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441584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27</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4415841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out the 3 medals to award example</a:t>
            </a:r>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28</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4830124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3 people/medals example here</a:t>
            </a:r>
          </a:p>
          <a:p>
            <a:r>
              <a:rPr lang="en-US" dirty="0"/>
              <a:t>See</a:t>
            </a:r>
            <a:r>
              <a:rPr lang="en-US" baseline="0" dirty="0"/>
              <a:t> Examples </a:t>
            </a:r>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29</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4227039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table</a:t>
            </a:r>
            <a:r>
              <a:rPr lang="en-US" baseline="0" dirty="0"/>
              <a:t> with people sitting around it.</a:t>
            </a:r>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30</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936725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en-US" i="0" smtClean="0">
                    <a:latin typeface="Cambria Math" panose="02040503050406030204" pitchFamily="18" charset="0"/>
                  </a:rPr>
                  <a:t>(■8(</a:t>
                </a:r>
                <a:r>
                  <a:rPr lang="en-US" b="0" i="0" smtClean="0">
                    <a:latin typeface="Cambria Math"/>
                  </a:rPr>
                  <a:t>9</a:t>
                </a:r>
                <a:r>
                  <a:rPr lang="en-US" b="0" i="0" smtClean="0">
                    <a:latin typeface="Cambria Math" panose="02040503050406030204" pitchFamily="18" charset="0"/>
                  </a:rPr>
                  <a:t>@</a:t>
                </a:r>
                <a:r>
                  <a:rPr lang="en-US" b="0" i="0" smtClean="0">
                    <a:latin typeface="Cambria Math"/>
                  </a:rPr>
                  <a:t>3</a:t>
                </a:r>
                <a:r>
                  <a:rPr lang="en-US" b="0" i="0" smtClean="0">
                    <a:latin typeface="Cambria Math" panose="02040503050406030204" pitchFamily="18" charset="0"/>
                  </a:rPr>
                  <a:t>))</a:t>
                </a:r>
                <a:r>
                  <a:rPr lang="en-US" b="0" i="0" smtClean="0">
                    <a:latin typeface="Cambria Math"/>
                  </a:rPr>
                  <a:t>=9!</a:t>
                </a:r>
                <a:r>
                  <a:rPr lang="en-US" b="0" i="0" smtClean="0">
                    <a:latin typeface="Cambria Math" panose="02040503050406030204" pitchFamily="18" charset="0"/>
                  </a:rPr>
                  <a:t>/</a:t>
                </a:r>
                <a:r>
                  <a:rPr lang="en-US" b="0" i="0" smtClean="0">
                    <a:latin typeface="Cambria Math"/>
                  </a:rPr>
                  <a:t>3!6!=</a:t>
                </a:r>
                <a:r>
                  <a:rPr lang="en-US" b="0" i="0" smtClean="0">
                    <a:latin typeface="Cambria Math" panose="02040503050406030204" pitchFamily="18" charset="0"/>
                  </a:rPr>
                  <a:t>(</a:t>
                </a:r>
                <a:r>
                  <a:rPr lang="en-US" b="0" i="0" smtClean="0">
                    <a:latin typeface="Cambria Math"/>
                  </a:rPr>
                  <a:t>9∗8∗7</a:t>
                </a:r>
                <a:r>
                  <a:rPr lang="en-US" b="0" i="0" smtClean="0">
                    <a:latin typeface="Cambria Math" panose="02040503050406030204" pitchFamily="18" charset="0"/>
                  </a:rPr>
                  <a:t>)/(</a:t>
                </a:r>
                <a:r>
                  <a:rPr lang="en-US" b="0" i="0" smtClean="0">
                    <a:latin typeface="Cambria Math"/>
                  </a:rPr>
                  <a:t>3∗2</a:t>
                </a:r>
                <a:r>
                  <a:rPr lang="en-US" b="0" i="0" smtClean="0">
                    <a:latin typeface="Cambria Math" panose="02040503050406030204" pitchFamily="18" charset="0"/>
                  </a:rPr>
                  <a:t>)</a:t>
                </a:r>
                <a:r>
                  <a:rPr lang="en-US" b="0" i="0" smtClean="0">
                    <a:latin typeface="Cambria Math"/>
                  </a:rPr>
                  <a:t>=84</a:t>
                </a:r>
                <a:endParaRPr lang="en-US" dirty="0"/>
              </a:p>
              <a:p>
                <a:endParaRPr lang="en-US" dirty="0"/>
              </a:p>
            </p:txBody>
          </p:sp>
        </mc:Fallback>
      </mc:AlternateContent>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33</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6540281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choose 2 * 8 choose 2 = 28*28 = 784</a:t>
            </a:r>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34</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983872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CF2F05B-3204-4BF6-94A2-8A54A0F83366}" type="slidenum">
              <a:rPr lang="en-US" altLang="en-US" smtClean="0"/>
              <a:pPr>
                <a:defRPr/>
              </a:pPr>
              <a:t>35</a:t>
            </a:fld>
            <a:endParaRPr lang="en-US" altLang="en-US"/>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0786715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4052">
              <a:defRPr/>
            </a:pPr>
            <a:endParaRPr lang="en-US" sz="1500" dirty="0">
              <a:cs typeface="Times New Roman" pitchFamily="18" charset="0"/>
            </a:endParaRPr>
          </a:p>
        </p:txBody>
      </p:sp>
      <p:sp>
        <p:nvSpPr>
          <p:cNvPr id="4" name="Slide Number Placeholder 3"/>
          <p:cNvSpPr>
            <a:spLocks noGrp="1"/>
          </p:cNvSpPr>
          <p:nvPr>
            <p:ph type="sldNum" sz="quarter" idx="10"/>
          </p:nvPr>
        </p:nvSpPr>
        <p:spPr/>
        <p:txBody>
          <a:bodyPr/>
          <a:lstStyle/>
          <a:p>
            <a:pPr>
              <a:defRPr/>
            </a:pPr>
            <a:fld id="{ECF2F05B-3204-4BF6-94A2-8A54A0F83366}" type="slidenum">
              <a:rPr lang="en-US" altLang="en-US" smtClean="0"/>
              <a:pPr>
                <a:defRPr/>
              </a:pPr>
              <a:t>41</a:t>
            </a:fld>
            <a:endParaRPr lang="en-US" altLang="en-US"/>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1771311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percentage of time do we observe</a:t>
            </a:r>
            <a:r>
              <a:rPr lang="en-US" baseline="0" dirty="0"/>
              <a:t> 2?</a:t>
            </a:r>
            <a:endParaRPr lang="en-US" dirty="0"/>
          </a:p>
        </p:txBody>
      </p:sp>
      <p:sp>
        <p:nvSpPr>
          <p:cNvPr id="4" name="Slide Number Placeholder 3"/>
          <p:cNvSpPr>
            <a:spLocks noGrp="1"/>
          </p:cNvSpPr>
          <p:nvPr>
            <p:ph type="sldNum" sz="quarter" idx="10"/>
          </p:nvPr>
        </p:nvSpPr>
        <p:spPr/>
        <p:txBody>
          <a:bodyPr/>
          <a:lstStyle/>
          <a:p>
            <a:pPr>
              <a:defRPr/>
            </a:pPr>
            <a:fld id="{ECF2F05B-3204-4BF6-94A2-8A54A0F83366}" type="slidenum">
              <a:rPr lang="en-US" altLang="en-US" smtClean="0"/>
              <a:pPr>
                <a:defRPr/>
              </a:pPr>
              <a:t>42</a:t>
            </a:fld>
            <a:endParaRPr lang="en-US" altLang="en-US"/>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117776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 card</a:t>
            </a:r>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45</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2455416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 = 0.5, P(T)</a:t>
            </a:r>
            <a:r>
              <a:rPr lang="en-US" baseline="0" dirty="0"/>
              <a:t> = 0.5, P(H)+P(T) = 1</a:t>
            </a:r>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46</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245541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2463" eaLnBrk="0" hangingPunct="0">
              <a:defRPr>
                <a:solidFill>
                  <a:schemeClr val="tx1"/>
                </a:solidFill>
                <a:latin typeface="Arial" panose="020B0604020202020204" pitchFamily="34" charset="0"/>
              </a:defRPr>
            </a:lvl1pPr>
            <a:lvl2pPr marL="783292" indent="-301266" defTabSz="982463" eaLnBrk="0" hangingPunct="0">
              <a:defRPr>
                <a:solidFill>
                  <a:schemeClr val="tx1"/>
                </a:solidFill>
                <a:latin typeface="Arial" panose="020B0604020202020204" pitchFamily="34" charset="0"/>
              </a:defRPr>
            </a:lvl2pPr>
            <a:lvl3pPr marL="1205065" indent="-241013" defTabSz="982463" eaLnBrk="0" hangingPunct="0">
              <a:defRPr>
                <a:solidFill>
                  <a:schemeClr val="tx1"/>
                </a:solidFill>
                <a:latin typeface="Arial" panose="020B0604020202020204" pitchFamily="34" charset="0"/>
              </a:defRPr>
            </a:lvl3pPr>
            <a:lvl4pPr marL="1687091" indent="-241013" defTabSz="982463" eaLnBrk="0" hangingPunct="0">
              <a:defRPr>
                <a:solidFill>
                  <a:schemeClr val="tx1"/>
                </a:solidFill>
                <a:latin typeface="Arial" panose="020B0604020202020204" pitchFamily="34" charset="0"/>
              </a:defRPr>
            </a:lvl4pPr>
            <a:lvl5pPr marL="2169117" indent="-241013" defTabSz="982463" eaLnBrk="0" hangingPunct="0">
              <a:defRPr>
                <a:solidFill>
                  <a:schemeClr val="tx1"/>
                </a:solidFill>
                <a:latin typeface="Arial" panose="020B0604020202020204" pitchFamily="34" charset="0"/>
              </a:defRPr>
            </a:lvl5pPr>
            <a:lvl6pPr marL="2651143" indent="-241013" defTabSz="982463" eaLnBrk="0" fontAlgn="base" hangingPunct="0">
              <a:spcBef>
                <a:spcPct val="0"/>
              </a:spcBef>
              <a:spcAft>
                <a:spcPct val="0"/>
              </a:spcAft>
              <a:defRPr>
                <a:solidFill>
                  <a:schemeClr val="tx1"/>
                </a:solidFill>
                <a:latin typeface="Arial" panose="020B0604020202020204" pitchFamily="34" charset="0"/>
              </a:defRPr>
            </a:lvl6pPr>
            <a:lvl7pPr marL="3133169" indent="-241013" defTabSz="982463" eaLnBrk="0" fontAlgn="base" hangingPunct="0">
              <a:spcBef>
                <a:spcPct val="0"/>
              </a:spcBef>
              <a:spcAft>
                <a:spcPct val="0"/>
              </a:spcAft>
              <a:defRPr>
                <a:solidFill>
                  <a:schemeClr val="tx1"/>
                </a:solidFill>
                <a:latin typeface="Arial" panose="020B0604020202020204" pitchFamily="34" charset="0"/>
              </a:defRPr>
            </a:lvl7pPr>
            <a:lvl8pPr marL="3615195" indent="-241013" defTabSz="982463" eaLnBrk="0" fontAlgn="base" hangingPunct="0">
              <a:spcBef>
                <a:spcPct val="0"/>
              </a:spcBef>
              <a:spcAft>
                <a:spcPct val="0"/>
              </a:spcAft>
              <a:defRPr>
                <a:solidFill>
                  <a:schemeClr val="tx1"/>
                </a:solidFill>
                <a:latin typeface="Arial" panose="020B0604020202020204" pitchFamily="34" charset="0"/>
              </a:defRPr>
            </a:lvl8pPr>
            <a:lvl9pPr marL="4097221" indent="-241013" defTabSz="982463"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4B0B6C-9439-4D56-AB6A-D6FB718EE1B8}" type="slidenum">
              <a:rPr lang="en-US" altLang="en-US">
                <a:latin typeface="Times New Roman" panose="02020603050405020304" pitchFamily="18" charset="0"/>
              </a:rPr>
              <a:pPr eaLnBrk="1" hangingPunct="1"/>
              <a:t>50</a:t>
            </a:fld>
            <a:endParaRPr lang="en-US" altLang="en-US">
              <a:latin typeface="Times New Roman" panose="02020603050405020304" pitchFamily="18" charset="0"/>
            </a:endParaRPr>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Header Placeholder 3"/>
          <p:cNvSpPr>
            <a:spLocks noGrp="1"/>
          </p:cNvSpPr>
          <p:nvPr>
            <p:ph type="hdr" sz="quarter" idx="12"/>
          </p:nvPr>
        </p:nvSpPr>
        <p:spPr/>
        <p:txBody>
          <a:bodyPr/>
          <a:lstStyle/>
          <a:p>
            <a:pPr>
              <a:defRPr/>
            </a:pPr>
            <a:endParaRPr lang="en-US"/>
          </a:p>
        </p:txBody>
      </p:sp>
    </p:spTree>
    <p:extLst>
      <p:ext uri="{BB962C8B-B14F-4D97-AF65-F5344CB8AC3E}">
        <p14:creationId xmlns:p14="http://schemas.microsoft.com/office/powerpoint/2010/main" val="33235828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AF23759-45B2-4392-9D3C-9FD5157D2BB3}" type="slidenum">
              <a:rPr lang="en-US"/>
              <a:pPr/>
              <a:t>52</a:t>
            </a:fld>
            <a:endParaRPr 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pPr defTabSz="964052">
              <a:defRPr/>
            </a:pPr>
            <a:r>
              <a:rPr lang="en-US" sz="1300" dirty="0"/>
              <a:t>Number of </a:t>
            </a:r>
            <a:r>
              <a:rPr lang="en-US" sz="1300" i="1" dirty="0"/>
              <a:t>k</a:t>
            </a:r>
            <a:r>
              <a:rPr lang="en-US" sz="1300" dirty="0"/>
              <a:t>-permutations of </a:t>
            </a:r>
            <a:r>
              <a:rPr lang="en-US" sz="1300" i="1" dirty="0"/>
              <a:t>n</a:t>
            </a:r>
            <a:r>
              <a:rPr lang="en-US" sz="1300" dirty="0"/>
              <a:t> objects is </a:t>
            </a:r>
          </a:p>
          <a:p>
            <a:endParaRPr lang="en-US" dirty="0"/>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Header Placeholder 3"/>
          <p:cNvSpPr>
            <a:spLocks noGrp="1"/>
          </p:cNvSpPr>
          <p:nvPr>
            <p:ph type="hdr" sz="quarter" idx="12"/>
          </p:nvPr>
        </p:nvSpPr>
        <p:spPr/>
        <p:txBody>
          <a:bodyPr/>
          <a:lstStyle/>
          <a:p>
            <a:pPr>
              <a:defRPr/>
            </a:pPr>
            <a:endParaRPr lang="en-US"/>
          </a:p>
        </p:txBody>
      </p:sp>
    </p:spTree>
    <p:extLst>
      <p:ext uri="{BB962C8B-B14F-4D97-AF65-F5344CB8AC3E}">
        <p14:creationId xmlns:p14="http://schemas.microsoft.com/office/powerpoint/2010/main" val="1193196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2463" eaLnBrk="0" hangingPunct="0">
              <a:defRPr>
                <a:solidFill>
                  <a:schemeClr val="tx1"/>
                </a:solidFill>
                <a:latin typeface="Arial" panose="020B0604020202020204" pitchFamily="34" charset="0"/>
              </a:defRPr>
            </a:lvl1pPr>
            <a:lvl2pPr marL="783292" indent="-301266" defTabSz="982463" eaLnBrk="0" hangingPunct="0">
              <a:defRPr>
                <a:solidFill>
                  <a:schemeClr val="tx1"/>
                </a:solidFill>
                <a:latin typeface="Arial" panose="020B0604020202020204" pitchFamily="34" charset="0"/>
              </a:defRPr>
            </a:lvl2pPr>
            <a:lvl3pPr marL="1205065" indent="-241013" defTabSz="982463" eaLnBrk="0" hangingPunct="0">
              <a:defRPr>
                <a:solidFill>
                  <a:schemeClr val="tx1"/>
                </a:solidFill>
                <a:latin typeface="Arial" panose="020B0604020202020204" pitchFamily="34" charset="0"/>
              </a:defRPr>
            </a:lvl3pPr>
            <a:lvl4pPr marL="1687091" indent="-241013" defTabSz="982463" eaLnBrk="0" hangingPunct="0">
              <a:defRPr>
                <a:solidFill>
                  <a:schemeClr val="tx1"/>
                </a:solidFill>
                <a:latin typeface="Arial" panose="020B0604020202020204" pitchFamily="34" charset="0"/>
              </a:defRPr>
            </a:lvl4pPr>
            <a:lvl5pPr marL="2169117" indent="-241013" defTabSz="982463" eaLnBrk="0" hangingPunct="0">
              <a:defRPr>
                <a:solidFill>
                  <a:schemeClr val="tx1"/>
                </a:solidFill>
                <a:latin typeface="Arial" panose="020B0604020202020204" pitchFamily="34" charset="0"/>
              </a:defRPr>
            </a:lvl5pPr>
            <a:lvl6pPr marL="2651143" indent="-241013" defTabSz="982463" eaLnBrk="0" fontAlgn="base" hangingPunct="0">
              <a:spcBef>
                <a:spcPct val="0"/>
              </a:spcBef>
              <a:spcAft>
                <a:spcPct val="0"/>
              </a:spcAft>
              <a:defRPr>
                <a:solidFill>
                  <a:schemeClr val="tx1"/>
                </a:solidFill>
                <a:latin typeface="Arial" panose="020B0604020202020204" pitchFamily="34" charset="0"/>
              </a:defRPr>
            </a:lvl6pPr>
            <a:lvl7pPr marL="3133169" indent="-241013" defTabSz="982463" eaLnBrk="0" fontAlgn="base" hangingPunct="0">
              <a:spcBef>
                <a:spcPct val="0"/>
              </a:spcBef>
              <a:spcAft>
                <a:spcPct val="0"/>
              </a:spcAft>
              <a:defRPr>
                <a:solidFill>
                  <a:schemeClr val="tx1"/>
                </a:solidFill>
                <a:latin typeface="Arial" panose="020B0604020202020204" pitchFamily="34" charset="0"/>
              </a:defRPr>
            </a:lvl7pPr>
            <a:lvl8pPr marL="3615195" indent="-241013" defTabSz="982463" eaLnBrk="0" fontAlgn="base" hangingPunct="0">
              <a:spcBef>
                <a:spcPct val="0"/>
              </a:spcBef>
              <a:spcAft>
                <a:spcPct val="0"/>
              </a:spcAft>
              <a:defRPr>
                <a:solidFill>
                  <a:schemeClr val="tx1"/>
                </a:solidFill>
                <a:latin typeface="Arial" panose="020B0604020202020204" pitchFamily="34" charset="0"/>
              </a:defRPr>
            </a:lvl8pPr>
            <a:lvl9pPr marL="4097221" indent="-241013" defTabSz="982463"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3F52C4-59BC-4652-B82E-77256458823F}" type="slidenum">
              <a:rPr lang="en-US" altLang="en-US">
                <a:latin typeface="Times New Roman" panose="02020603050405020304" pitchFamily="18" charset="0"/>
              </a:rPr>
              <a:pPr eaLnBrk="1" hangingPunct="1"/>
              <a:t>54</a:t>
            </a:fld>
            <a:endParaRPr lang="en-US" altLang="en-US">
              <a:latin typeface="Times New Roman" panose="02020603050405020304" pitchFamily="18" charset="0"/>
            </a:endParaRPr>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Header Placeholder 3"/>
          <p:cNvSpPr>
            <a:spLocks noGrp="1"/>
          </p:cNvSpPr>
          <p:nvPr>
            <p:ph type="hdr" sz="quarter" idx="12"/>
          </p:nvPr>
        </p:nvSpPr>
        <p:spPr/>
        <p:txBody>
          <a:bodyPr/>
          <a:lstStyle/>
          <a:p>
            <a:pPr>
              <a:defRPr/>
            </a:pPr>
            <a:endParaRPr lang="en-US"/>
          </a:p>
        </p:txBody>
      </p:sp>
    </p:spTree>
    <p:extLst>
      <p:ext uri="{BB962C8B-B14F-4D97-AF65-F5344CB8AC3E}">
        <p14:creationId xmlns:p14="http://schemas.microsoft.com/office/powerpoint/2010/main" val="22705885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CF2F05B-3204-4BF6-94A2-8A54A0F83366}" type="slidenum">
              <a:rPr lang="en-US" altLang="en-US" smtClean="0"/>
              <a:pPr>
                <a:defRPr/>
              </a:pPr>
              <a:t>55</a:t>
            </a:fld>
            <a:endParaRPr lang="en-US" altLang="en-US"/>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42202811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56</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4115059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57</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229570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58</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546771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spcBef>
                <a:spcPct val="50000"/>
              </a:spcBef>
            </a:pPr>
            <a:r>
              <a:rPr lang="en-US" dirty="0">
                <a:cs typeface="Times New Roman" pitchFamily="18" charset="0"/>
              </a:rPr>
              <a:t>In our die tossing example, </a:t>
            </a:r>
            <a:r>
              <a:rPr lang="en-US" i="1" dirty="0">
                <a:cs typeface="Times New Roman" pitchFamily="18" charset="0"/>
              </a:rPr>
              <a:t>A</a:t>
            </a:r>
            <a:r>
              <a:rPr lang="en-US" dirty="0">
                <a:cs typeface="Times New Roman" pitchFamily="18" charset="0"/>
              </a:rPr>
              <a:t> </a:t>
            </a:r>
            <a:r>
              <a:rPr lang="en-US" dirty="0">
                <a:cs typeface="Times New Roman" pitchFamily="18" charset="0"/>
                <a:sym typeface="Symbol" pitchFamily="18" charset="2"/>
              </a:rPr>
              <a:t></a:t>
            </a:r>
            <a:r>
              <a:rPr lang="en-US" dirty="0">
                <a:cs typeface="Times New Roman" pitchFamily="18" charset="0"/>
              </a:rPr>
              <a:t> </a:t>
            </a:r>
            <a:r>
              <a:rPr lang="en-US" i="1" dirty="0">
                <a:cs typeface="Times New Roman" pitchFamily="18" charset="0"/>
              </a:rPr>
              <a:t>B </a:t>
            </a:r>
            <a:r>
              <a:rPr lang="en-US" dirty="0">
                <a:cs typeface="Times New Roman" pitchFamily="18" charset="0"/>
              </a:rPr>
              <a:t>= {5}, therefore </a:t>
            </a:r>
            <a:r>
              <a:rPr lang="en-US" i="1" dirty="0">
                <a:cs typeface="Times New Roman" pitchFamily="18" charset="0"/>
              </a:rPr>
              <a:t>P</a:t>
            </a:r>
            <a:r>
              <a:rPr lang="en-US" dirty="0">
                <a:cs typeface="Times New Roman" pitchFamily="18" charset="0"/>
              </a:rPr>
              <a:t>(</a:t>
            </a:r>
            <a:r>
              <a:rPr lang="en-US" i="1" dirty="0">
                <a:cs typeface="Times New Roman" pitchFamily="18" charset="0"/>
              </a:rPr>
              <a:t>A</a:t>
            </a:r>
            <a:r>
              <a:rPr lang="en-US" dirty="0">
                <a:cs typeface="Times New Roman" pitchFamily="18" charset="0"/>
              </a:rPr>
              <a:t> </a:t>
            </a:r>
            <a:r>
              <a:rPr lang="en-US" dirty="0">
                <a:cs typeface="Times New Roman" pitchFamily="18" charset="0"/>
                <a:sym typeface="Symbol" pitchFamily="18" charset="2"/>
              </a:rPr>
              <a:t></a:t>
            </a:r>
            <a:r>
              <a:rPr lang="en-US" dirty="0">
                <a:cs typeface="Times New Roman" pitchFamily="18" charset="0"/>
              </a:rPr>
              <a:t> </a:t>
            </a:r>
            <a:r>
              <a:rPr lang="en-US" i="1" dirty="0">
                <a:cs typeface="Times New Roman" pitchFamily="18" charset="0"/>
              </a:rPr>
              <a:t>B</a:t>
            </a:r>
            <a:r>
              <a:rPr lang="en-US" dirty="0">
                <a:cs typeface="Times New Roman" pitchFamily="18" charset="0"/>
              </a:rPr>
              <a:t>) = 1/6 and </a:t>
            </a:r>
            <a:br>
              <a:rPr lang="en-US" dirty="0">
                <a:cs typeface="Times New Roman" pitchFamily="18" charset="0"/>
              </a:rPr>
            </a:br>
            <a:r>
              <a:rPr lang="en-US" i="1" dirty="0">
                <a:cs typeface="Times New Roman" pitchFamily="18" charset="0"/>
              </a:rPr>
              <a:t>P</a:t>
            </a:r>
            <a:r>
              <a:rPr lang="en-US" dirty="0">
                <a:cs typeface="Times New Roman" pitchFamily="18" charset="0"/>
              </a:rPr>
              <a:t>(</a:t>
            </a:r>
            <a:r>
              <a:rPr lang="en-US" i="1" dirty="0">
                <a:cs typeface="Times New Roman" pitchFamily="18" charset="0"/>
              </a:rPr>
              <a:t>B</a:t>
            </a:r>
            <a:r>
              <a:rPr lang="en-US" dirty="0">
                <a:cs typeface="Times New Roman" pitchFamily="18" charset="0"/>
              </a:rPr>
              <a:t>) = 1/2:</a:t>
            </a:r>
          </a:p>
          <a:p>
            <a:pPr lvl="1">
              <a:spcBef>
                <a:spcPct val="50000"/>
              </a:spcBef>
              <a:buNone/>
            </a:pPr>
            <a:r>
              <a:rPr lang="en-US" dirty="0">
                <a:cs typeface="Times New Roman" pitchFamily="18" charset="0"/>
              </a:rPr>
              <a:t>		                        = 1/3 as calculated before.</a:t>
            </a:r>
          </a:p>
          <a:p>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59</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19491228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60</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9292842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2.26 </a:t>
            </a:r>
            <a:r>
              <a:rPr lang="en-US" dirty="0" err="1"/>
              <a:t>devore</a:t>
            </a:r>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61</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0330578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62</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6646136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63</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253683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64</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5306335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65</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18174599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66</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10396660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67</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7431828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 Devore</a:t>
            </a:r>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70</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6715068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72</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7585442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73</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1558093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4079">
              <a:defRPr/>
            </a:pPr>
            <a:r>
              <a:rPr lang="en-US" b="1" dirty="0">
                <a:cs typeface="Times New Roman" pitchFamily="18" charset="0"/>
              </a:rPr>
              <a:t>Note that if two events are mutually exclusive, they cannot be independent.</a:t>
            </a:r>
          </a:p>
          <a:p>
            <a:endParaRPr lang="en-US" dirty="0"/>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74</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5212003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75</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393635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76</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4587521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77</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41500154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6A44B0B2-E10B-4D3F-BE9D-8F5D1C8325FC}" type="slidenum">
              <a:rPr lang="en-US"/>
              <a:pPr/>
              <a:t>78</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Header Placeholder 3"/>
          <p:cNvSpPr>
            <a:spLocks noGrp="1"/>
          </p:cNvSpPr>
          <p:nvPr>
            <p:ph type="hdr" sz="quarter" idx="12"/>
          </p:nvPr>
        </p:nvSpPr>
        <p:spPr/>
        <p:txBody>
          <a:bodyPr/>
          <a:lstStyle/>
          <a:p>
            <a:pPr>
              <a:defRPr/>
            </a:pPr>
            <a:endParaRPr lang="en-US"/>
          </a:p>
        </p:txBody>
      </p:sp>
    </p:spTree>
    <p:extLst>
      <p:ext uri="{BB962C8B-B14F-4D97-AF65-F5344CB8AC3E}">
        <p14:creationId xmlns:p14="http://schemas.microsoft.com/office/powerpoint/2010/main" val="5244017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 Devore</a:t>
            </a:r>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79</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7391138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80</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27869682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81</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39183483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CE4A193-F8BB-4A03-AF96-473A89FC9C2E}" type="slidenum">
              <a:rPr lang="en-US" smtClean="0"/>
              <a:pPr>
                <a:defRPr/>
              </a:pPr>
              <a:t>82</a:t>
            </a:fld>
            <a:endParaRPr lang="en-US" dirty="0"/>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Header Placeholder 6"/>
          <p:cNvSpPr>
            <a:spLocks noGrp="1"/>
          </p:cNvSpPr>
          <p:nvPr>
            <p:ph type="hdr" sz="quarter" idx="13"/>
          </p:nvPr>
        </p:nvSpPr>
        <p:spPr/>
        <p:txBody>
          <a:bodyPr/>
          <a:lstStyle/>
          <a:p>
            <a:pPr>
              <a:defRPr/>
            </a:pPr>
            <a:endParaRPr lang="en-US"/>
          </a:p>
        </p:txBody>
      </p:sp>
    </p:spTree>
    <p:extLst>
      <p:ext uri="{BB962C8B-B14F-4D97-AF65-F5344CB8AC3E}">
        <p14:creationId xmlns:p14="http://schemas.microsoft.com/office/powerpoint/2010/main" val="411078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it-IT"/>
          </a:p>
        </p:txBody>
      </p:sp>
      <p:sp>
        <p:nvSpPr>
          <p:cNvPr id="5" name="Footer Placeholder 4"/>
          <p:cNvSpPr>
            <a:spLocks noGrp="1"/>
          </p:cNvSpPr>
          <p:nvPr>
            <p:ph type="ftr" sz="quarter" idx="11"/>
          </p:nvPr>
        </p:nvSpPr>
        <p:spPr/>
        <p:txBody>
          <a:bodyPr/>
          <a:lstStyle>
            <a:lvl1pPr>
              <a:defRPr/>
            </a:lvl1pPr>
          </a:lstStyle>
          <a:p>
            <a:pPr>
              <a:defRPr/>
            </a:pPr>
            <a:endParaRPr lang="it-IT"/>
          </a:p>
        </p:txBody>
      </p:sp>
      <p:sp>
        <p:nvSpPr>
          <p:cNvPr id="6" name="Slide Number Placeholder 5"/>
          <p:cNvSpPr>
            <a:spLocks noGrp="1"/>
          </p:cNvSpPr>
          <p:nvPr>
            <p:ph type="sldNum" sz="quarter" idx="12"/>
          </p:nvPr>
        </p:nvSpPr>
        <p:spPr/>
        <p:txBody>
          <a:bodyPr/>
          <a:lstStyle>
            <a:lvl1pPr>
              <a:defRPr/>
            </a:lvl1pPr>
          </a:lstStyle>
          <a:p>
            <a:pPr>
              <a:defRPr/>
            </a:pPr>
            <a:fld id="{38BB1F41-60E7-4879-952D-47A456CE9BB2}" type="slidenum">
              <a:rPr lang="it-IT" altLang="en-US"/>
              <a:pPr>
                <a:defRPr/>
              </a:pPr>
              <a:t>‹#›</a:t>
            </a:fld>
            <a:endParaRPr lang="it-IT" altLang="en-US"/>
          </a:p>
        </p:txBody>
      </p:sp>
    </p:spTree>
    <p:extLst>
      <p:ext uri="{BB962C8B-B14F-4D97-AF65-F5344CB8AC3E}">
        <p14:creationId xmlns:p14="http://schemas.microsoft.com/office/powerpoint/2010/main" val="3634450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it-IT"/>
          </a:p>
        </p:txBody>
      </p:sp>
      <p:sp>
        <p:nvSpPr>
          <p:cNvPr id="5" name="Footer Placeholder 4"/>
          <p:cNvSpPr>
            <a:spLocks noGrp="1"/>
          </p:cNvSpPr>
          <p:nvPr>
            <p:ph type="ftr" sz="quarter" idx="11"/>
          </p:nvPr>
        </p:nvSpPr>
        <p:spPr/>
        <p:txBody>
          <a:bodyPr/>
          <a:lstStyle>
            <a:lvl1pPr>
              <a:defRPr/>
            </a:lvl1pPr>
          </a:lstStyle>
          <a:p>
            <a:pPr>
              <a:defRPr/>
            </a:pPr>
            <a:endParaRPr lang="it-IT"/>
          </a:p>
        </p:txBody>
      </p:sp>
      <p:sp>
        <p:nvSpPr>
          <p:cNvPr id="6" name="Slide Number Placeholder 5"/>
          <p:cNvSpPr>
            <a:spLocks noGrp="1"/>
          </p:cNvSpPr>
          <p:nvPr>
            <p:ph type="sldNum" sz="quarter" idx="12"/>
          </p:nvPr>
        </p:nvSpPr>
        <p:spPr/>
        <p:txBody>
          <a:bodyPr/>
          <a:lstStyle>
            <a:lvl1pPr>
              <a:defRPr/>
            </a:lvl1pPr>
          </a:lstStyle>
          <a:p>
            <a:pPr>
              <a:defRPr/>
            </a:pPr>
            <a:fld id="{DC0D5635-7541-40DA-B0BF-E30E0D2B3316}" type="slidenum">
              <a:rPr lang="it-IT" altLang="en-US"/>
              <a:pPr>
                <a:defRPr/>
              </a:pPr>
              <a:t>‹#›</a:t>
            </a:fld>
            <a:endParaRPr lang="it-IT" altLang="en-US"/>
          </a:p>
        </p:txBody>
      </p:sp>
    </p:spTree>
    <p:extLst>
      <p:ext uri="{BB962C8B-B14F-4D97-AF65-F5344CB8AC3E}">
        <p14:creationId xmlns:p14="http://schemas.microsoft.com/office/powerpoint/2010/main" val="3600252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it-IT"/>
          </a:p>
        </p:txBody>
      </p:sp>
      <p:sp>
        <p:nvSpPr>
          <p:cNvPr id="5" name="Footer Placeholder 4"/>
          <p:cNvSpPr>
            <a:spLocks noGrp="1"/>
          </p:cNvSpPr>
          <p:nvPr>
            <p:ph type="ftr" sz="quarter" idx="11"/>
          </p:nvPr>
        </p:nvSpPr>
        <p:spPr/>
        <p:txBody>
          <a:bodyPr/>
          <a:lstStyle>
            <a:lvl1pPr>
              <a:defRPr/>
            </a:lvl1pPr>
          </a:lstStyle>
          <a:p>
            <a:pPr>
              <a:defRPr/>
            </a:pPr>
            <a:endParaRPr lang="it-IT"/>
          </a:p>
        </p:txBody>
      </p:sp>
      <p:sp>
        <p:nvSpPr>
          <p:cNvPr id="6" name="Slide Number Placeholder 5"/>
          <p:cNvSpPr>
            <a:spLocks noGrp="1"/>
          </p:cNvSpPr>
          <p:nvPr>
            <p:ph type="sldNum" sz="quarter" idx="12"/>
          </p:nvPr>
        </p:nvSpPr>
        <p:spPr/>
        <p:txBody>
          <a:bodyPr/>
          <a:lstStyle>
            <a:lvl1pPr>
              <a:defRPr/>
            </a:lvl1pPr>
          </a:lstStyle>
          <a:p>
            <a:pPr>
              <a:defRPr/>
            </a:pPr>
            <a:fld id="{424FE887-8668-479A-8169-571596C182D9}" type="slidenum">
              <a:rPr lang="it-IT" altLang="en-US"/>
              <a:pPr>
                <a:defRPr/>
              </a:pPr>
              <a:t>‹#›</a:t>
            </a:fld>
            <a:endParaRPr lang="it-IT" altLang="en-US"/>
          </a:p>
        </p:txBody>
      </p:sp>
    </p:spTree>
    <p:extLst>
      <p:ext uri="{BB962C8B-B14F-4D97-AF65-F5344CB8AC3E}">
        <p14:creationId xmlns:p14="http://schemas.microsoft.com/office/powerpoint/2010/main" val="2216523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it-IT"/>
          </a:p>
        </p:txBody>
      </p:sp>
      <p:sp>
        <p:nvSpPr>
          <p:cNvPr id="6" name="Footer Placeholder 4"/>
          <p:cNvSpPr>
            <a:spLocks noGrp="1"/>
          </p:cNvSpPr>
          <p:nvPr>
            <p:ph type="ftr" sz="quarter" idx="11"/>
          </p:nvPr>
        </p:nvSpPr>
        <p:spPr/>
        <p:txBody>
          <a:bodyPr/>
          <a:lstStyle>
            <a:lvl1pPr>
              <a:defRPr/>
            </a:lvl1pPr>
          </a:lstStyle>
          <a:p>
            <a:pPr>
              <a:defRPr/>
            </a:pPr>
            <a:endParaRPr lang="it-IT"/>
          </a:p>
        </p:txBody>
      </p:sp>
      <p:sp>
        <p:nvSpPr>
          <p:cNvPr id="7" name="Slide Number Placeholder 5"/>
          <p:cNvSpPr>
            <a:spLocks noGrp="1"/>
          </p:cNvSpPr>
          <p:nvPr>
            <p:ph type="sldNum" sz="quarter" idx="12"/>
          </p:nvPr>
        </p:nvSpPr>
        <p:spPr/>
        <p:txBody>
          <a:bodyPr/>
          <a:lstStyle>
            <a:lvl1pPr>
              <a:defRPr/>
            </a:lvl1pPr>
          </a:lstStyle>
          <a:p>
            <a:pPr>
              <a:defRPr/>
            </a:pPr>
            <a:fld id="{C6754C88-D3B7-481A-BAF6-C5FDD98844F9}" type="slidenum">
              <a:rPr lang="it-IT" altLang="en-US"/>
              <a:pPr>
                <a:defRPr/>
              </a:pPr>
              <a:t>‹#›</a:t>
            </a:fld>
            <a:endParaRPr lang="it-IT" altLang="en-US"/>
          </a:p>
        </p:txBody>
      </p:sp>
    </p:spTree>
    <p:extLst>
      <p:ext uri="{BB962C8B-B14F-4D97-AF65-F5344CB8AC3E}">
        <p14:creationId xmlns:p14="http://schemas.microsoft.com/office/powerpoint/2010/main" val="1285545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it-IT"/>
          </a:p>
        </p:txBody>
      </p:sp>
      <p:sp>
        <p:nvSpPr>
          <p:cNvPr id="8" name="Footer Placeholder 4"/>
          <p:cNvSpPr>
            <a:spLocks noGrp="1"/>
          </p:cNvSpPr>
          <p:nvPr>
            <p:ph type="ftr" sz="quarter" idx="11"/>
          </p:nvPr>
        </p:nvSpPr>
        <p:spPr/>
        <p:txBody>
          <a:bodyPr/>
          <a:lstStyle>
            <a:lvl1pPr>
              <a:defRPr/>
            </a:lvl1pPr>
          </a:lstStyle>
          <a:p>
            <a:pPr>
              <a:defRPr/>
            </a:pPr>
            <a:endParaRPr lang="it-IT"/>
          </a:p>
        </p:txBody>
      </p:sp>
      <p:sp>
        <p:nvSpPr>
          <p:cNvPr id="9" name="Slide Number Placeholder 5"/>
          <p:cNvSpPr>
            <a:spLocks noGrp="1"/>
          </p:cNvSpPr>
          <p:nvPr>
            <p:ph type="sldNum" sz="quarter" idx="12"/>
          </p:nvPr>
        </p:nvSpPr>
        <p:spPr/>
        <p:txBody>
          <a:bodyPr/>
          <a:lstStyle>
            <a:lvl1pPr>
              <a:defRPr/>
            </a:lvl1pPr>
          </a:lstStyle>
          <a:p>
            <a:pPr>
              <a:defRPr/>
            </a:pPr>
            <a:fld id="{29B6FBEF-1C46-436E-89D4-8D3F54760160}" type="slidenum">
              <a:rPr lang="it-IT" altLang="en-US"/>
              <a:pPr>
                <a:defRPr/>
              </a:pPr>
              <a:t>‹#›</a:t>
            </a:fld>
            <a:endParaRPr lang="it-IT" altLang="en-US"/>
          </a:p>
        </p:txBody>
      </p:sp>
    </p:spTree>
    <p:extLst>
      <p:ext uri="{BB962C8B-B14F-4D97-AF65-F5344CB8AC3E}">
        <p14:creationId xmlns:p14="http://schemas.microsoft.com/office/powerpoint/2010/main" val="3201467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it-IT"/>
          </a:p>
        </p:txBody>
      </p:sp>
      <p:sp>
        <p:nvSpPr>
          <p:cNvPr id="4" name="Footer Placeholder 4"/>
          <p:cNvSpPr>
            <a:spLocks noGrp="1"/>
          </p:cNvSpPr>
          <p:nvPr>
            <p:ph type="ftr" sz="quarter" idx="11"/>
          </p:nvPr>
        </p:nvSpPr>
        <p:spPr/>
        <p:txBody>
          <a:bodyPr/>
          <a:lstStyle>
            <a:lvl1pPr>
              <a:defRPr/>
            </a:lvl1pPr>
          </a:lstStyle>
          <a:p>
            <a:pPr>
              <a:defRPr/>
            </a:pPr>
            <a:endParaRPr lang="it-IT"/>
          </a:p>
        </p:txBody>
      </p:sp>
      <p:sp>
        <p:nvSpPr>
          <p:cNvPr id="5" name="Slide Number Placeholder 5"/>
          <p:cNvSpPr>
            <a:spLocks noGrp="1"/>
          </p:cNvSpPr>
          <p:nvPr>
            <p:ph type="sldNum" sz="quarter" idx="12"/>
          </p:nvPr>
        </p:nvSpPr>
        <p:spPr/>
        <p:txBody>
          <a:bodyPr/>
          <a:lstStyle>
            <a:lvl1pPr>
              <a:defRPr/>
            </a:lvl1pPr>
          </a:lstStyle>
          <a:p>
            <a:pPr>
              <a:defRPr/>
            </a:pPr>
            <a:fld id="{B79B1512-CE85-4EE1-9DDE-F97A87E124F4}" type="slidenum">
              <a:rPr lang="it-IT" altLang="en-US"/>
              <a:pPr>
                <a:defRPr/>
              </a:pPr>
              <a:t>‹#›</a:t>
            </a:fld>
            <a:endParaRPr lang="it-IT" altLang="en-US"/>
          </a:p>
        </p:txBody>
      </p:sp>
    </p:spTree>
    <p:extLst>
      <p:ext uri="{BB962C8B-B14F-4D97-AF65-F5344CB8AC3E}">
        <p14:creationId xmlns:p14="http://schemas.microsoft.com/office/powerpoint/2010/main" val="3115780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it-IT"/>
          </a:p>
        </p:txBody>
      </p:sp>
      <p:sp>
        <p:nvSpPr>
          <p:cNvPr id="3" name="Footer Placeholder 4"/>
          <p:cNvSpPr>
            <a:spLocks noGrp="1"/>
          </p:cNvSpPr>
          <p:nvPr>
            <p:ph type="ftr" sz="quarter" idx="11"/>
          </p:nvPr>
        </p:nvSpPr>
        <p:spPr/>
        <p:txBody>
          <a:bodyPr/>
          <a:lstStyle>
            <a:lvl1pPr>
              <a:defRPr/>
            </a:lvl1pPr>
          </a:lstStyle>
          <a:p>
            <a:pPr>
              <a:defRPr/>
            </a:pPr>
            <a:endParaRPr lang="it-IT"/>
          </a:p>
        </p:txBody>
      </p:sp>
      <p:sp>
        <p:nvSpPr>
          <p:cNvPr id="4" name="Slide Number Placeholder 5"/>
          <p:cNvSpPr>
            <a:spLocks noGrp="1"/>
          </p:cNvSpPr>
          <p:nvPr>
            <p:ph type="sldNum" sz="quarter" idx="12"/>
          </p:nvPr>
        </p:nvSpPr>
        <p:spPr/>
        <p:txBody>
          <a:bodyPr/>
          <a:lstStyle>
            <a:lvl1pPr>
              <a:defRPr/>
            </a:lvl1pPr>
          </a:lstStyle>
          <a:p>
            <a:pPr>
              <a:defRPr/>
            </a:pPr>
            <a:fld id="{7BBDA6E3-2C27-44DD-BBE3-2A158B2A87E9}" type="slidenum">
              <a:rPr lang="it-IT" altLang="en-US"/>
              <a:pPr>
                <a:defRPr/>
              </a:pPr>
              <a:t>‹#›</a:t>
            </a:fld>
            <a:endParaRPr lang="it-IT" altLang="en-US"/>
          </a:p>
        </p:txBody>
      </p:sp>
    </p:spTree>
    <p:extLst>
      <p:ext uri="{BB962C8B-B14F-4D97-AF65-F5344CB8AC3E}">
        <p14:creationId xmlns:p14="http://schemas.microsoft.com/office/powerpoint/2010/main" val="1731341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it-IT"/>
          </a:p>
        </p:txBody>
      </p:sp>
      <p:sp>
        <p:nvSpPr>
          <p:cNvPr id="6" name="Footer Placeholder 4"/>
          <p:cNvSpPr>
            <a:spLocks noGrp="1"/>
          </p:cNvSpPr>
          <p:nvPr>
            <p:ph type="ftr" sz="quarter" idx="11"/>
          </p:nvPr>
        </p:nvSpPr>
        <p:spPr/>
        <p:txBody>
          <a:bodyPr/>
          <a:lstStyle>
            <a:lvl1pPr>
              <a:defRPr/>
            </a:lvl1pPr>
          </a:lstStyle>
          <a:p>
            <a:pPr>
              <a:defRPr/>
            </a:pPr>
            <a:endParaRPr lang="it-IT"/>
          </a:p>
        </p:txBody>
      </p:sp>
      <p:sp>
        <p:nvSpPr>
          <p:cNvPr id="7" name="Slide Number Placeholder 5"/>
          <p:cNvSpPr>
            <a:spLocks noGrp="1"/>
          </p:cNvSpPr>
          <p:nvPr>
            <p:ph type="sldNum" sz="quarter" idx="12"/>
          </p:nvPr>
        </p:nvSpPr>
        <p:spPr/>
        <p:txBody>
          <a:bodyPr/>
          <a:lstStyle>
            <a:lvl1pPr>
              <a:defRPr/>
            </a:lvl1pPr>
          </a:lstStyle>
          <a:p>
            <a:pPr>
              <a:defRPr/>
            </a:pPr>
            <a:fld id="{74DEDD3F-A29B-4814-B4DB-0ACC52C4798D}" type="slidenum">
              <a:rPr lang="it-IT" altLang="en-US"/>
              <a:pPr>
                <a:defRPr/>
              </a:pPr>
              <a:t>‹#›</a:t>
            </a:fld>
            <a:endParaRPr lang="it-IT" altLang="en-US"/>
          </a:p>
        </p:txBody>
      </p:sp>
    </p:spTree>
    <p:extLst>
      <p:ext uri="{BB962C8B-B14F-4D97-AF65-F5344CB8AC3E}">
        <p14:creationId xmlns:p14="http://schemas.microsoft.com/office/powerpoint/2010/main" val="1618065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it-IT"/>
          </a:p>
        </p:txBody>
      </p:sp>
      <p:sp>
        <p:nvSpPr>
          <p:cNvPr id="6" name="Footer Placeholder 4"/>
          <p:cNvSpPr>
            <a:spLocks noGrp="1"/>
          </p:cNvSpPr>
          <p:nvPr>
            <p:ph type="ftr" sz="quarter" idx="11"/>
          </p:nvPr>
        </p:nvSpPr>
        <p:spPr/>
        <p:txBody>
          <a:bodyPr/>
          <a:lstStyle>
            <a:lvl1pPr>
              <a:defRPr/>
            </a:lvl1pPr>
          </a:lstStyle>
          <a:p>
            <a:pPr>
              <a:defRPr/>
            </a:pPr>
            <a:endParaRPr lang="it-IT"/>
          </a:p>
        </p:txBody>
      </p:sp>
      <p:sp>
        <p:nvSpPr>
          <p:cNvPr id="7" name="Slide Number Placeholder 5"/>
          <p:cNvSpPr>
            <a:spLocks noGrp="1"/>
          </p:cNvSpPr>
          <p:nvPr>
            <p:ph type="sldNum" sz="quarter" idx="12"/>
          </p:nvPr>
        </p:nvSpPr>
        <p:spPr/>
        <p:txBody>
          <a:bodyPr/>
          <a:lstStyle>
            <a:lvl1pPr>
              <a:defRPr/>
            </a:lvl1pPr>
          </a:lstStyle>
          <a:p>
            <a:pPr>
              <a:defRPr/>
            </a:pPr>
            <a:fld id="{BD7D9CF8-E951-47DB-9D1A-D64A6BBB03C0}" type="slidenum">
              <a:rPr lang="it-IT" altLang="en-US"/>
              <a:pPr>
                <a:defRPr/>
              </a:pPr>
              <a:t>‹#›</a:t>
            </a:fld>
            <a:endParaRPr lang="it-IT" altLang="en-US"/>
          </a:p>
        </p:txBody>
      </p:sp>
    </p:spTree>
    <p:extLst>
      <p:ext uri="{BB962C8B-B14F-4D97-AF65-F5344CB8AC3E}">
        <p14:creationId xmlns:p14="http://schemas.microsoft.com/office/powerpoint/2010/main" val="81392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it-IT"/>
          </a:p>
        </p:txBody>
      </p:sp>
      <p:sp>
        <p:nvSpPr>
          <p:cNvPr id="5" name="Footer Placeholder 4"/>
          <p:cNvSpPr>
            <a:spLocks noGrp="1"/>
          </p:cNvSpPr>
          <p:nvPr>
            <p:ph type="ftr" sz="quarter" idx="11"/>
          </p:nvPr>
        </p:nvSpPr>
        <p:spPr/>
        <p:txBody>
          <a:bodyPr/>
          <a:lstStyle>
            <a:lvl1pPr>
              <a:defRPr/>
            </a:lvl1pPr>
          </a:lstStyle>
          <a:p>
            <a:pPr>
              <a:defRPr/>
            </a:pPr>
            <a:endParaRPr lang="it-IT"/>
          </a:p>
        </p:txBody>
      </p:sp>
      <p:sp>
        <p:nvSpPr>
          <p:cNvPr id="6" name="Slide Number Placeholder 5"/>
          <p:cNvSpPr>
            <a:spLocks noGrp="1"/>
          </p:cNvSpPr>
          <p:nvPr>
            <p:ph type="sldNum" sz="quarter" idx="12"/>
          </p:nvPr>
        </p:nvSpPr>
        <p:spPr/>
        <p:txBody>
          <a:bodyPr/>
          <a:lstStyle>
            <a:lvl1pPr>
              <a:defRPr/>
            </a:lvl1pPr>
          </a:lstStyle>
          <a:p>
            <a:pPr>
              <a:defRPr/>
            </a:pPr>
            <a:fld id="{2C3E7220-D2C1-4ECE-A8BE-D89D48B44FBE}" type="slidenum">
              <a:rPr lang="it-IT" altLang="en-US"/>
              <a:pPr>
                <a:defRPr/>
              </a:pPr>
              <a:t>‹#›</a:t>
            </a:fld>
            <a:endParaRPr lang="it-IT" altLang="en-US"/>
          </a:p>
        </p:txBody>
      </p:sp>
    </p:spTree>
    <p:extLst>
      <p:ext uri="{BB962C8B-B14F-4D97-AF65-F5344CB8AC3E}">
        <p14:creationId xmlns:p14="http://schemas.microsoft.com/office/powerpoint/2010/main" val="158008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it-IT"/>
          </a:p>
        </p:txBody>
      </p:sp>
      <p:sp>
        <p:nvSpPr>
          <p:cNvPr id="5" name="Footer Placeholder 4"/>
          <p:cNvSpPr>
            <a:spLocks noGrp="1"/>
          </p:cNvSpPr>
          <p:nvPr>
            <p:ph type="ftr" sz="quarter" idx="11"/>
          </p:nvPr>
        </p:nvSpPr>
        <p:spPr/>
        <p:txBody>
          <a:bodyPr/>
          <a:lstStyle>
            <a:lvl1pPr>
              <a:defRPr/>
            </a:lvl1pPr>
          </a:lstStyle>
          <a:p>
            <a:pPr>
              <a:defRPr/>
            </a:pPr>
            <a:endParaRPr lang="it-IT"/>
          </a:p>
        </p:txBody>
      </p:sp>
      <p:sp>
        <p:nvSpPr>
          <p:cNvPr id="6" name="Slide Number Placeholder 5"/>
          <p:cNvSpPr>
            <a:spLocks noGrp="1"/>
          </p:cNvSpPr>
          <p:nvPr>
            <p:ph type="sldNum" sz="quarter" idx="12"/>
          </p:nvPr>
        </p:nvSpPr>
        <p:spPr/>
        <p:txBody>
          <a:bodyPr/>
          <a:lstStyle>
            <a:lvl1pPr>
              <a:defRPr/>
            </a:lvl1pPr>
          </a:lstStyle>
          <a:p>
            <a:pPr>
              <a:defRPr/>
            </a:pPr>
            <a:fld id="{7AFE7AB4-A74B-4C3D-8419-C9B153B06FF5}" type="slidenum">
              <a:rPr lang="it-IT" altLang="en-US"/>
              <a:pPr>
                <a:defRPr/>
              </a:pPr>
              <a:t>‹#›</a:t>
            </a:fld>
            <a:endParaRPr lang="it-IT" altLang="en-US"/>
          </a:p>
        </p:txBody>
      </p:sp>
    </p:spTree>
    <p:extLst>
      <p:ext uri="{BB962C8B-B14F-4D97-AF65-F5344CB8AC3E}">
        <p14:creationId xmlns:p14="http://schemas.microsoft.com/office/powerpoint/2010/main" val="3583014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endParaRPr lang="it-IT"/>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it-IT"/>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60A85F84-36B0-4C29-93BF-4C48D7135E72}" type="slidenum">
              <a:rPr lang="it-IT" altLang="en-US"/>
              <a:pPr>
                <a:defRPr/>
              </a:pPr>
              <a:t>‹#›</a:t>
            </a:fld>
            <a:endParaRPr lang="it-IT" altLang="en-US"/>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washingtonpost.com/national/health-science/annual-physical-exam-is-probably-unnecessary-if-youre-generally-healthy/2013/02/08/2c1e326a-5f2b-11e2-a389-ee565c81c565_story.html"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en-US" sz="6600"/>
              <a:t>Probability</a:t>
            </a:r>
            <a:br>
              <a:rPr lang="en-US" altLang="en-US" sz="6600"/>
            </a:br>
            <a:endParaRPr lang="en-US" altLang="en-US" sz="6300"/>
          </a:p>
        </p:txBody>
      </p:sp>
      <p:sp>
        <p:nvSpPr>
          <p:cNvPr id="6147" name="Rectangle 3"/>
          <p:cNvSpPr>
            <a:spLocks noGrp="1" noChangeArrowheads="1"/>
          </p:cNvSpPr>
          <p:nvPr>
            <p:ph type="subTitle" idx="1"/>
          </p:nvPr>
        </p:nvSpPr>
        <p:spPr/>
        <p:txBody>
          <a:bodyPr/>
          <a:lstStyle/>
          <a:p>
            <a:pPr eaLnBrk="1" hangingPunct="1">
              <a:defRPr/>
            </a:pPr>
            <a:r>
              <a:rPr lang="en-US" altLang="en-US" sz="4800" dirty="0"/>
              <a:t>Chapter 2</a:t>
            </a:r>
          </a:p>
          <a:p>
            <a:pPr eaLnBrk="1" hangingPunct="1">
              <a:buFont typeface="Wingdings 3" panose="05040102010807070707" pitchFamily="18" charset="2"/>
              <a:buNone/>
              <a:defRPr/>
            </a:pPr>
            <a:endParaRPr lang="en-US" altLang="en-US" sz="4700" dirty="0"/>
          </a:p>
        </p:txBody>
      </p:sp>
      <p:sp>
        <p:nvSpPr>
          <p:cNvPr id="3076" name="Rectangle 1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F6996E1-5CF3-4129-A12F-7A6416426AED}" type="slidenum">
              <a:rPr lang="it-IT" altLang="en-US" sz="1200">
                <a:solidFill>
                  <a:schemeClr val="bg2"/>
                </a:solidFill>
                <a:latin typeface="Tahoma" panose="020B0604030504040204" pitchFamily="34" charset="0"/>
              </a:rPr>
              <a:pPr>
                <a:spcBef>
                  <a:spcPct val="0"/>
                </a:spcBef>
                <a:buFontTx/>
                <a:buNone/>
              </a:pPr>
              <a:t>1</a:t>
            </a:fld>
            <a:endParaRPr lang="it-IT" altLang="en-US" sz="1200">
              <a:solidFill>
                <a:schemeClr val="bg2"/>
              </a:solidFill>
              <a:latin typeface="Tahoma" panose="020B0604030504040204" pitchFamily="34" charset="0"/>
            </a:endParaRPr>
          </a:p>
        </p:txBody>
      </p:sp>
      <p:sp>
        <p:nvSpPr>
          <p:cNvPr id="2" name="Date Placeholder 1"/>
          <p:cNvSpPr>
            <a:spLocks noGrp="1"/>
          </p:cNvSpPr>
          <p:nvPr>
            <p:ph type="dt" sz="half" idx="10"/>
          </p:nvPr>
        </p:nvSpPr>
        <p:spPr/>
        <p:txBody>
          <a:bodyPr/>
          <a:lstStyle/>
          <a:p>
            <a:pPr>
              <a:defRPr/>
            </a:pPr>
            <a:endParaRPr lang="it-IT"/>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z="3600" dirty="0"/>
              <a:t>Learning Objectives</a:t>
            </a:r>
          </a:p>
        </p:txBody>
      </p:sp>
      <p:sp>
        <p:nvSpPr>
          <p:cNvPr id="3" name="Content Placeholder 2"/>
          <p:cNvSpPr>
            <a:spLocks noGrp="1"/>
          </p:cNvSpPr>
          <p:nvPr>
            <p:ph idx="1"/>
          </p:nvPr>
        </p:nvSpPr>
        <p:spPr>
          <a:xfrm>
            <a:off x="1828800" y="1260476"/>
            <a:ext cx="8229600" cy="5059363"/>
          </a:xfrm>
        </p:spPr>
        <p:txBody>
          <a:bodyPr/>
          <a:lstStyle/>
          <a:p>
            <a:pPr>
              <a:defRPr/>
            </a:pPr>
            <a:r>
              <a:rPr lang="en-US" dirty="0"/>
              <a:t>Sample Space</a:t>
            </a:r>
          </a:p>
          <a:p>
            <a:pPr>
              <a:defRPr/>
            </a:pPr>
            <a:r>
              <a:rPr lang="en-US" dirty="0"/>
              <a:t>Events</a:t>
            </a:r>
          </a:p>
          <a:p>
            <a:pPr>
              <a:defRPr/>
            </a:pPr>
            <a:r>
              <a:rPr lang="en-US" dirty="0">
                <a:solidFill>
                  <a:schemeClr val="bg1">
                    <a:lumMod val="65000"/>
                  </a:schemeClr>
                </a:solidFill>
              </a:rPr>
              <a:t>Counting Sample Points</a:t>
            </a:r>
          </a:p>
          <a:p>
            <a:pPr>
              <a:defRPr/>
            </a:pPr>
            <a:r>
              <a:rPr lang="en-US" dirty="0">
                <a:solidFill>
                  <a:schemeClr val="bg1">
                    <a:lumMod val="65000"/>
                  </a:schemeClr>
                </a:solidFill>
              </a:rPr>
              <a:t>Probability of an Event</a:t>
            </a:r>
          </a:p>
          <a:p>
            <a:pPr>
              <a:defRPr/>
            </a:pPr>
            <a:r>
              <a:rPr lang="en-US" dirty="0">
                <a:solidFill>
                  <a:schemeClr val="bg1">
                    <a:lumMod val="65000"/>
                  </a:schemeClr>
                </a:solidFill>
              </a:rPr>
              <a:t>Additive Rules</a:t>
            </a:r>
          </a:p>
          <a:p>
            <a:pPr>
              <a:defRPr/>
            </a:pPr>
            <a:r>
              <a:rPr lang="en-US" altLang="en-US" dirty="0">
                <a:solidFill>
                  <a:schemeClr val="bg1">
                    <a:lumMod val="65000"/>
                  </a:schemeClr>
                </a:solidFill>
              </a:rPr>
              <a:t>Conditional Probability, Independence, and the Product Rule</a:t>
            </a:r>
          </a:p>
          <a:p>
            <a:pPr>
              <a:defRPr/>
            </a:pPr>
            <a:r>
              <a:rPr lang="en-US" altLang="en-US" dirty="0">
                <a:solidFill>
                  <a:schemeClr val="bg1">
                    <a:lumMod val="65000"/>
                  </a:schemeClr>
                </a:solidFill>
              </a:rPr>
              <a:t>Bayes’ Rule</a:t>
            </a:r>
          </a:p>
          <a:p>
            <a:pPr marL="0" indent="0">
              <a:buNone/>
              <a:defRPr/>
            </a:pPr>
            <a:endParaRPr lang="en-US" altLang="en-US" dirty="0">
              <a:solidFill>
                <a:srgbClr val="191718"/>
              </a:solidFill>
            </a:endParaRPr>
          </a:p>
          <a:p>
            <a:pPr>
              <a:defRPr/>
            </a:pPr>
            <a:endParaRPr lang="en-US" dirty="0"/>
          </a:p>
        </p:txBody>
      </p:sp>
      <p:sp>
        <p:nvSpPr>
          <p:cNvPr id="51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9ECFC72-9084-4A55-B995-B8D8E6B9D48D}" type="slidenum">
              <a:rPr lang="it-IT" altLang="en-US" sz="1200">
                <a:solidFill>
                  <a:srgbClr val="898989"/>
                </a:solidFill>
                <a:latin typeface="Arial" panose="020B0604020202020204" pitchFamily="34" charset="0"/>
              </a:rPr>
              <a:pPr>
                <a:spcBef>
                  <a:spcPct val="0"/>
                </a:spcBef>
                <a:buFontTx/>
                <a:buNone/>
              </a:pPr>
              <a:t>2</a:t>
            </a:fld>
            <a:endParaRPr lang="it-IT" altLang="en-US" sz="1200">
              <a:solidFill>
                <a:srgbClr val="898989"/>
              </a:solidFill>
              <a:latin typeface="Arial" panose="020B0604020202020204" pitchFamily="34" charset="0"/>
            </a:endParaRPr>
          </a:p>
        </p:txBody>
      </p:sp>
      <p:sp>
        <p:nvSpPr>
          <p:cNvPr id="2" name="Date Placeholder 1"/>
          <p:cNvSpPr>
            <a:spLocks noGrp="1"/>
          </p:cNvSpPr>
          <p:nvPr>
            <p:ph type="dt" sz="half" idx="10"/>
          </p:nvPr>
        </p:nvSpPr>
        <p:spPr/>
        <p:txBody>
          <a:bodyPr/>
          <a:lstStyle/>
          <a:p>
            <a:pPr>
              <a:defRPr/>
            </a:pPr>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133600" y="355600"/>
            <a:ext cx="7010400" cy="838200"/>
          </a:xfrm>
        </p:spPr>
        <p:txBody>
          <a:bodyPr/>
          <a:lstStyle/>
          <a:p>
            <a:pPr eaLnBrk="1" hangingPunct="1"/>
            <a:r>
              <a:rPr lang="en-US" altLang="en-US" sz="3600"/>
              <a:t>Definitions</a:t>
            </a:r>
            <a:endParaRPr lang="en-US" altLang="en-US" sz="3600" u="sng">
              <a:latin typeface="Helv" charset="0"/>
            </a:endParaRPr>
          </a:p>
        </p:txBody>
      </p:sp>
      <p:sp>
        <p:nvSpPr>
          <p:cNvPr id="614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9706E62-D3EF-4DBA-9556-AEE768FEFA14}" type="slidenum">
              <a:rPr lang="it-IT" altLang="en-US" sz="1200">
                <a:latin typeface="Tahoma" panose="020B0604030504040204" pitchFamily="34" charset="0"/>
              </a:rPr>
              <a:pPr>
                <a:spcBef>
                  <a:spcPct val="0"/>
                </a:spcBef>
                <a:buFontTx/>
                <a:buNone/>
              </a:pPr>
              <a:t>3</a:t>
            </a:fld>
            <a:endParaRPr lang="it-IT" altLang="en-US" sz="1200">
              <a:latin typeface="Tahoma" panose="020B0604030504040204" pitchFamily="34" charset="0"/>
            </a:endParaRPr>
          </a:p>
        </p:txBody>
      </p:sp>
      <p:sp>
        <p:nvSpPr>
          <p:cNvPr id="7172" name="Text Box 3"/>
          <p:cNvSpPr txBox="1">
            <a:spLocks noChangeArrowheads="1"/>
          </p:cNvSpPr>
          <p:nvPr/>
        </p:nvSpPr>
        <p:spPr bwMode="auto">
          <a:xfrm>
            <a:off x="1905000" y="1193800"/>
            <a:ext cx="8305800"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buFont typeface="Arial" panose="020B0604020202020204" pitchFamily="34" charset="0"/>
              <a:buChar char="•"/>
              <a:defRPr/>
            </a:pPr>
            <a:r>
              <a:rPr lang="en-US" altLang="en-US" sz="2800" dirty="0">
                <a:latin typeface="+mn-lt"/>
                <a:cs typeface="Tahoma" panose="020B0604030504040204" pitchFamily="34" charset="0"/>
              </a:rPr>
              <a:t>Probability refers to the study of </a:t>
            </a:r>
            <a:r>
              <a:rPr lang="en-US" altLang="en-US" sz="2800" i="1" dirty="0">
                <a:latin typeface="+mn-lt"/>
                <a:cs typeface="Tahoma" panose="020B0604030504040204" pitchFamily="34" charset="0"/>
              </a:rPr>
              <a:t>randomness</a:t>
            </a:r>
            <a:r>
              <a:rPr lang="en-US" altLang="en-US" sz="2800" dirty="0">
                <a:latin typeface="+mn-lt"/>
                <a:cs typeface="Tahoma" panose="020B0604030504040204" pitchFamily="34" charset="0"/>
              </a:rPr>
              <a:t> and </a:t>
            </a:r>
            <a:r>
              <a:rPr lang="en-US" altLang="en-US" sz="2800" i="1" dirty="0">
                <a:latin typeface="+mn-lt"/>
                <a:cs typeface="Tahoma" panose="020B0604030504040204" pitchFamily="34" charset="0"/>
              </a:rPr>
              <a:t>uncertainty</a:t>
            </a:r>
            <a:r>
              <a:rPr lang="en-US" altLang="en-US" sz="2800" dirty="0">
                <a:latin typeface="+mn-lt"/>
                <a:cs typeface="Tahoma" panose="020B0604030504040204" pitchFamily="34" charset="0"/>
              </a:rPr>
              <a:t>.  </a:t>
            </a:r>
          </a:p>
          <a:p>
            <a:pPr marL="342900" indent="-342900" eaLnBrk="1" hangingPunct="1">
              <a:buFont typeface="Arial" panose="020B0604020202020204" pitchFamily="34" charset="0"/>
              <a:buChar char="•"/>
              <a:defRPr/>
            </a:pPr>
            <a:endParaRPr lang="en-US" altLang="en-US" sz="2800" dirty="0">
              <a:latin typeface="+mn-lt"/>
              <a:cs typeface="Tahoma" panose="020B0604030504040204" pitchFamily="34" charset="0"/>
            </a:endParaRPr>
          </a:p>
          <a:p>
            <a:pPr marL="342900" indent="-342900" eaLnBrk="1" hangingPunct="1">
              <a:buFont typeface="Arial" panose="020B0604020202020204" pitchFamily="34" charset="0"/>
              <a:buChar char="•"/>
              <a:defRPr/>
            </a:pPr>
            <a:r>
              <a:rPr lang="en-US" altLang="en-US" sz="2800" dirty="0">
                <a:latin typeface="+mn-lt"/>
                <a:cs typeface="Tahoma" panose="020B0604030504040204" pitchFamily="34" charset="0"/>
              </a:rPr>
              <a:t>Probability theory provides a basis with which we can make inferences about a population based on its distribution and it provides methods for quantifying the chances, or likelihoods, associated with various outcomes. </a:t>
            </a:r>
          </a:p>
          <a:p>
            <a:pPr marL="342900" indent="-342900" eaLnBrk="1" hangingPunct="1">
              <a:buFont typeface="Arial" panose="020B0604020202020204" pitchFamily="34" charset="0"/>
              <a:buChar char="•"/>
              <a:defRPr/>
            </a:pPr>
            <a:endParaRPr lang="en-US" altLang="en-US" sz="2800" dirty="0">
              <a:latin typeface="+mn-lt"/>
              <a:cs typeface="Tahoma" panose="020B0604030504040204" pitchFamily="34" charset="0"/>
            </a:endParaRPr>
          </a:p>
          <a:p>
            <a:pPr marL="342900" indent="-342900" eaLnBrk="1" hangingPunct="1">
              <a:buFont typeface="Arial" panose="020B0604020202020204" pitchFamily="34" charset="0"/>
              <a:buChar char="•"/>
              <a:defRPr/>
            </a:pPr>
            <a:r>
              <a:rPr lang="en-US" altLang="en-US" sz="2800" dirty="0">
                <a:latin typeface="+mn-lt"/>
                <a:cs typeface="Tahoma" panose="020B0604030504040204" pitchFamily="34" charset="0"/>
              </a:rPr>
              <a:t>Probability also helps to explain a lot of everyday occurrences and we actually discuss it frequently.  </a:t>
            </a:r>
            <a:endParaRPr lang="en-US" altLang="en-US" sz="2000" dirty="0">
              <a:latin typeface="Times New Roman" panose="02020603050405020304" pitchFamily="18" charset="0"/>
            </a:endParaRPr>
          </a:p>
          <a:p>
            <a:pPr eaLnBrk="1" hangingPunct="1">
              <a:defRPr/>
            </a:pPr>
            <a:endParaRPr lang="en-US" altLang="en-US" sz="2000" dirty="0">
              <a:latin typeface="Times New Roman" panose="02020603050405020304" pitchFamily="18" charset="0"/>
            </a:endParaRPr>
          </a:p>
          <a:p>
            <a:pPr eaLnBrk="1" hangingPunct="1">
              <a:defRPr/>
            </a:pPr>
            <a:endParaRPr lang="en-US" altLang="en-US" sz="2000" dirty="0">
              <a:latin typeface="Times New Roman" panose="02020603050405020304" pitchFamily="18" charset="0"/>
            </a:endParaRPr>
          </a:p>
        </p:txBody>
      </p:sp>
      <p:sp>
        <p:nvSpPr>
          <p:cNvPr id="2" name="Date Placeholder 1"/>
          <p:cNvSpPr>
            <a:spLocks noGrp="1"/>
          </p:cNvSpPr>
          <p:nvPr>
            <p:ph type="dt" sz="half" idx="10"/>
          </p:nvPr>
        </p:nvSpPr>
        <p:spPr/>
        <p:txBody>
          <a:bodyPr/>
          <a:lstStyle/>
          <a:p>
            <a:pPr>
              <a:defRPr/>
            </a:pPr>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720975" y="290514"/>
            <a:ext cx="6292850" cy="822325"/>
          </a:xfrm>
        </p:spPr>
        <p:txBody>
          <a:bodyPr/>
          <a:lstStyle/>
          <a:p>
            <a:pPr eaLnBrk="1" hangingPunct="1"/>
            <a:r>
              <a:rPr lang="en-US" altLang="en-US" sz="3600" dirty="0"/>
              <a:t>Definitions</a:t>
            </a:r>
          </a:p>
        </p:txBody>
      </p:sp>
      <p:sp>
        <p:nvSpPr>
          <p:cNvPr id="819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2724BE3-05B2-4283-9598-C02851A1BB66}" type="slidenum">
              <a:rPr lang="it-IT" altLang="en-US" sz="1200">
                <a:solidFill>
                  <a:schemeClr val="tx2"/>
                </a:solidFill>
                <a:latin typeface="Arial" panose="020B0604020202020204" pitchFamily="34" charset="0"/>
              </a:rPr>
              <a:pPr>
                <a:spcBef>
                  <a:spcPct val="0"/>
                </a:spcBef>
                <a:buFontTx/>
                <a:buNone/>
              </a:pPr>
              <a:t>4</a:t>
            </a:fld>
            <a:endParaRPr lang="it-IT" altLang="en-US" sz="1200">
              <a:solidFill>
                <a:schemeClr val="tx2"/>
              </a:solidFill>
              <a:latin typeface="Arial" panose="020B0604020202020204" pitchFamily="34" charset="0"/>
            </a:endParaRPr>
          </a:p>
        </p:txBody>
      </p:sp>
      <p:sp>
        <p:nvSpPr>
          <p:cNvPr id="8196" name="Text Box 3"/>
          <p:cNvSpPr txBox="1">
            <a:spLocks noChangeArrowheads="1"/>
          </p:cNvSpPr>
          <p:nvPr/>
        </p:nvSpPr>
        <p:spPr bwMode="auto">
          <a:xfrm>
            <a:off x="1752600" y="1143000"/>
            <a:ext cx="8458200"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54075" indent="-8540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2800" b="1" dirty="0">
                <a:latin typeface="+mn-lt"/>
                <a:cs typeface="Tahoma" panose="020B0604030504040204" pitchFamily="34" charset="0"/>
              </a:rPr>
              <a:t>Random Process - </a:t>
            </a:r>
            <a:r>
              <a:rPr lang="en-US" altLang="en-US" sz="2800" dirty="0">
                <a:latin typeface="+mn-lt"/>
                <a:cs typeface="Tahoma" panose="020B0604030504040204" pitchFamily="34" charset="0"/>
              </a:rPr>
              <a:t>Any process whose possible results are known but whose </a:t>
            </a:r>
            <a:r>
              <a:rPr lang="en-US" altLang="en-US" sz="2800" i="1" dirty="0">
                <a:latin typeface="+mn-lt"/>
                <a:cs typeface="Tahoma" panose="020B0604030504040204" pitchFamily="34" charset="0"/>
              </a:rPr>
              <a:t>actual</a:t>
            </a:r>
            <a:r>
              <a:rPr lang="en-US" altLang="en-US" sz="2800" dirty="0">
                <a:latin typeface="+mn-lt"/>
                <a:cs typeface="Tahoma" panose="020B0604030504040204" pitchFamily="34" charset="0"/>
              </a:rPr>
              <a:t> results cannot be predicted with certainty in advance.</a:t>
            </a:r>
          </a:p>
          <a:p>
            <a:pPr eaLnBrk="1" hangingPunct="1">
              <a:defRPr/>
            </a:pPr>
            <a:r>
              <a:rPr lang="en-US" altLang="en-US" sz="2800" dirty="0">
                <a:latin typeface="+mn-lt"/>
                <a:cs typeface="Tahoma" panose="020B0604030504040204" pitchFamily="34" charset="0"/>
              </a:rPr>
              <a:t> </a:t>
            </a:r>
          </a:p>
          <a:p>
            <a:pPr eaLnBrk="1" hangingPunct="1">
              <a:defRPr/>
            </a:pPr>
            <a:r>
              <a:rPr lang="en-US" altLang="en-US" sz="2800" b="1" dirty="0">
                <a:latin typeface="+mn-lt"/>
                <a:cs typeface="Tahoma" panose="020B0604030504040204" pitchFamily="34" charset="0"/>
              </a:rPr>
              <a:t>Outcome</a:t>
            </a:r>
            <a:r>
              <a:rPr lang="en-US" altLang="en-US" sz="2800" dirty="0">
                <a:latin typeface="+mn-lt"/>
                <a:cs typeface="Tahoma" panose="020B0604030504040204" pitchFamily="34" charset="0"/>
              </a:rPr>
              <a:t> - Each possible result for a random process. </a:t>
            </a:r>
          </a:p>
          <a:p>
            <a:pPr eaLnBrk="1" hangingPunct="1">
              <a:defRPr/>
            </a:pPr>
            <a:endParaRPr lang="en-US" altLang="en-US" sz="2800" b="1" dirty="0">
              <a:latin typeface="+mn-lt"/>
              <a:cs typeface="Tahoma" panose="020B0604030504040204" pitchFamily="34" charset="0"/>
            </a:endParaRPr>
          </a:p>
          <a:p>
            <a:pPr eaLnBrk="1" hangingPunct="1">
              <a:defRPr/>
            </a:pPr>
            <a:r>
              <a:rPr lang="en-US" altLang="en-US" sz="2800" b="1" dirty="0">
                <a:latin typeface="+mn-lt"/>
                <a:cs typeface="Tahoma" panose="020B0604030504040204" pitchFamily="34" charset="0"/>
              </a:rPr>
              <a:t>Experiment</a:t>
            </a:r>
            <a:r>
              <a:rPr lang="en-US" altLang="en-US" sz="2800" dirty="0">
                <a:latin typeface="+mn-lt"/>
                <a:cs typeface="Tahoma" panose="020B0604030504040204" pitchFamily="34" charset="0"/>
              </a:rPr>
              <a:t> – any process that generates the set of data.</a:t>
            </a:r>
          </a:p>
          <a:p>
            <a:pPr eaLnBrk="1" hangingPunct="1">
              <a:defRPr/>
            </a:pPr>
            <a:endParaRPr lang="en-US" altLang="en-US" sz="2800" b="1" dirty="0">
              <a:latin typeface="+mn-lt"/>
              <a:cs typeface="Tahoma" panose="020B0604030504040204" pitchFamily="34" charset="0"/>
            </a:endParaRPr>
          </a:p>
          <a:p>
            <a:pPr eaLnBrk="1" hangingPunct="1">
              <a:defRPr/>
            </a:pPr>
            <a:r>
              <a:rPr lang="en-US" altLang="en-US" sz="2800" b="1" dirty="0">
                <a:latin typeface="+mn-lt"/>
                <a:cs typeface="Tahoma" panose="020B0604030504040204" pitchFamily="34" charset="0"/>
              </a:rPr>
              <a:t>Sample space</a:t>
            </a:r>
            <a:r>
              <a:rPr lang="en-US" altLang="en-US" sz="2800" dirty="0">
                <a:latin typeface="+mn-lt"/>
                <a:cs typeface="Tahoma" panose="020B0604030504040204" pitchFamily="34" charset="0"/>
              </a:rPr>
              <a:t> - the set of all possible outcomes of a statistical experiment is called the </a:t>
            </a:r>
            <a:r>
              <a:rPr lang="en-US" altLang="en-US" sz="2800" b="1" dirty="0">
                <a:latin typeface="+mn-lt"/>
                <a:cs typeface="Tahoma" panose="020B0604030504040204" pitchFamily="34" charset="0"/>
              </a:rPr>
              <a:t>sample space </a:t>
            </a:r>
            <a:r>
              <a:rPr lang="en-US" altLang="en-US" sz="2800" dirty="0">
                <a:latin typeface="+mn-lt"/>
                <a:cs typeface="Tahoma" panose="020B0604030504040204" pitchFamily="34" charset="0"/>
              </a:rPr>
              <a:t>and is represented by the symbol </a:t>
            </a:r>
            <a:r>
              <a:rPr lang="en-US" altLang="en-US" sz="2800" i="1" dirty="0">
                <a:latin typeface="+mn-lt"/>
                <a:cs typeface="Tahoma" panose="020B0604030504040204" pitchFamily="34" charset="0"/>
              </a:rPr>
              <a:t>S. </a:t>
            </a:r>
          </a:p>
          <a:p>
            <a:pPr eaLnBrk="1" hangingPunct="1">
              <a:defRPr/>
            </a:pPr>
            <a:endParaRPr lang="en-US" altLang="en-US" sz="2800" i="1" dirty="0">
              <a:latin typeface="+mn-lt"/>
              <a:cs typeface="Tahoma" panose="020B0604030504040204" pitchFamily="34" charset="0"/>
            </a:endParaRPr>
          </a:p>
          <a:p>
            <a:pPr eaLnBrk="1" hangingPunct="1">
              <a:defRPr/>
            </a:pPr>
            <a:endParaRPr lang="en-US" altLang="en-US" sz="2800" i="1" dirty="0">
              <a:latin typeface="+mn-lt"/>
              <a:cs typeface="Tahoma" panose="020B0604030504040204" pitchFamily="34" charset="0"/>
            </a:endParaRPr>
          </a:p>
        </p:txBody>
      </p:sp>
      <p:sp>
        <p:nvSpPr>
          <p:cNvPr id="2" name="Date Placeholder 1"/>
          <p:cNvSpPr>
            <a:spLocks noGrp="1"/>
          </p:cNvSpPr>
          <p:nvPr>
            <p:ph type="dt" sz="half" idx="10"/>
          </p:nvPr>
        </p:nvSpPr>
        <p:spPr/>
        <p:txBody>
          <a:bodyPr/>
          <a:lstStyle/>
          <a:p>
            <a:pPr>
              <a:defRPr/>
            </a:pPr>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Definitions</a:t>
            </a:r>
            <a:endParaRPr lang="en-US" sz="3600" dirty="0"/>
          </a:p>
        </p:txBody>
      </p:sp>
      <p:sp>
        <p:nvSpPr>
          <p:cNvPr id="3" name="Slide Number Placeholder 2"/>
          <p:cNvSpPr>
            <a:spLocks noGrp="1"/>
          </p:cNvSpPr>
          <p:nvPr>
            <p:ph type="sldNum" sz="quarter" idx="12"/>
          </p:nvPr>
        </p:nvSpPr>
        <p:spPr/>
        <p:txBody>
          <a:bodyPr/>
          <a:lstStyle/>
          <a:p>
            <a:fld id="{066C4DAF-6593-41FF-841C-207F004CEB8C}" type="slidenum">
              <a:rPr lang="en-US" smtClean="0"/>
              <a:pPr/>
              <a:t>5</a:t>
            </a:fld>
            <a:endParaRPr lang="en-US"/>
          </a:p>
        </p:txBody>
      </p:sp>
      <p:sp>
        <p:nvSpPr>
          <p:cNvPr id="4" name="Content Placeholder 3"/>
          <p:cNvSpPr>
            <a:spLocks noGrp="1"/>
          </p:cNvSpPr>
          <p:nvPr>
            <p:ph sz="quarter" idx="1"/>
          </p:nvPr>
        </p:nvSpPr>
        <p:spPr>
          <a:xfrm>
            <a:off x="1981200" y="1219200"/>
            <a:ext cx="8382000" cy="4937760"/>
          </a:xfrm>
        </p:spPr>
        <p:txBody>
          <a:bodyPr>
            <a:normAutofit/>
          </a:bodyPr>
          <a:lstStyle/>
          <a:p>
            <a:pPr marL="0" indent="0">
              <a:buNone/>
            </a:pPr>
            <a:r>
              <a:rPr lang="en-US" sz="2800" b="1" dirty="0">
                <a:cs typeface="Times New Roman" pitchFamily="18" charset="0"/>
              </a:rPr>
              <a:t>Event</a:t>
            </a:r>
            <a:r>
              <a:rPr lang="en-US" sz="2800" dirty="0">
                <a:cs typeface="Times New Roman" pitchFamily="18" charset="0"/>
              </a:rPr>
              <a:t> - any collection (or subset) of outcomes contained in the sample space.</a:t>
            </a:r>
          </a:p>
          <a:p>
            <a:pPr marL="457200" lvl="1" indent="0">
              <a:buNone/>
            </a:pPr>
            <a:r>
              <a:rPr lang="en-US" b="1" dirty="0">
                <a:cs typeface="Times New Roman" pitchFamily="18" charset="0"/>
              </a:rPr>
              <a:t>Simple Event</a:t>
            </a:r>
            <a:r>
              <a:rPr lang="en-US" dirty="0">
                <a:cs typeface="Times New Roman" pitchFamily="18" charset="0"/>
              </a:rPr>
              <a:t> - an event that cannot be decomposed, one outcome of the experiment or in the sample space.</a:t>
            </a:r>
            <a:r>
              <a:rPr lang="en-US" b="1" dirty="0">
                <a:cs typeface="Times New Roman" pitchFamily="18" charset="0"/>
              </a:rPr>
              <a:t>	</a:t>
            </a:r>
          </a:p>
          <a:p>
            <a:pPr marL="457200" lvl="1" indent="0">
              <a:buNone/>
            </a:pPr>
            <a:r>
              <a:rPr lang="en-US" b="1" dirty="0">
                <a:cs typeface="Times New Roman" pitchFamily="18" charset="0"/>
              </a:rPr>
              <a:t>Compound Event</a:t>
            </a:r>
            <a:r>
              <a:rPr lang="en-US" dirty="0">
                <a:cs typeface="Times New Roman" pitchFamily="18" charset="0"/>
              </a:rPr>
              <a:t> - collection of specified outcomes contained in the sample space. </a:t>
            </a:r>
          </a:p>
          <a:p>
            <a:pPr marL="457200" lvl="1" indent="0">
              <a:buNone/>
            </a:pPr>
            <a:r>
              <a:rPr lang="en-US" b="1" dirty="0">
                <a:cs typeface="Times New Roman" pitchFamily="18" charset="0"/>
              </a:rPr>
              <a:t>Null Event</a:t>
            </a:r>
            <a:r>
              <a:rPr lang="en-US" dirty="0">
                <a:cs typeface="Times New Roman" pitchFamily="18" charset="0"/>
              </a:rPr>
              <a:t> (</a:t>
            </a:r>
            <a:r>
              <a:rPr lang="en-US" dirty="0">
                <a:cs typeface="Times New Roman" pitchFamily="18" charset="0"/>
                <a:sym typeface="Symbol"/>
              </a:rPr>
              <a:t></a:t>
            </a:r>
            <a:r>
              <a:rPr lang="en-US" dirty="0">
                <a:cs typeface="Times New Roman" pitchFamily="18" charset="0"/>
              </a:rPr>
              <a:t>): An event with </a:t>
            </a:r>
            <a:r>
              <a:rPr lang="en-US" i="1" dirty="0">
                <a:cs typeface="Times New Roman" pitchFamily="18" charset="0"/>
              </a:rPr>
              <a:t>no</a:t>
            </a:r>
            <a:r>
              <a:rPr lang="en-US" dirty="0">
                <a:cs typeface="Times New Roman" pitchFamily="18" charset="0"/>
              </a:rPr>
              <a:t> outcomes. </a:t>
            </a:r>
          </a:p>
          <a:p>
            <a:pPr marL="457200" lvl="1" indent="0">
              <a:buNone/>
            </a:pPr>
            <a:r>
              <a:rPr lang="en-US" dirty="0">
                <a:cs typeface="Times New Roman" pitchFamily="18" charset="0"/>
              </a:rPr>
              <a:t>	Example: Number of days with a high temperature 	over 150 degrees F.</a:t>
            </a:r>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66018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mn-lt"/>
                <a:cs typeface="Times New Roman" pitchFamily="18" charset="0"/>
              </a:rPr>
              <a:t>Example</a:t>
            </a:r>
          </a:p>
        </p:txBody>
      </p:sp>
      <p:sp>
        <p:nvSpPr>
          <p:cNvPr id="3" name="Slide Number Placeholder 2"/>
          <p:cNvSpPr>
            <a:spLocks noGrp="1"/>
          </p:cNvSpPr>
          <p:nvPr>
            <p:ph type="sldNum" sz="quarter" idx="12"/>
          </p:nvPr>
        </p:nvSpPr>
        <p:spPr/>
        <p:txBody>
          <a:bodyPr/>
          <a:lstStyle/>
          <a:p>
            <a:fld id="{066C4DAF-6593-41FF-841C-207F004CEB8C}" type="slidenum">
              <a:rPr lang="en-US" smtClean="0"/>
              <a:pPr/>
              <a:t>6</a:t>
            </a:fld>
            <a:endParaRPr lang="en-US" dirty="0"/>
          </a:p>
        </p:txBody>
      </p:sp>
      <p:sp>
        <p:nvSpPr>
          <p:cNvPr id="5" name="Rectangle 4"/>
          <p:cNvSpPr/>
          <p:nvPr/>
        </p:nvSpPr>
        <p:spPr>
          <a:xfrm>
            <a:off x="3276600" y="3352800"/>
            <a:ext cx="1981200" cy="91440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cs typeface="Times New Roman" pitchFamily="18" charset="0"/>
              </a:rPr>
              <a:t>roll a six-sided die</a:t>
            </a:r>
          </a:p>
        </p:txBody>
      </p:sp>
      <p:sp>
        <p:nvSpPr>
          <p:cNvPr id="6" name="Oval 5"/>
          <p:cNvSpPr/>
          <p:nvPr/>
        </p:nvSpPr>
        <p:spPr>
          <a:xfrm>
            <a:off x="6705600" y="16002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p:cNvSpPr/>
          <p:nvPr/>
        </p:nvSpPr>
        <p:spPr>
          <a:xfrm>
            <a:off x="6726936" y="2429256"/>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Oval 8"/>
          <p:cNvSpPr/>
          <p:nvPr/>
        </p:nvSpPr>
        <p:spPr>
          <a:xfrm>
            <a:off x="6723888" y="3249168"/>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Oval 10"/>
          <p:cNvSpPr/>
          <p:nvPr/>
        </p:nvSpPr>
        <p:spPr>
          <a:xfrm>
            <a:off x="6754368" y="40386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Oval 11"/>
          <p:cNvSpPr/>
          <p:nvPr/>
        </p:nvSpPr>
        <p:spPr>
          <a:xfrm>
            <a:off x="6754368" y="48768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5" name="Straight Arrow Connector 14"/>
          <p:cNvCxnSpPr/>
          <p:nvPr/>
        </p:nvCxnSpPr>
        <p:spPr>
          <a:xfrm rot="5400000" flipH="1" flipV="1">
            <a:off x="5638800" y="2057400"/>
            <a:ext cx="838200" cy="838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V="1">
            <a:off x="5715000" y="2819400"/>
            <a:ext cx="685800" cy="457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rot="16200000" flipH="1">
            <a:off x="5715000" y="4267200"/>
            <a:ext cx="685800" cy="685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5791200" y="3886200"/>
            <a:ext cx="60960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flipV="1">
            <a:off x="5791200" y="3430588"/>
            <a:ext cx="609600" cy="1508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4" name="Rectangle 23"/>
          <p:cNvSpPr/>
          <p:nvPr/>
        </p:nvSpPr>
        <p:spPr>
          <a:xfrm>
            <a:off x="6629400" y="1371600"/>
            <a:ext cx="685800" cy="48006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6" name="Straight Connector 25"/>
          <p:cNvCxnSpPr/>
          <p:nvPr/>
        </p:nvCxnSpPr>
        <p:spPr>
          <a:xfrm flipV="1">
            <a:off x="7315200" y="1524000"/>
            <a:ext cx="304800" cy="76200"/>
          </a:xfrm>
          <a:prstGeom prst="line">
            <a:avLst/>
          </a:prstGeom>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7620000" y="1295401"/>
            <a:ext cx="1487424" cy="1323439"/>
          </a:xfrm>
          <a:prstGeom prst="rect">
            <a:avLst/>
          </a:prstGeom>
          <a:noFill/>
        </p:spPr>
        <p:txBody>
          <a:bodyPr wrap="square" rtlCol="0">
            <a:spAutoFit/>
          </a:bodyPr>
          <a:lstStyle/>
          <a:p>
            <a:r>
              <a:rPr lang="en-US" sz="2000" dirty="0">
                <a:latin typeface="+mn-lt"/>
                <a:cs typeface="Times New Roman" pitchFamily="18" charset="0"/>
              </a:rPr>
              <a:t>Sample Space =  all possible outcomes</a:t>
            </a:r>
          </a:p>
        </p:txBody>
      </p:sp>
      <p:sp>
        <p:nvSpPr>
          <p:cNvPr id="28" name="TextBox 27"/>
          <p:cNvSpPr txBox="1"/>
          <p:nvPr/>
        </p:nvSpPr>
        <p:spPr>
          <a:xfrm>
            <a:off x="6781800" y="1648968"/>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1</a:t>
            </a:r>
          </a:p>
        </p:txBody>
      </p:sp>
      <p:sp>
        <p:nvSpPr>
          <p:cNvPr id="30" name="TextBox 29"/>
          <p:cNvSpPr txBox="1"/>
          <p:nvPr/>
        </p:nvSpPr>
        <p:spPr>
          <a:xfrm>
            <a:off x="6790944" y="2459736"/>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2</a:t>
            </a:r>
          </a:p>
        </p:txBody>
      </p:sp>
      <p:sp>
        <p:nvSpPr>
          <p:cNvPr id="31" name="TextBox 30"/>
          <p:cNvSpPr txBox="1"/>
          <p:nvPr/>
        </p:nvSpPr>
        <p:spPr>
          <a:xfrm>
            <a:off x="6812280" y="3294888"/>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3</a:t>
            </a:r>
          </a:p>
        </p:txBody>
      </p:sp>
      <p:sp>
        <p:nvSpPr>
          <p:cNvPr id="32" name="TextBox 31"/>
          <p:cNvSpPr txBox="1"/>
          <p:nvPr/>
        </p:nvSpPr>
        <p:spPr>
          <a:xfrm>
            <a:off x="6839712" y="4078224"/>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4</a:t>
            </a:r>
          </a:p>
        </p:txBody>
      </p:sp>
      <p:sp>
        <p:nvSpPr>
          <p:cNvPr id="33" name="TextBox 32"/>
          <p:cNvSpPr txBox="1"/>
          <p:nvPr/>
        </p:nvSpPr>
        <p:spPr>
          <a:xfrm>
            <a:off x="6839712" y="4925568"/>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5</a:t>
            </a:r>
          </a:p>
        </p:txBody>
      </p:sp>
      <p:sp>
        <p:nvSpPr>
          <p:cNvPr id="34" name="Oval 33"/>
          <p:cNvSpPr/>
          <p:nvPr/>
        </p:nvSpPr>
        <p:spPr>
          <a:xfrm>
            <a:off x="6781800" y="56388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TextBox 34"/>
          <p:cNvSpPr txBox="1"/>
          <p:nvPr/>
        </p:nvSpPr>
        <p:spPr>
          <a:xfrm>
            <a:off x="6858000" y="5666232"/>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6</a:t>
            </a:r>
          </a:p>
        </p:txBody>
      </p:sp>
      <p:cxnSp>
        <p:nvCxnSpPr>
          <p:cNvPr id="36" name="Straight Arrow Connector 35"/>
          <p:cNvCxnSpPr/>
          <p:nvPr/>
        </p:nvCxnSpPr>
        <p:spPr>
          <a:xfrm rot="16200000" flipH="1">
            <a:off x="5410200" y="4876800"/>
            <a:ext cx="1143000" cy="685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 name="Date Placeholder 3"/>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098285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24" grpId="0" animBg="1"/>
      <p:bldP spid="27" grpId="0"/>
      <p:bldP spid="28" grpId="0"/>
      <p:bldP spid="30" grpId="0"/>
      <p:bldP spid="31" grpId="0"/>
      <p:bldP spid="32" grpId="0"/>
      <p:bldP spid="33" grpId="0"/>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Example</a:t>
            </a:r>
            <a:endParaRPr lang="en-US" sz="3600" dirty="0"/>
          </a:p>
        </p:txBody>
      </p:sp>
      <p:sp>
        <p:nvSpPr>
          <p:cNvPr id="3" name="Slide Number Placeholder 2"/>
          <p:cNvSpPr>
            <a:spLocks noGrp="1"/>
          </p:cNvSpPr>
          <p:nvPr>
            <p:ph type="sldNum" sz="quarter" idx="12"/>
          </p:nvPr>
        </p:nvSpPr>
        <p:spPr/>
        <p:txBody>
          <a:bodyPr/>
          <a:lstStyle/>
          <a:p>
            <a:fld id="{066C4DAF-6593-41FF-841C-207F004CEB8C}" type="slidenum">
              <a:rPr lang="en-US" smtClean="0"/>
              <a:pPr/>
              <a:t>7</a:t>
            </a:fld>
            <a:endParaRPr lang="en-US"/>
          </a:p>
        </p:txBody>
      </p:sp>
      <p:sp>
        <p:nvSpPr>
          <p:cNvPr id="4" name="Content Placeholder 3"/>
          <p:cNvSpPr>
            <a:spLocks noGrp="1"/>
          </p:cNvSpPr>
          <p:nvPr>
            <p:ph sz="quarter" idx="1"/>
          </p:nvPr>
        </p:nvSpPr>
        <p:spPr/>
        <p:txBody>
          <a:bodyPr>
            <a:noAutofit/>
          </a:bodyPr>
          <a:lstStyle/>
          <a:p>
            <a:r>
              <a:rPr lang="en-US" sz="2000" dirty="0">
                <a:cs typeface="Times New Roman" pitchFamily="18" charset="0"/>
              </a:rPr>
              <a:t>What are possible collections of the outcome?</a:t>
            </a:r>
          </a:p>
          <a:p>
            <a:pPr lvl="1"/>
            <a:r>
              <a:rPr lang="en-US" sz="2000" dirty="0">
                <a:cs typeface="Times New Roman" pitchFamily="18" charset="0"/>
              </a:rPr>
              <a:t>It can be 1, 2, 3, …, 6 </a:t>
            </a:r>
          </a:p>
          <a:p>
            <a:pPr lvl="1"/>
            <a:r>
              <a:rPr lang="en-US" sz="2000" dirty="0">
                <a:cs typeface="Times New Roman" pitchFamily="18" charset="0"/>
              </a:rPr>
              <a:t>It can be either odd or even</a:t>
            </a:r>
          </a:p>
          <a:p>
            <a:pPr lvl="1"/>
            <a:r>
              <a:rPr lang="en-US" sz="2000" dirty="0">
                <a:cs typeface="Times New Roman" pitchFamily="18" charset="0"/>
              </a:rPr>
              <a:t>It can be greater than 4</a:t>
            </a:r>
          </a:p>
          <a:p>
            <a:pPr lvl="1"/>
            <a:r>
              <a:rPr lang="en-US" sz="2000" dirty="0">
                <a:cs typeface="Times New Roman" pitchFamily="18" charset="0"/>
              </a:rPr>
              <a:t>…</a:t>
            </a:r>
          </a:p>
          <a:p>
            <a:endParaRPr lang="en-US" sz="2000" dirty="0">
              <a:cs typeface="Times New Roman" pitchFamily="18" charset="0"/>
            </a:endParaRPr>
          </a:p>
          <a:p>
            <a:r>
              <a:rPr lang="en-US" sz="2000" dirty="0">
                <a:cs typeface="Times New Roman" pitchFamily="18" charset="0"/>
              </a:rPr>
              <a:t>simple event: </a:t>
            </a:r>
          </a:p>
          <a:p>
            <a:pPr lvl="1"/>
            <a:r>
              <a:rPr lang="en-US" sz="2000" dirty="0">
                <a:cs typeface="Times New Roman" pitchFamily="18" charset="0"/>
              </a:rPr>
              <a:t>observe a 2</a:t>
            </a:r>
          </a:p>
          <a:p>
            <a:r>
              <a:rPr lang="en-US" sz="2000" dirty="0">
                <a:cs typeface="Times New Roman" pitchFamily="18" charset="0"/>
              </a:rPr>
              <a:t>compound events:</a:t>
            </a:r>
          </a:p>
          <a:p>
            <a:pPr lvl="1"/>
            <a:r>
              <a:rPr lang="en-US" sz="2000" dirty="0">
                <a:cs typeface="Times New Roman" pitchFamily="18" charset="0"/>
              </a:rPr>
              <a:t>observe an odd number</a:t>
            </a:r>
          </a:p>
          <a:p>
            <a:r>
              <a:rPr lang="en-US" sz="2000" dirty="0">
                <a:cs typeface="Times New Roman" pitchFamily="18" charset="0"/>
              </a:rPr>
              <a:t>null event</a:t>
            </a:r>
          </a:p>
          <a:p>
            <a:pPr lvl="1"/>
            <a:r>
              <a:rPr lang="en-US" sz="2000" dirty="0">
                <a:cs typeface="Times New Roman" pitchFamily="18" charset="0"/>
              </a:rPr>
              <a:t>observe a number </a:t>
            </a:r>
            <a:br>
              <a:rPr lang="en-US" sz="2000" dirty="0">
                <a:cs typeface="Times New Roman" pitchFamily="18" charset="0"/>
              </a:rPr>
            </a:br>
            <a:r>
              <a:rPr lang="en-US" sz="2000" dirty="0">
                <a:cs typeface="Times New Roman" pitchFamily="18" charset="0"/>
              </a:rPr>
              <a:t>which is both even and odd</a:t>
            </a:r>
          </a:p>
        </p:txBody>
      </p:sp>
      <p:sp>
        <p:nvSpPr>
          <p:cNvPr id="5" name="Rectangle 4"/>
          <p:cNvSpPr/>
          <p:nvPr/>
        </p:nvSpPr>
        <p:spPr>
          <a:xfrm>
            <a:off x="5638800" y="3200400"/>
            <a:ext cx="1524000" cy="91440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cs typeface="Times New Roman" pitchFamily="18" charset="0"/>
              </a:rPr>
              <a:t>roll a six-sided die</a:t>
            </a:r>
          </a:p>
        </p:txBody>
      </p:sp>
      <p:sp>
        <p:nvSpPr>
          <p:cNvPr id="6" name="Oval 5"/>
          <p:cNvSpPr/>
          <p:nvPr/>
        </p:nvSpPr>
        <p:spPr>
          <a:xfrm>
            <a:off x="8229600" y="16002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p:cNvSpPr/>
          <p:nvPr/>
        </p:nvSpPr>
        <p:spPr>
          <a:xfrm>
            <a:off x="8250936" y="2429256"/>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Oval 8"/>
          <p:cNvSpPr/>
          <p:nvPr/>
        </p:nvSpPr>
        <p:spPr>
          <a:xfrm>
            <a:off x="8247888" y="3249168"/>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Oval 10"/>
          <p:cNvSpPr/>
          <p:nvPr/>
        </p:nvSpPr>
        <p:spPr>
          <a:xfrm>
            <a:off x="8278368" y="40386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Oval 11"/>
          <p:cNvSpPr/>
          <p:nvPr/>
        </p:nvSpPr>
        <p:spPr>
          <a:xfrm>
            <a:off x="8278368" y="48768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5" name="Straight Arrow Connector 14"/>
          <p:cNvCxnSpPr/>
          <p:nvPr/>
        </p:nvCxnSpPr>
        <p:spPr>
          <a:xfrm rot="5400000" flipH="1" flipV="1">
            <a:off x="7086600" y="2057400"/>
            <a:ext cx="914400" cy="762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V="1">
            <a:off x="7239000" y="2819400"/>
            <a:ext cx="685800" cy="457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rot="16200000" flipH="1">
            <a:off x="7239000" y="4267200"/>
            <a:ext cx="685800" cy="685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7315200" y="3886200"/>
            <a:ext cx="60960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flipV="1">
            <a:off x="7315200" y="3430588"/>
            <a:ext cx="609600" cy="1508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4" name="Rectangle 23"/>
          <p:cNvSpPr/>
          <p:nvPr/>
        </p:nvSpPr>
        <p:spPr>
          <a:xfrm>
            <a:off x="8153400" y="1371600"/>
            <a:ext cx="685800" cy="48006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6" name="Straight Connector 25"/>
          <p:cNvCxnSpPr/>
          <p:nvPr/>
        </p:nvCxnSpPr>
        <p:spPr>
          <a:xfrm>
            <a:off x="8839200" y="1752600"/>
            <a:ext cx="304800" cy="76200"/>
          </a:xfrm>
          <a:prstGeom prst="line">
            <a:avLst/>
          </a:prstGeom>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8969828" y="1785259"/>
            <a:ext cx="1487424" cy="1323439"/>
          </a:xfrm>
          <a:prstGeom prst="rect">
            <a:avLst/>
          </a:prstGeom>
          <a:noFill/>
        </p:spPr>
        <p:txBody>
          <a:bodyPr wrap="square" rtlCol="0">
            <a:spAutoFit/>
          </a:bodyPr>
          <a:lstStyle/>
          <a:p>
            <a:r>
              <a:rPr lang="en-US" sz="2000" dirty="0">
                <a:latin typeface="+mn-lt"/>
                <a:cs typeface="Times New Roman" pitchFamily="18" charset="0"/>
              </a:rPr>
              <a:t>Sample Space =  all possible outcomes</a:t>
            </a:r>
          </a:p>
        </p:txBody>
      </p:sp>
      <p:sp>
        <p:nvSpPr>
          <p:cNvPr id="28" name="TextBox 27"/>
          <p:cNvSpPr txBox="1"/>
          <p:nvPr/>
        </p:nvSpPr>
        <p:spPr>
          <a:xfrm>
            <a:off x="8305800" y="1648968"/>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1</a:t>
            </a:r>
          </a:p>
        </p:txBody>
      </p:sp>
      <p:sp>
        <p:nvSpPr>
          <p:cNvPr id="30" name="TextBox 29"/>
          <p:cNvSpPr txBox="1"/>
          <p:nvPr/>
        </p:nvSpPr>
        <p:spPr>
          <a:xfrm>
            <a:off x="8314944" y="2459736"/>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2</a:t>
            </a:r>
          </a:p>
        </p:txBody>
      </p:sp>
      <p:sp>
        <p:nvSpPr>
          <p:cNvPr id="31" name="TextBox 30"/>
          <p:cNvSpPr txBox="1"/>
          <p:nvPr/>
        </p:nvSpPr>
        <p:spPr>
          <a:xfrm>
            <a:off x="8336280" y="3294888"/>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3</a:t>
            </a:r>
          </a:p>
        </p:txBody>
      </p:sp>
      <p:sp>
        <p:nvSpPr>
          <p:cNvPr id="32" name="TextBox 31"/>
          <p:cNvSpPr txBox="1"/>
          <p:nvPr/>
        </p:nvSpPr>
        <p:spPr>
          <a:xfrm>
            <a:off x="8363712" y="4078224"/>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4</a:t>
            </a:r>
          </a:p>
        </p:txBody>
      </p:sp>
      <p:sp>
        <p:nvSpPr>
          <p:cNvPr id="33" name="TextBox 32"/>
          <p:cNvSpPr txBox="1"/>
          <p:nvPr/>
        </p:nvSpPr>
        <p:spPr>
          <a:xfrm>
            <a:off x="8363712" y="4925568"/>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5</a:t>
            </a:r>
          </a:p>
        </p:txBody>
      </p:sp>
      <p:sp>
        <p:nvSpPr>
          <p:cNvPr id="34" name="Oval 33"/>
          <p:cNvSpPr/>
          <p:nvPr/>
        </p:nvSpPr>
        <p:spPr>
          <a:xfrm>
            <a:off x="8305800" y="5638800"/>
            <a:ext cx="457200" cy="4572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TextBox 34"/>
          <p:cNvSpPr txBox="1"/>
          <p:nvPr/>
        </p:nvSpPr>
        <p:spPr>
          <a:xfrm>
            <a:off x="8382000" y="5666232"/>
            <a:ext cx="304800" cy="369332"/>
          </a:xfrm>
          <a:prstGeom prst="rect">
            <a:avLst/>
          </a:prstGeom>
          <a:noFill/>
        </p:spPr>
        <p:txBody>
          <a:bodyPr wrap="square" rtlCol="0">
            <a:spAutoFit/>
          </a:bodyPr>
          <a:lstStyle/>
          <a:p>
            <a:r>
              <a:rPr lang="en-US" dirty="0">
                <a:latin typeface="Times New Roman" pitchFamily="18" charset="0"/>
                <a:cs typeface="Times New Roman" pitchFamily="18" charset="0"/>
              </a:rPr>
              <a:t>6</a:t>
            </a:r>
          </a:p>
        </p:txBody>
      </p:sp>
      <p:cxnSp>
        <p:nvCxnSpPr>
          <p:cNvPr id="36" name="Straight Arrow Connector 35"/>
          <p:cNvCxnSpPr/>
          <p:nvPr/>
        </p:nvCxnSpPr>
        <p:spPr>
          <a:xfrm rot="16200000" flipH="1">
            <a:off x="6934200" y="4876800"/>
            <a:ext cx="1143000" cy="685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7" name="Date Placeholder 6"/>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09672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52625" y="457200"/>
            <a:ext cx="8229600" cy="1143000"/>
          </a:xfrm>
        </p:spPr>
        <p:txBody>
          <a:bodyPr/>
          <a:lstStyle/>
          <a:p>
            <a:pPr algn="l"/>
            <a:r>
              <a:rPr lang="en-US" altLang="en-US" sz="3200" dirty="0"/>
              <a:t>Tree diagram for Example 2.2</a:t>
            </a:r>
            <a:br>
              <a:rPr lang="en-US" altLang="en-US" sz="3200" dirty="0"/>
            </a:br>
            <a:r>
              <a:rPr lang="en-US" altLang="en-US" sz="2400" dirty="0"/>
              <a:t>Experiment consists of flipping a coin and flipping it one more time if head occurs. If a tail occurs on the first flip, then a die is tossed once.</a:t>
            </a:r>
            <a:br>
              <a:rPr lang="en-US" altLang="en-US" sz="2400" dirty="0"/>
            </a:br>
            <a:endParaRPr lang="en-US" altLang="en-US" sz="2400" b="1" dirty="0"/>
          </a:p>
        </p:txBody>
      </p:sp>
      <p:sp>
        <p:nvSpPr>
          <p:cNvPr id="2" name="Slide Number Placeholder 1"/>
          <p:cNvSpPr>
            <a:spLocks noGrp="1"/>
          </p:cNvSpPr>
          <p:nvPr>
            <p:ph type="sldNum" sz="quarter" idx="12"/>
          </p:nvPr>
        </p:nvSpPr>
        <p:spPr/>
        <p:txBody>
          <a:bodyPr/>
          <a:lstStyle/>
          <a:p>
            <a:pPr>
              <a:defRPr/>
            </a:pPr>
            <a:fld id="{DC0D5635-7541-40DA-B0BF-E30E0D2B3316}" type="slidenum">
              <a:rPr lang="it-IT" altLang="en-US" smtClean="0"/>
              <a:pPr>
                <a:defRPr/>
              </a:pPr>
              <a:t>8</a:t>
            </a:fld>
            <a:endParaRPr lang="it-IT" altLang="en-US"/>
          </a:p>
        </p:txBody>
      </p:sp>
      <p:sp>
        <p:nvSpPr>
          <p:cNvPr id="3" name="Date Placeholder 2"/>
          <p:cNvSpPr>
            <a:spLocks noGrp="1"/>
          </p:cNvSpPr>
          <p:nvPr>
            <p:ph type="dt" sz="half" idx="10"/>
          </p:nvPr>
        </p:nvSpPr>
        <p:spPr/>
        <p:txBody>
          <a:bodyPr/>
          <a:lstStyle/>
          <a:p>
            <a:pPr>
              <a:defRPr/>
            </a:pPr>
            <a:endParaRPr lang="it-IT"/>
          </a:p>
        </p:txBody>
      </p:sp>
      <p:pic>
        <p:nvPicPr>
          <p:cNvPr id="4" name="Picture 5" descr="02_01">
            <a:extLst>
              <a:ext uri="{FF2B5EF4-FFF2-40B4-BE49-F238E27FC236}">
                <a16:creationId xmlns:a16="http://schemas.microsoft.com/office/drawing/2014/main" id="{6A582376-931E-6354-EA7A-19D46E9B9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905000"/>
            <a:ext cx="5543550" cy="4540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med">
    <p:pull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1981200" y="274638"/>
            <a:ext cx="8229600" cy="792162"/>
          </a:xfrm>
        </p:spPr>
        <p:txBody>
          <a:bodyPr/>
          <a:lstStyle/>
          <a:p>
            <a:pPr eaLnBrk="1" hangingPunct="1"/>
            <a:r>
              <a:rPr lang="en-US" altLang="en-US" sz="3600" dirty="0"/>
              <a:t>Example</a:t>
            </a:r>
          </a:p>
        </p:txBody>
      </p:sp>
      <p:sp>
        <p:nvSpPr>
          <p:cNvPr id="13315" name="Content Placeholder 4"/>
          <p:cNvSpPr>
            <a:spLocks noGrp="1"/>
          </p:cNvSpPr>
          <p:nvPr>
            <p:ph idx="1"/>
          </p:nvPr>
        </p:nvSpPr>
        <p:spPr>
          <a:xfrm>
            <a:off x="1758632" y="1219200"/>
            <a:ext cx="8421688" cy="4724400"/>
          </a:xfrm>
        </p:spPr>
        <p:txBody>
          <a:bodyPr/>
          <a:lstStyle/>
          <a:p>
            <a:pPr marL="0" indent="0" eaLnBrk="1" hangingPunct="1">
              <a:buNone/>
            </a:pPr>
            <a:r>
              <a:rPr lang="en-US" altLang="en-US" sz="2400" dirty="0">
                <a:cs typeface="Tahoma" panose="020B0604030504040204" pitchFamily="34" charset="0"/>
              </a:rPr>
              <a:t>Battery failures: </a:t>
            </a:r>
            <a:r>
              <a:rPr lang="en-US" sz="2400" dirty="0">
                <a:ea typeface="Tahoma" pitchFamily="34" charset="0"/>
                <a:cs typeface="Tahoma" pitchFamily="34" charset="0"/>
              </a:rPr>
              <a:t>If a new type D flashlight battery has a voltage that is outside certain limits, that battery is characterized as a failure (F); if the battery has a voltage within the prescribed limits, it is a success (S). Suppose the experiment consists of testing each battery as it comes off n assembly line until we first observe a success. </a:t>
            </a:r>
          </a:p>
          <a:p>
            <a:pPr marL="0" indent="0" eaLnBrk="1" hangingPunct="1">
              <a:buNone/>
            </a:pPr>
            <a:endParaRPr lang="en-US" altLang="en-US" sz="2400" dirty="0">
              <a:ea typeface="Tahoma" pitchFamily="34" charset="0"/>
              <a:cs typeface="Tahoma" pitchFamily="34" charset="0"/>
            </a:endParaRPr>
          </a:p>
          <a:p>
            <a:pPr marL="0" indent="0" eaLnBrk="1" hangingPunct="1">
              <a:buNone/>
            </a:pPr>
            <a:r>
              <a:rPr lang="en-US" altLang="en-US" sz="2400" dirty="0">
                <a:ea typeface="Tahoma" pitchFamily="34" charset="0"/>
                <a:cs typeface="Tahoma" pitchFamily="34" charset="0"/>
              </a:rPr>
              <a:t>S = </a:t>
            </a:r>
            <a:r>
              <a:rPr lang="en-US" sz="2400" dirty="0">
                <a:ea typeface="Tahoma" pitchFamily="34" charset="0"/>
                <a:cs typeface="Tahoma" pitchFamily="34" charset="0"/>
              </a:rPr>
              <a:t>{S, FS, FFS, FFFS,…}</a:t>
            </a:r>
          </a:p>
          <a:p>
            <a:pPr marL="0" indent="0" eaLnBrk="1" hangingPunct="1">
              <a:buNone/>
            </a:pPr>
            <a:endParaRPr lang="en-US" altLang="en-US" sz="2400" dirty="0">
              <a:cs typeface="Tahoma" panose="020B0604030504040204" pitchFamily="34" charset="0"/>
            </a:endParaRPr>
          </a:p>
        </p:txBody>
      </p:sp>
      <p:sp>
        <p:nvSpPr>
          <p:cNvPr id="13316"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FE5C209-3CF5-4139-9D76-B8CD5AE968FB}" type="slidenum">
              <a:rPr lang="it-IT" altLang="en-US" sz="1200">
                <a:latin typeface="Tahoma" panose="020B0604030504040204" pitchFamily="34" charset="0"/>
              </a:rPr>
              <a:pPr>
                <a:spcBef>
                  <a:spcPct val="0"/>
                </a:spcBef>
                <a:buFontTx/>
                <a:buNone/>
              </a:pPr>
              <a:t>9</a:t>
            </a:fld>
            <a:endParaRPr lang="it-IT" altLang="en-US" sz="1200">
              <a:latin typeface="Tahoma" panose="020B0604030504040204" pitchFamily="34" charset="0"/>
            </a:endParaRPr>
          </a:p>
        </p:txBody>
      </p:sp>
      <p:sp>
        <p:nvSpPr>
          <p:cNvPr id="2" name="Date Placeholder 1"/>
          <p:cNvSpPr>
            <a:spLocks noGrp="1"/>
          </p:cNvSpPr>
          <p:nvPr>
            <p:ph type="dt" sz="half" idx="10"/>
          </p:nvPr>
        </p:nvSpPr>
        <p:spPr/>
        <p:txBody>
          <a:bodyPr/>
          <a:lstStyle/>
          <a:p>
            <a:pPr>
              <a:defRPr/>
            </a:pPr>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Definitions</a:t>
            </a:r>
          </a:p>
        </p:txBody>
      </p:sp>
      <p:sp>
        <p:nvSpPr>
          <p:cNvPr id="3" name="Slide Number Placeholder 2"/>
          <p:cNvSpPr>
            <a:spLocks noGrp="1"/>
          </p:cNvSpPr>
          <p:nvPr>
            <p:ph type="sldNum" sz="quarter" idx="12"/>
          </p:nvPr>
        </p:nvSpPr>
        <p:spPr/>
        <p:txBody>
          <a:bodyPr/>
          <a:lstStyle/>
          <a:p>
            <a:fld id="{066C4DAF-6593-41FF-841C-207F004CEB8C}" type="slidenum">
              <a:rPr lang="en-US" smtClean="0"/>
              <a:pPr/>
              <a:t>10</a:t>
            </a:fld>
            <a:endParaRPr lang="en-US"/>
          </a:p>
        </p:txBody>
      </p:sp>
      <p:sp>
        <p:nvSpPr>
          <p:cNvPr id="4" name="Content Placeholder 3"/>
          <p:cNvSpPr>
            <a:spLocks noGrp="1"/>
          </p:cNvSpPr>
          <p:nvPr>
            <p:ph sz="quarter" idx="1"/>
          </p:nvPr>
        </p:nvSpPr>
        <p:spPr>
          <a:xfrm>
            <a:off x="1981200" y="1219201"/>
            <a:ext cx="8229600" cy="4906963"/>
          </a:xfrm>
        </p:spPr>
        <p:txBody>
          <a:bodyPr>
            <a:normAutofit/>
          </a:bodyPr>
          <a:lstStyle/>
          <a:p>
            <a:pPr marL="0" indent="0">
              <a:buNone/>
            </a:pPr>
            <a:r>
              <a:rPr lang="en-US" sz="2800" dirty="0">
                <a:cs typeface="Times New Roman" pitchFamily="18" charset="0"/>
              </a:rPr>
              <a:t>The </a:t>
            </a:r>
            <a:r>
              <a:rPr lang="en-US" sz="2800" b="1" dirty="0">
                <a:cs typeface="Times New Roman" pitchFamily="18" charset="0"/>
              </a:rPr>
              <a:t>Union</a:t>
            </a:r>
            <a:r>
              <a:rPr lang="en-US" sz="2800" dirty="0">
                <a:cs typeface="Times New Roman" pitchFamily="18" charset="0"/>
              </a:rPr>
              <a:t> of events </a:t>
            </a:r>
            <a:r>
              <a:rPr lang="en-US" sz="2800" i="1" dirty="0">
                <a:cs typeface="Times New Roman" pitchFamily="18" charset="0"/>
              </a:rPr>
              <a:t>A</a:t>
            </a:r>
            <a:r>
              <a:rPr lang="en-US" sz="2800" dirty="0">
                <a:cs typeface="Times New Roman" pitchFamily="18" charset="0"/>
              </a:rPr>
              <a:t> and </a:t>
            </a:r>
            <a:r>
              <a:rPr lang="en-US" sz="2800" i="1" dirty="0">
                <a:cs typeface="Times New Roman" pitchFamily="18" charset="0"/>
              </a:rPr>
              <a:t>B</a:t>
            </a:r>
            <a:r>
              <a:rPr lang="en-US" sz="2800" dirty="0">
                <a:cs typeface="Times New Roman" pitchFamily="18" charset="0"/>
              </a:rPr>
              <a:t>, denoted by </a:t>
            </a:r>
            <a:r>
              <a:rPr lang="en-US" sz="2800" i="1" dirty="0">
                <a:cs typeface="Times New Roman" pitchFamily="18" charset="0"/>
              </a:rPr>
              <a:t>A</a:t>
            </a:r>
            <a:r>
              <a:rPr lang="en-US" sz="2800" dirty="0">
                <a:cs typeface="Times New Roman" pitchFamily="18" charset="0"/>
              </a:rPr>
              <a:t> </a:t>
            </a:r>
            <a:r>
              <a:rPr lang="en-US" sz="2800" dirty="0">
                <a:cs typeface="Times New Roman" pitchFamily="18" charset="0"/>
                <a:sym typeface="Symbol" pitchFamily="18" charset="2"/>
              </a:rPr>
              <a:t></a:t>
            </a:r>
            <a:r>
              <a:rPr lang="en-US" sz="2800" dirty="0">
                <a:cs typeface="Times New Roman" pitchFamily="18" charset="0"/>
              </a:rPr>
              <a:t> </a:t>
            </a:r>
            <a:r>
              <a:rPr lang="en-US" sz="2800" i="1" dirty="0">
                <a:cs typeface="Times New Roman" pitchFamily="18" charset="0"/>
              </a:rPr>
              <a:t>B</a:t>
            </a:r>
            <a:r>
              <a:rPr lang="en-US" sz="2800" dirty="0">
                <a:cs typeface="Times New Roman" pitchFamily="18" charset="0"/>
              </a:rPr>
              <a:t> and read “A or B” is the event consisting of all outcomes that are either in </a:t>
            </a:r>
            <a:r>
              <a:rPr lang="en-US" sz="2800" i="1" dirty="0">
                <a:cs typeface="Times New Roman" pitchFamily="18" charset="0"/>
              </a:rPr>
              <a:t>A</a:t>
            </a:r>
            <a:r>
              <a:rPr lang="en-US" sz="2800" dirty="0">
                <a:cs typeface="Times New Roman" pitchFamily="18" charset="0"/>
              </a:rPr>
              <a:t> or in </a:t>
            </a:r>
            <a:r>
              <a:rPr lang="en-US" sz="2800" i="1" dirty="0">
                <a:cs typeface="Times New Roman" pitchFamily="18" charset="0"/>
              </a:rPr>
              <a:t>B</a:t>
            </a:r>
            <a:r>
              <a:rPr lang="en-US" sz="2800" dirty="0">
                <a:cs typeface="Times New Roman" pitchFamily="18" charset="0"/>
              </a:rPr>
              <a:t> or in both events (so that the union includes outcomes for which both </a:t>
            </a:r>
            <a:r>
              <a:rPr lang="en-US" sz="2800" i="1" dirty="0">
                <a:cs typeface="Times New Roman" pitchFamily="18" charset="0"/>
              </a:rPr>
              <a:t>A</a:t>
            </a:r>
            <a:r>
              <a:rPr lang="en-US" sz="2800" dirty="0">
                <a:cs typeface="Times New Roman" pitchFamily="18" charset="0"/>
              </a:rPr>
              <a:t> and </a:t>
            </a:r>
            <a:r>
              <a:rPr lang="en-US" sz="2800" i="1" dirty="0">
                <a:cs typeface="Times New Roman" pitchFamily="18" charset="0"/>
              </a:rPr>
              <a:t>B</a:t>
            </a:r>
            <a:r>
              <a:rPr lang="en-US" sz="2800" dirty="0">
                <a:cs typeface="Times New Roman" pitchFamily="18" charset="0"/>
              </a:rPr>
              <a:t> occur as well as outcomes for which exactly one of </a:t>
            </a:r>
            <a:r>
              <a:rPr lang="en-US" sz="2800" i="1" dirty="0">
                <a:cs typeface="Times New Roman" pitchFamily="18" charset="0"/>
              </a:rPr>
              <a:t>A</a:t>
            </a:r>
            <a:r>
              <a:rPr lang="en-US" sz="2800" dirty="0">
                <a:cs typeface="Times New Roman" pitchFamily="18" charset="0"/>
              </a:rPr>
              <a:t> or </a:t>
            </a:r>
            <a:r>
              <a:rPr lang="en-US" sz="2800" i="1" dirty="0">
                <a:cs typeface="Times New Roman" pitchFamily="18" charset="0"/>
              </a:rPr>
              <a:t>B</a:t>
            </a:r>
            <a:r>
              <a:rPr lang="en-US" sz="2800" dirty="0">
                <a:cs typeface="Times New Roman" pitchFamily="18" charset="0"/>
              </a:rPr>
              <a:t> occurs).</a:t>
            </a:r>
          </a:p>
          <a:p>
            <a:endParaRPr lang="en-US" sz="2800" dirty="0">
              <a:cs typeface="Times New Roman" pitchFamily="18" charset="0"/>
            </a:endParaRPr>
          </a:p>
          <a:p>
            <a:pPr marL="0" indent="0">
              <a:buNone/>
            </a:pPr>
            <a:r>
              <a:rPr lang="en-US" sz="2800" dirty="0">
                <a:cs typeface="Times New Roman" pitchFamily="18" charset="0"/>
              </a:rPr>
              <a:t>Example:</a:t>
            </a:r>
          </a:p>
          <a:p>
            <a:pPr>
              <a:buNone/>
            </a:pPr>
            <a:r>
              <a:rPr lang="en-US" sz="2800" i="1" dirty="0">
                <a:cs typeface="Times New Roman" pitchFamily="18" charset="0"/>
              </a:rPr>
              <a:t>A</a:t>
            </a:r>
            <a:r>
              <a:rPr lang="en-US" sz="2800" dirty="0">
                <a:cs typeface="Times New Roman" pitchFamily="18" charset="0"/>
              </a:rPr>
              <a:t> = {1, 3, 5}, </a:t>
            </a:r>
            <a:r>
              <a:rPr lang="en-US" sz="2800" i="1" dirty="0">
                <a:cs typeface="Times New Roman" pitchFamily="18" charset="0"/>
              </a:rPr>
              <a:t>B</a:t>
            </a:r>
            <a:r>
              <a:rPr lang="en-US" sz="2800" dirty="0">
                <a:cs typeface="Times New Roman" pitchFamily="18" charset="0"/>
              </a:rPr>
              <a:t> = {4, 5, 6}</a:t>
            </a:r>
          </a:p>
          <a:p>
            <a:pPr>
              <a:buNone/>
            </a:pPr>
            <a:r>
              <a:rPr lang="en-US" sz="2800" i="1" dirty="0">
                <a:solidFill>
                  <a:srgbClr val="FF0000"/>
                </a:solidFill>
                <a:cs typeface="Times New Roman" pitchFamily="18" charset="0"/>
              </a:rPr>
              <a:t>A</a:t>
            </a:r>
            <a:r>
              <a:rPr lang="en-US" sz="2800" dirty="0">
                <a:solidFill>
                  <a:srgbClr val="FF0000"/>
                </a:solidFill>
                <a:cs typeface="Times New Roman" pitchFamily="18" charset="0"/>
              </a:rPr>
              <a:t> </a:t>
            </a:r>
            <a:r>
              <a:rPr lang="en-US" sz="2800" dirty="0">
                <a:solidFill>
                  <a:srgbClr val="FF0000"/>
                </a:solidFill>
                <a:cs typeface="Times New Roman" pitchFamily="18" charset="0"/>
                <a:sym typeface="Symbol" pitchFamily="18" charset="2"/>
              </a:rPr>
              <a:t></a:t>
            </a:r>
            <a:r>
              <a:rPr lang="en-US" sz="2800" dirty="0">
                <a:solidFill>
                  <a:srgbClr val="FF0000"/>
                </a:solidFill>
                <a:cs typeface="Times New Roman" pitchFamily="18" charset="0"/>
              </a:rPr>
              <a:t> </a:t>
            </a:r>
            <a:r>
              <a:rPr lang="en-US" sz="2800" i="1" dirty="0">
                <a:solidFill>
                  <a:srgbClr val="FF0000"/>
                </a:solidFill>
                <a:cs typeface="Times New Roman" pitchFamily="18" charset="0"/>
              </a:rPr>
              <a:t>B = </a:t>
            </a:r>
            <a:endParaRPr lang="en-US" sz="2800" dirty="0">
              <a:solidFill>
                <a:srgbClr val="FF0000"/>
              </a:solidFill>
              <a:cs typeface="Times New Roman" pitchFamily="18" charset="0"/>
            </a:endParaRPr>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00095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Definitions</a:t>
            </a:r>
          </a:p>
        </p:txBody>
      </p:sp>
      <p:sp>
        <p:nvSpPr>
          <p:cNvPr id="3" name="Slide Number Placeholder 2"/>
          <p:cNvSpPr>
            <a:spLocks noGrp="1"/>
          </p:cNvSpPr>
          <p:nvPr>
            <p:ph type="sldNum" sz="quarter" idx="12"/>
          </p:nvPr>
        </p:nvSpPr>
        <p:spPr/>
        <p:txBody>
          <a:bodyPr/>
          <a:lstStyle/>
          <a:p>
            <a:fld id="{066C4DAF-6593-41FF-841C-207F004CEB8C}" type="slidenum">
              <a:rPr lang="en-US" smtClean="0"/>
              <a:pPr/>
              <a:t>11</a:t>
            </a:fld>
            <a:endParaRPr lang="en-US"/>
          </a:p>
        </p:txBody>
      </p:sp>
      <p:sp>
        <p:nvSpPr>
          <p:cNvPr id="4" name="Content Placeholder 3"/>
          <p:cNvSpPr>
            <a:spLocks noGrp="1"/>
          </p:cNvSpPr>
          <p:nvPr>
            <p:ph sz="quarter" idx="1"/>
          </p:nvPr>
        </p:nvSpPr>
        <p:spPr/>
        <p:txBody>
          <a:bodyPr>
            <a:normAutofit/>
          </a:bodyPr>
          <a:lstStyle/>
          <a:p>
            <a:pPr marL="0" indent="0">
              <a:buNone/>
            </a:pPr>
            <a:r>
              <a:rPr lang="en-US" sz="2800" dirty="0">
                <a:cs typeface="Times New Roman" pitchFamily="18" charset="0"/>
              </a:rPr>
              <a:t>The </a:t>
            </a:r>
            <a:r>
              <a:rPr lang="en-US" sz="2800" b="1" dirty="0">
                <a:cs typeface="Times New Roman" pitchFamily="18" charset="0"/>
              </a:rPr>
              <a:t>Intersection</a:t>
            </a:r>
            <a:r>
              <a:rPr lang="en-US" sz="2800" dirty="0">
                <a:cs typeface="Times New Roman" pitchFamily="18" charset="0"/>
              </a:rPr>
              <a:t> of events </a:t>
            </a:r>
            <a:r>
              <a:rPr lang="en-US" sz="2800" i="1" dirty="0">
                <a:cs typeface="Times New Roman" pitchFamily="18" charset="0"/>
              </a:rPr>
              <a:t>A</a:t>
            </a:r>
            <a:r>
              <a:rPr lang="en-US" sz="2800" dirty="0">
                <a:cs typeface="Times New Roman" pitchFamily="18" charset="0"/>
              </a:rPr>
              <a:t> and </a:t>
            </a:r>
            <a:r>
              <a:rPr lang="en-US" sz="2800" i="1" dirty="0">
                <a:cs typeface="Times New Roman" pitchFamily="18" charset="0"/>
              </a:rPr>
              <a:t>B</a:t>
            </a:r>
            <a:r>
              <a:rPr lang="en-US" sz="2800" dirty="0">
                <a:cs typeface="Times New Roman" pitchFamily="18" charset="0"/>
              </a:rPr>
              <a:t>, denoted by </a:t>
            </a:r>
          </a:p>
          <a:p>
            <a:pPr marL="0" indent="0">
              <a:buNone/>
            </a:pPr>
            <a:r>
              <a:rPr lang="en-US" sz="2800" i="1" dirty="0">
                <a:cs typeface="Times New Roman" pitchFamily="18" charset="0"/>
              </a:rPr>
              <a:t>A</a:t>
            </a:r>
            <a:r>
              <a:rPr lang="en-US" sz="2800" dirty="0">
                <a:cs typeface="Times New Roman" pitchFamily="18" charset="0"/>
              </a:rPr>
              <a:t> </a:t>
            </a:r>
            <a:r>
              <a:rPr lang="en-US" sz="2800" dirty="0">
                <a:cs typeface="Times New Roman" pitchFamily="18" charset="0"/>
                <a:sym typeface="Symbol" pitchFamily="18" charset="2"/>
              </a:rPr>
              <a:t></a:t>
            </a:r>
            <a:r>
              <a:rPr lang="en-US" sz="2800" dirty="0">
                <a:cs typeface="Times New Roman" pitchFamily="18" charset="0"/>
              </a:rPr>
              <a:t>  </a:t>
            </a:r>
            <a:r>
              <a:rPr lang="en-US" sz="2800" i="1" dirty="0">
                <a:cs typeface="Times New Roman" pitchFamily="18" charset="0"/>
              </a:rPr>
              <a:t>B</a:t>
            </a:r>
            <a:r>
              <a:rPr lang="en-US" sz="2800" dirty="0">
                <a:cs typeface="Times New Roman" pitchFamily="18" charset="0"/>
              </a:rPr>
              <a:t> and read “A and B”, is the event consisting of all outcomes that are in both </a:t>
            </a:r>
            <a:r>
              <a:rPr lang="en-US" sz="2800" i="1" dirty="0">
                <a:cs typeface="Times New Roman" pitchFamily="18" charset="0"/>
              </a:rPr>
              <a:t>A</a:t>
            </a:r>
            <a:r>
              <a:rPr lang="en-US" sz="2800" dirty="0">
                <a:cs typeface="Times New Roman" pitchFamily="18" charset="0"/>
              </a:rPr>
              <a:t> and </a:t>
            </a:r>
            <a:r>
              <a:rPr lang="en-US" sz="2800" i="1" dirty="0">
                <a:cs typeface="Times New Roman" pitchFamily="18" charset="0"/>
              </a:rPr>
              <a:t>B</a:t>
            </a:r>
            <a:r>
              <a:rPr lang="en-US" sz="2800" dirty="0">
                <a:cs typeface="Times New Roman" pitchFamily="18" charset="0"/>
              </a:rPr>
              <a:t>.</a:t>
            </a:r>
          </a:p>
          <a:p>
            <a:endParaRPr lang="en-US" sz="2800" dirty="0">
              <a:cs typeface="Times New Roman" pitchFamily="18" charset="0"/>
            </a:endParaRPr>
          </a:p>
          <a:p>
            <a:pPr marL="0" indent="0">
              <a:buNone/>
            </a:pPr>
            <a:r>
              <a:rPr lang="en-US" sz="2800" dirty="0">
                <a:cs typeface="Times New Roman" pitchFamily="18" charset="0"/>
              </a:rPr>
              <a:t>Example:</a:t>
            </a:r>
          </a:p>
          <a:p>
            <a:pPr>
              <a:buNone/>
            </a:pPr>
            <a:r>
              <a:rPr lang="en-US" sz="2800" dirty="0">
                <a:cs typeface="Times New Roman" pitchFamily="18" charset="0"/>
              </a:rPr>
              <a:t>	        </a:t>
            </a:r>
            <a:r>
              <a:rPr lang="en-US" sz="2800" i="1" dirty="0">
                <a:cs typeface="Times New Roman" pitchFamily="18" charset="0"/>
              </a:rPr>
              <a:t>A</a:t>
            </a:r>
            <a:r>
              <a:rPr lang="en-US" sz="2800" dirty="0">
                <a:cs typeface="Times New Roman" pitchFamily="18" charset="0"/>
              </a:rPr>
              <a:t> = {1, 3, 5} </a:t>
            </a:r>
          </a:p>
          <a:p>
            <a:pPr>
              <a:buNone/>
            </a:pPr>
            <a:r>
              <a:rPr lang="en-US" sz="2800" i="1" dirty="0">
                <a:cs typeface="Times New Roman" pitchFamily="18" charset="0"/>
              </a:rPr>
              <a:t>            B</a:t>
            </a:r>
            <a:r>
              <a:rPr lang="en-US" sz="2800" dirty="0">
                <a:cs typeface="Times New Roman" pitchFamily="18" charset="0"/>
              </a:rPr>
              <a:t> = {4, 5, 6}</a:t>
            </a:r>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63991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Definitions</a:t>
            </a:r>
            <a:endParaRPr lang="en-US" sz="3600" dirty="0"/>
          </a:p>
        </p:txBody>
      </p:sp>
      <p:sp>
        <p:nvSpPr>
          <p:cNvPr id="3" name="Slide Number Placeholder 2"/>
          <p:cNvSpPr>
            <a:spLocks noGrp="1"/>
          </p:cNvSpPr>
          <p:nvPr>
            <p:ph type="sldNum" sz="quarter" idx="12"/>
          </p:nvPr>
        </p:nvSpPr>
        <p:spPr/>
        <p:txBody>
          <a:bodyPr/>
          <a:lstStyle/>
          <a:p>
            <a:fld id="{066C4DAF-6593-41FF-841C-207F004CEB8C}" type="slidenum">
              <a:rPr lang="en-US" smtClean="0"/>
              <a:pPr/>
              <a:t>12</a:t>
            </a:fld>
            <a:endParaRPr lang="en-US"/>
          </a:p>
        </p:txBody>
      </p:sp>
      <p:sp>
        <p:nvSpPr>
          <p:cNvPr id="4" name="Content Placeholder 3"/>
          <p:cNvSpPr>
            <a:spLocks noGrp="1"/>
          </p:cNvSpPr>
          <p:nvPr>
            <p:ph sz="quarter" idx="1"/>
          </p:nvPr>
        </p:nvSpPr>
        <p:spPr>
          <a:xfrm>
            <a:off x="1974980" y="1417639"/>
            <a:ext cx="8229600" cy="4525963"/>
          </a:xfrm>
        </p:spPr>
        <p:txBody>
          <a:bodyPr>
            <a:normAutofit fontScale="85000" lnSpcReduction="20000"/>
          </a:bodyPr>
          <a:lstStyle/>
          <a:p>
            <a:pPr marL="0" indent="0">
              <a:buNone/>
            </a:pPr>
            <a:r>
              <a:rPr lang="en-US" sz="3300" b="1" dirty="0">
                <a:cs typeface="Times New Roman" pitchFamily="18" charset="0"/>
              </a:rPr>
              <a:t>Complement</a:t>
            </a:r>
            <a:r>
              <a:rPr lang="en-US" sz="3300" dirty="0">
                <a:cs typeface="Times New Roman" pitchFamily="18" charset="0"/>
              </a:rPr>
              <a:t> - the complement of event </a:t>
            </a:r>
            <a:r>
              <a:rPr lang="en-US" sz="3300" i="1" dirty="0">
                <a:cs typeface="Times New Roman" pitchFamily="18" charset="0"/>
              </a:rPr>
              <a:t>A</a:t>
            </a:r>
            <a:r>
              <a:rPr lang="en-US" sz="3300" dirty="0">
                <a:cs typeface="Times New Roman" pitchFamily="18" charset="0"/>
              </a:rPr>
              <a:t>, denoted by </a:t>
            </a:r>
            <a:r>
              <a:rPr lang="en-US" sz="3300" i="1" dirty="0">
                <a:cs typeface="Times New Roman" pitchFamily="18" charset="0"/>
              </a:rPr>
              <a:t>A'</a:t>
            </a:r>
            <a:r>
              <a:rPr lang="en-US" sz="3300" dirty="0">
                <a:cs typeface="Times New Roman" pitchFamily="18" charset="0"/>
              </a:rPr>
              <a:t>, is the set of all outcomes in the Sample Space that are not contained in </a:t>
            </a:r>
            <a:r>
              <a:rPr lang="en-US" sz="3300" i="1" dirty="0">
                <a:cs typeface="Times New Roman" pitchFamily="18" charset="0"/>
              </a:rPr>
              <a:t>A</a:t>
            </a:r>
            <a:r>
              <a:rPr lang="en-US" sz="3300" dirty="0">
                <a:cs typeface="Times New Roman" pitchFamily="18" charset="0"/>
              </a:rPr>
              <a:t>.</a:t>
            </a:r>
          </a:p>
          <a:p>
            <a:endParaRPr lang="en-US" sz="3300" dirty="0">
              <a:cs typeface="Times New Roman" pitchFamily="18" charset="0"/>
            </a:endParaRPr>
          </a:p>
          <a:p>
            <a:pPr marL="0" indent="0">
              <a:buNone/>
            </a:pPr>
            <a:r>
              <a:rPr lang="en-US" sz="3300" dirty="0">
                <a:cs typeface="Times New Roman" pitchFamily="18" charset="0"/>
              </a:rPr>
              <a:t>Example:</a:t>
            </a:r>
          </a:p>
          <a:p>
            <a:pPr>
              <a:buNone/>
            </a:pPr>
            <a:r>
              <a:rPr lang="en-US" sz="3300" dirty="0">
                <a:cs typeface="Times New Roman" pitchFamily="18" charset="0"/>
              </a:rPr>
              <a:t>	In the die example, what is the complement of following event?</a:t>
            </a:r>
          </a:p>
          <a:p>
            <a:pPr>
              <a:buNone/>
            </a:pPr>
            <a:r>
              <a:rPr lang="en-US" sz="3300" i="1" dirty="0">
                <a:cs typeface="Times New Roman" pitchFamily="18" charset="0"/>
              </a:rPr>
              <a:t>			A</a:t>
            </a:r>
            <a:r>
              <a:rPr lang="en-US" sz="3300" dirty="0">
                <a:cs typeface="Times New Roman" pitchFamily="18" charset="0"/>
              </a:rPr>
              <a:t> = {1, 3, 5}</a:t>
            </a:r>
          </a:p>
          <a:p>
            <a:pPr>
              <a:buNone/>
            </a:pPr>
            <a:endParaRPr lang="en-US" sz="3300" dirty="0">
              <a:cs typeface="Times New Roman" pitchFamily="18" charset="0"/>
            </a:endParaRPr>
          </a:p>
          <a:p>
            <a:pPr>
              <a:buNone/>
            </a:pPr>
            <a:r>
              <a:rPr lang="en-US" sz="3300" dirty="0">
                <a:cs typeface="Times New Roman" pitchFamily="18" charset="0"/>
              </a:rPr>
              <a:t>	</a:t>
            </a:r>
          </a:p>
          <a:p>
            <a:pPr>
              <a:buNone/>
            </a:pPr>
            <a:r>
              <a:rPr lang="en-US" sz="3300" dirty="0">
                <a:cs typeface="Times New Roman" pitchFamily="18" charset="0"/>
              </a:rPr>
              <a:t>What is the union of </a:t>
            </a:r>
            <a:r>
              <a:rPr lang="en-US" sz="3300" i="1" dirty="0">
                <a:cs typeface="Times New Roman" pitchFamily="18" charset="0"/>
              </a:rPr>
              <a:t>A</a:t>
            </a:r>
            <a:r>
              <a:rPr lang="en-US" sz="3300" dirty="0">
                <a:cs typeface="Times New Roman" pitchFamily="18" charset="0"/>
              </a:rPr>
              <a:t> and </a:t>
            </a:r>
            <a:r>
              <a:rPr lang="en-US" sz="3300" i="1" dirty="0">
                <a:cs typeface="Times New Roman" pitchFamily="18" charset="0"/>
              </a:rPr>
              <a:t>A</a:t>
            </a:r>
            <a:r>
              <a:rPr lang="en-US" sz="3300" dirty="0">
                <a:cs typeface="Times New Roman" pitchFamily="18" charset="0"/>
              </a:rPr>
              <a:t>' ?</a:t>
            </a:r>
          </a:p>
          <a:p>
            <a:pPr>
              <a:buNone/>
            </a:pPr>
            <a:endParaRPr lang="en-US" dirty="0">
              <a:latin typeface="Times New Roman" pitchFamily="18" charset="0"/>
              <a:cs typeface="Times New Roman" pitchFamily="18" charset="0"/>
            </a:endParaRPr>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87962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sz="3600" dirty="0">
                <a:cs typeface="Times New Roman" pitchFamily="18" charset="0"/>
              </a:rPr>
              <a:t>Definitions</a:t>
            </a:r>
            <a:endParaRPr lang="en-US" sz="3600" dirty="0"/>
          </a:p>
        </p:txBody>
      </p:sp>
      <p:sp>
        <p:nvSpPr>
          <p:cNvPr id="3" name="Slide Number Placeholder 2"/>
          <p:cNvSpPr>
            <a:spLocks noGrp="1"/>
          </p:cNvSpPr>
          <p:nvPr>
            <p:ph type="sldNum" sz="quarter" idx="12"/>
          </p:nvPr>
        </p:nvSpPr>
        <p:spPr/>
        <p:txBody>
          <a:bodyPr/>
          <a:lstStyle/>
          <a:p>
            <a:fld id="{066C4DAF-6593-41FF-841C-207F004CEB8C}" type="slidenum">
              <a:rPr lang="en-US" smtClean="0"/>
              <a:pPr/>
              <a:t>13</a:t>
            </a:fld>
            <a:endParaRPr lang="en-US"/>
          </a:p>
        </p:txBody>
      </p:sp>
      <p:sp>
        <p:nvSpPr>
          <p:cNvPr id="4" name="Content Placeholder 3"/>
          <p:cNvSpPr>
            <a:spLocks noGrp="1"/>
          </p:cNvSpPr>
          <p:nvPr>
            <p:ph sz="quarter" idx="1"/>
          </p:nvPr>
        </p:nvSpPr>
        <p:spPr>
          <a:xfrm>
            <a:off x="1981200" y="1143000"/>
            <a:ext cx="8229600" cy="5213350"/>
          </a:xfrm>
        </p:spPr>
        <p:txBody>
          <a:bodyPr>
            <a:noAutofit/>
          </a:bodyPr>
          <a:lstStyle/>
          <a:p>
            <a:pPr marL="0" indent="0">
              <a:buNone/>
            </a:pPr>
            <a:r>
              <a:rPr lang="en-US" sz="2800" dirty="0">
                <a:cs typeface="Times New Roman" pitchFamily="18" charset="0"/>
              </a:rPr>
              <a:t>If two events, </a:t>
            </a:r>
            <a:r>
              <a:rPr lang="en-US" sz="2800" i="1" dirty="0">
                <a:cs typeface="Times New Roman" pitchFamily="18" charset="0"/>
              </a:rPr>
              <a:t>A</a:t>
            </a:r>
            <a:r>
              <a:rPr lang="en-US" sz="2800" dirty="0">
                <a:cs typeface="Times New Roman" pitchFamily="18" charset="0"/>
              </a:rPr>
              <a:t> and </a:t>
            </a:r>
            <a:r>
              <a:rPr lang="en-US" sz="2800" i="1" dirty="0">
                <a:cs typeface="Times New Roman" pitchFamily="18" charset="0"/>
              </a:rPr>
              <a:t>B</a:t>
            </a:r>
            <a:r>
              <a:rPr lang="en-US" sz="2800" dirty="0">
                <a:cs typeface="Times New Roman" pitchFamily="18" charset="0"/>
              </a:rPr>
              <a:t> have no outcomes in common, they are said to be </a:t>
            </a:r>
            <a:r>
              <a:rPr lang="en-US" sz="2800" b="1" dirty="0">
                <a:cs typeface="Times New Roman" pitchFamily="18" charset="0"/>
              </a:rPr>
              <a:t>mutually exclusive</a:t>
            </a:r>
            <a:r>
              <a:rPr lang="en-US" sz="2800" dirty="0">
                <a:cs typeface="Times New Roman" pitchFamily="18" charset="0"/>
              </a:rPr>
              <a:t> or </a:t>
            </a:r>
            <a:r>
              <a:rPr lang="en-US" sz="2800" b="1" dirty="0">
                <a:cs typeface="Times New Roman" pitchFamily="18" charset="0"/>
              </a:rPr>
              <a:t>disjoint</a:t>
            </a:r>
            <a:r>
              <a:rPr lang="en-US" sz="2800" dirty="0">
                <a:cs typeface="Times New Roman" pitchFamily="18" charset="0"/>
              </a:rPr>
              <a:t> events.  This means that if one of them occurs, the other cannot.</a:t>
            </a:r>
          </a:p>
          <a:p>
            <a:endParaRPr lang="en-US" sz="2800" dirty="0">
              <a:cs typeface="Times New Roman" pitchFamily="18" charset="0"/>
            </a:endParaRPr>
          </a:p>
          <a:p>
            <a:pPr marL="0" indent="0">
              <a:buNone/>
            </a:pPr>
            <a:r>
              <a:rPr lang="en-US" sz="2800" dirty="0">
                <a:cs typeface="Times New Roman" pitchFamily="18" charset="0"/>
              </a:rPr>
              <a:t>Example:</a:t>
            </a:r>
          </a:p>
          <a:p>
            <a:pPr>
              <a:buNone/>
            </a:pPr>
            <a:r>
              <a:rPr lang="en-US" sz="2800" dirty="0">
                <a:cs typeface="Times New Roman" pitchFamily="18" charset="0"/>
              </a:rPr>
              <a:t>	In our die example, define event </a:t>
            </a:r>
            <a:r>
              <a:rPr lang="en-US" sz="2800" i="1" dirty="0">
                <a:cs typeface="Times New Roman" pitchFamily="18" charset="0"/>
              </a:rPr>
              <a:t>C</a:t>
            </a:r>
            <a:r>
              <a:rPr lang="en-US" sz="2800" dirty="0">
                <a:cs typeface="Times New Roman" pitchFamily="18" charset="0"/>
              </a:rPr>
              <a:t> as observing an even number. What is the intersection of events </a:t>
            </a:r>
            <a:r>
              <a:rPr lang="en-US" sz="2800" i="1" dirty="0">
                <a:cs typeface="Times New Roman" pitchFamily="18" charset="0"/>
              </a:rPr>
              <a:t>A</a:t>
            </a:r>
            <a:r>
              <a:rPr lang="en-US" sz="2800" dirty="0">
                <a:cs typeface="Times New Roman" pitchFamily="18" charset="0"/>
              </a:rPr>
              <a:t> and </a:t>
            </a:r>
            <a:r>
              <a:rPr lang="en-US" sz="2800" i="1" dirty="0">
                <a:cs typeface="Times New Roman" pitchFamily="18" charset="0"/>
              </a:rPr>
              <a:t>C</a:t>
            </a:r>
            <a:r>
              <a:rPr lang="en-US" sz="2800" dirty="0">
                <a:cs typeface="Times New Roman" pitchFamily="18" charset="0"/>
              </a:rPr>
              <a:t>? </a:t>
            </a:r>
          </a:p>
          <a:p>
            <a:pPr>
              <a:buNone/>
            </a:pPr>
            <a:r>
              <a:rPr lang="en-US" sz="2800" dirty="0">
                <a:cs typeface="Times New Roman" pitchFamily="18" charset="0"/>
              </a:rPr>
              <a:t>	Remember that </a:t>
            </a:r>
            <a:r>
              <a:rPr lang="en-US" sz="2800" i="1" dirty="0">
                <a:cs typeface="Times New Roman" pitchFamily="18" charset="0"/>
              </a:rPr>
              <a:t>A</a:t>
            </a:r>
            <a:r>
              <a:rPr lang="en-US" sz="2800" dirty="0">
                <a:cs typeface="Times New Roman" pitchFamily="18" charset="0"/>
              </a:rPr>
              <a:t> = {1, 3, 5}</a:t>
            </a:r>
          </a:p>
          <a:p>
            <a:pPr>
              <a:buNone/>
            </a:pPr>
            <a:r>
              <a:rPr lang="en-US" sz="2800" dirty="0">
                <a:cs typeface="Times New Roman" pitchFamily="18" charset="0"/>
              </a:rPr>
              <a:t>	</a:t>
            </a:r>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34809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val 27"/>
          <p:cNvSpPr/>
          <p:nvPr/>
        </p:nvSpPr>
        <p:spPr>
          <a:xfrm>
            <a:off x="3581400" y="4267200"/>
            <a:ext cx="1371600" cy="1295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B</a:t>
            </a:r>
          </a:p>
        </p:txBody>
      </p:sp>
      <p:sp>
        <p:nvSpPr>
          <p:cNvPr id="37" name="Rectangle 36"/>
          <p:cNvSpPr/>
          <p:nvPr/>
        </p:nvSpPr>
        <p:spPr>
          <a:xfrm>
            <a:off x="2590800" y="4038600"/>
            <a:ext cx="2895600" cy="1905000"/>
          </a:xfrm>
          <a:prstGeom prst="rect">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p:cNvSpPr/>
          <p:nvPr/>
        </p:nvSpPr>
        <p:spPr>
          <a:xfrm>
            <a:off x="6019800" y="1503010"/>
            <a:ext cx="2895600" cy="1905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Oval 10"/>
          <p:cNvSpPr/>
          <p:nvPr/>
        </p:nvSpPr>
        <p:spPr>
          <a:xfrm>
            <a:off x="7086600" y="1731610"/>
            <a:ext cx="1371600" cy="1295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itchFamily="18" charset="0"/>
                <a:cs typeface="Times New Roman" pitchFamily="18" charset="0"/>
              </a:rPr>
              <a:t>B</a:t>
            </a:r>
          </a:p>
        </p:txBody>
      </p:sp>
      <p:sp>
        <p:nvSpPr>
          <p:cNvPr id="23" name="Oval 22"/>
          <p:cNvSpPr/>
          <p:nvPr/>
        </p:nvSpPr>
        <p:spPr>
          <a:xfrm>
            <a:off x="6400796" y="1960206"/>
            <a:ext cx="914400" cy="914400"/>
          </a:xfrm>
          <a:prstGeom prst="ellipse">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A</a:t>
            </a:r>
          </a:p>
        </p:txBody>
      </p:sp>
      <p:sp>
        <p:nvSpPr>
          <p:cNvPr id="22" name="Oval 21"/>
          <p:cNvSpPr/>
          <p:nvPr/>
        </p:nvSpPr>
        <p:spPr>
          <a:xfrm>
            <a:off x="7086596" y="1731606"/>
            <a:ext cx="1371600" cy="1295400"/>
          </a:xfrm>
          <a:prstGeom prst="ellipse">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B</a:t>
            </a:r>
          </a:p>
        </p:txBody>
      </p:sp>
      <p:sp>
        <p:nvSpPr>
          <p:cNvPr id="2" name="Title 1"/>
          <p:cNvSpPr>
            <a:spLocks noGrp="1"/>
          </p:cNvSpPr>
          <p:nvPr>
            <p:ph type="title"/>
          </p:nvPr>
        </p:nvSpPr>
        <p:spPr/>
        <p:txBody>
          <a:bodyPr/>
          <a:lstStyle/>
          <a:p>
            <a:r>
              <a:rPr lang="en-US" sz="3600" dirty="0">
                <a:cs typeface="Times New Roman" pitchFamily="18" charset="0"/>
              </a:rPr>
              <a:t>Theory of Sets and Venn Diagram</a:t>
            </a:r>
            <a:r>
              <a:rPr lang="en-US" dirty="0">
                <a:latin typeface="Times New Roman" pitchFamily="18" charset="0"/>
                <a:cs typeface="Times New Roman" pitchFamily="18" charset="0"/>
              </a:rPr>
              <a:t> </a:t>
            </a:r>
          </a:p>
        </p:txBody>
      </p:sp>
      <p:sp>
        <p:nvSpPr>
          <p:cNvPr id="3" name="Slide Number Placeholder 2"/>
          <p:cNvSpPr>
            <a:spLocks noGrp="1"/>
          </p:cNvSpPr>
          <p:nvPr>
            <p:ph type="sldNum" sz="quarter" idx="12"/>
          </p:nvPr>
        </p:nvSpPr>
        <p:spPr/>
        <p:txBody>
          <a:bodyPr/>
          <a:lstStyle/>
          <a:p>
            <a:fld id="{066C4DAF-6593-41FF-841C-207F004CEB8C}" type="slidenum">
              <a:rPr lang="en-US" smtClean="0"/>
              <a:pPr/>
              <a:t>14</a:t>
            </a:fld>
            <a:endParaRPr lang="en-US"/>
          </a:p>
        </p:txBody>
      </p:sp>
      <p:sp>
        <p:nvSpPr>
          <p:cNvPr id="5" name="Rectangle 4"/>
          <p:cNvSpPr/>
          <p:nvPr/>
        </p:nvSpPr>
        <p:spPr>
          <a:xfrm>
            <a:off x="2667000" y="1503010"/>
            <a:ext cx="2895600" cy="1905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Oval 6"/>
          <p:cNvSpPr/>
          <p:nvPr/>
        </p:nvSpPr>
        <p:spPr>
          <a:xfrm>
            <a:off x="3733800" y="1731610"/>
            <a:ext cx="1371600" cy="1295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B</a:t>
            </a:r>
          </a:p>
        </p:txBody>
      </p:sp>
      <p:sp>
        <p:nvSpPr>
          <p:cNvPr id="6" name="Oval 5"/>
          <p:cNvSpPr/>
          <p:nvPr/>
        </p:nvSpPr>
        <p:spPr>
          <a:xfrm>
            <a:off x="3048000" y="1960210"/>
            <a:ext cx="914400" cy="91440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A</a:t>
            </a:r>
          </a:p>
        </p:txBody>
      </p:sp>
      <p:sp>
        <p:nvSpPr>
          <p:cNvPr id="9" name="TextBox 8"/>
          <p:cNvSpPr txBox="1"/>
          <p:nvPr/>
        </p:nvSpPr>
        <p:spPr>
          <a:xfrm>
            <a:off x="5181600" y="1198210"/>
            <a:ext cx="5334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12" name="Oval 11"/>
          <p:cNvSpPr/>
          <p:nvPr/>
        </p:nvSpPr>
        <p:spPr>
          <a:xfrm>
            <a:off x="6400800" y="1960210"/>
            <a:ext cx="914400" cy="91440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A</a:t>
            </a:r>
          </a:p>
        </p:txBody>
      </p:sp>
      <p:sp>
        <p:nvSpPr>
          <p:cNvPr id="13" name="TextBox 12"/>
          <p:cNvSpPr txBox="1"/>
          <p:nvPr/>
        </p:nvSpPr>
        <p:spPr>
          <a:xfrm>
            <a:off x="8534400" y="1198210"/>
            <a:ext cx="5334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18" name="TextBox 17"/>
          <p:cNvSpPr txBox="1"/>
          <p:nvPr/>
        </p:nvSpPr>
        <p:spPr>
          <a:xfrm>
            <a:off x="3581400" y="3484210"/>
            <a:ext cx="1143000" cy="369332"/>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dirty="0">
                <a:latin typeface="Times New Roman" pitchFamily="18" charset="0"/>
                <a:cs typeface="Times New Roman" pitchFamily="18" charset="0"/>
              </a:rPr>
              <a:t> </a:t>
            </a:r>
            <a:r>
              <a:rPr lang="en-US" dirty="0">
                <a:latin typeface="Times New Roman" pitchFamily="18" charset="0"/>
                <a:cs typeface="Times New Roman" pitchFamily="18" charset="0"/>
                <a:sym typeface="Symbol" pitchFamily="18" charset="2"/>
              </a:rPr>
              <a:t></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B</a:t>
            </a:r>
          </a:p>
        </p:txBody>
      </p:sp>
      <p:sp>
        <p:nvSpPr>
          <p:cNvPr id="19" name="Rectangle 18"/>
          <p:cNvSpPr/>
          <p:nvPr/>
        </p:nvSpPr>
        <p:spPr>
          <a:xfrm>
            <a:off x="7086600" y="3484210"/>
            <a:ext cx="843564" cy="369332"/>
          </a:xfrm>
          <a:prstGeom prst="rect">
            <a:avLst/>
          </a:prstGeom>
        </p:spPr>
        <p:txBody>
          <a:bodyPr wrap="none">
            <a:spAutoFit/>
          </a:bodyPr>
          <a:lstStyle/>
          <a:p>
            <a:r>
              <a:rPr lang="en-US" i="1" dirty="0">
                <a:latin typeface="Times New Roman" pitchFamily="18" charset="0"/>
                <a:cs typeface="Times New Roman" pitchFamily="18" charset="0"/>
              </a:rPr>
              <a:t>A</a:t>
            </a:r>
            <a:r>
              <a:rPr lang="en-US" dirty="0">
                <a:latin typeface="Times New Roman" pitchFamily="18" charset="0"/>
                <a:cs typeface="Times New Roman" pitchFamily="18" charset="0"/>
              </a:rPr>
              <a:t> </a:t>
            </a:r>
            <a:r>
              <a:rPr lang="en-US" dirty="0">
                <a:latin typeface="Times New Roman" pitchFamily="18" charset="0"/>
                <a:cs typeface="Times New Roman" pitchFamily="18" charset="0"/>
                <a:sym typeface="Symbol" pitchFamily="18" charset="2"/>
              </a:rPr>
              <a:t></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B </a:t>
            </a:r>
            <a:endParaRPr lang="en-US" i="1" dirty="0"/>
          </a:p>
        </p:txBody>
      </p:sp>
      <p:sp>
        <p:nvSpPr>
          <p:cNvPr id="24" name="Freeform 23"/>
          <p:cNvSpPr/>
          <p:nvPr/>
        </p:nvSpPr>
        <p:spPr>
          <a:xfrm>
            <a:off x="3744686" y="2079952"/>
            <a:ext cx="228600" cy="658368"/>
          </a:xfrm>
          <a:custGeom>
            <a:avLst/>
            <a:gdLst>
              <a:gd name="connsiteX0" fmla="*/ 76200 w 217714"/>
              <a:gd name="connsiteY0" fmla="*/ 0 h 653143"/>
              <a:gd name="connsiteX1" fmla="*/ 0 w 217714"/>
              <a:gd name="connsiteY1" fmla="*/ 163286 h 653143"/>
              <a:gd name="connsiteX2" fmla="*/ 0 w 217714"/>
              <a:gd name="connsiteY2" fmla="*/ 391886 h 653143"/>
              <a:gd name="connsiteX3" fmla="*/ 54428 w 217714"/>
              <a:gd name="connsiteY3" fmla="*/ 576943 h 653143"/>
              <a:gd name="connsiteX4" fmla="*/ 87085 w 217714"/>
              <a:gd name="connsiteY4" fmla="*/ 653143 h 653143"/>
              <a:gd name="connsiteX5" fmla="*/ 174171 w 217714"/>
              <a:gd name="connsiteY5" fmla="*/ 522514 h 653143"/>
              <a:gd name="connsiteX6" fmla="*/ 217714 w 217714"/>
              <a:gd name="connsiteY6" fmla="*/ 315686 h 653143"/>
              <a:gd name="connsiteX7" fmla="*/ 174171 w 217714"/>
              <a:gd name="connsiteY7" fmla="*/ 152400 h 653143"/>
              <a:gd name="connsiteX8" fmla="*/ 108857 w 217714"/>
              <a:gd name="connsiteY8" fmla="*/ 43543 h 653143"/>
              <a:gd name="connsiteX9" fmla="*/ 76200 w 217714"/>
              <a:gd name="connsiteY9" fmla="*/ 0 h 65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714" h="653143">
                <a:moveTo>
                  <a:pt x="76200" y="0"/>
                </a:moveTo>
                <a:lnTo>
                  <a:pt x="0" y="163286"/>
                </a:lnTo>
                <a:lnTo>
                  <a:pt x="0" y="391886"/>
                </a:lnTo>
                <a:lnTo>
                  <a:pt x="54428" y="576943"/>
                </a:lnTo>
                <a:lnTo>
                  <a:pt x="87085" y="653143"/>
                </a:lnTo>
                <a:lnTo>
                  <a:pt x="174171" y="522514"/>
                </a:lnTo>
                <a:lnTo>
                  <a:pt x="217714" y="315686"/>
                </a:lnTo>
                <a:lnTo>
                  <a:pt x="174171" y="152400"/>
                </a:lnTo>
                <a:lnTo>
                  <a:pt x="108857" y="43543"/>
                </a:lnTo>
                <a:lnTo>
                  <a:pt x="7620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943600" y="4038600"/>
            <a:ext cx="2895600" cy="1905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Oval 20"/>
          <p:cNvSpPr/>
          <p:nvPr/>
        </p:nvSpPr>
        <p:spPr>
          <a:xfrm>
            <a:off x="7239000" y="4267200"/>
            <a:ext cx="1371600" cy="1295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B</a:t>
            </a:r>
          </a:p>
        </p:txBody>
      </p:sp>
      <p:sp>
        <p:nvSpPr>
          <p:cNvPr id="30" name="TextBox 29"/>
          <p:cNvSpPr txBox="1"/>
          <p:nvPr/>
        </p:nvSpPr>
        <p:spPr>
          <a:xfrm>
            <a:off x="5105400" y="3733800"/>
            <a:ext cx="5334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31" name="Oval 30"/>
          <p:cNvSpPr/>
          <p:nvPr/>
        </p:nvSpPr>
        <p:spPr>
          <a:xfrm>
            <a:off x="6248400" y="4495800"/>
            <a:ext cx="914400" cy="91440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A</a:t>
            </a:r>
          </a:p>
        </p:txBody>
      </p:sp>
      <p:sp>
        <p:nvSpPr>
          <p:cNvPr id="32" name="TextBox 31"/>
          <p:cNvSpPr txBox="1"/>
          <p:nvPr/>
        </p:nvSpPr>
        <p:spPr>
          <a:xfrm>
            <a:off x="8458200" y="3733800"/>
            <a:ext cx="5334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33" name="TextBox 32"/>
          <p:cNvSpPr txBox="1"/>
          <p:nvPr/>
        </p:nvSpPr>
        <p:spPr>
          <a:xfrm>
            <a:off x="3733800" y="6019800"/>
            <a:ext cx="533400" cy="369332"/>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dirty="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34" name="Rectangle 33"/>
          <p:cNvSpPr/>
          <p:nvPr/>
        </p:nvSpPr>
        <p:spPr>
          <a:xfrm>
            <a:off x="7010400" y="6031468"/>
            <a:ext cx="1268296" cy="369332"/>
          </a:xfrm>
          <a:prstGeom prst="rect">
            <a:avLst/>
          </a:prstGeom>
        </p:spPr>
        <p:txBody>
          <a:bodyPr wrap="none">
            <a:spAutoFit/>
          </a:bodyPr>
          <a:lstStyle/>
          <a:p>
            <a:r>
              <a:rPr lang="en-US" i="1" dirty="0">
                <a:latin typeface="Times New Roman" pitchFamily="18" charset="0"/>
                <a:cs typeface="Times New Roman" pitchFamily="18" charset="0"/>
              </a:rPr>
              <a:t>A</a:t>
            </a:r>
            <a:r>
              <a:rPr lang="en-US" dirty="0">
                <a:latin typeface="Times New Roman" pitchFamily="18" charset="0"/>
                <a:cs typeface="Times New Roman" pitchFamily="18" charset="0"/>
              </a:rPr>
              <a:t> </a:t>
            </a:r>
            <a:r>
              <a:rPr lang="en-US" dirty="0">
                <a:latin typeface="Times New Roman" pitchFamily="18" charset="0"/>
                <a:cs typeface="Times New Roman" pitchFamily="18" charset="0"/>
                <a:sym typeface="Symbol" pitchFamily="18" charset="2"/>
              </a:rPr>
              <a:t></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B </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sym typeface="Symbol"/>
              </a:rPr>
              <a:t></a:t>
            </a:r>
            <a:r>
              <a:rPr lang="en-US" i="1" dirty="0">
                <a:latin typeface="Times New Roman" pitchFamily="18" charset="0"/>
                <a:cs typeface="Times New Roman" pitchFamily="18" charset="0"/>
              </a:rPr>
              <a:t> </a:t>
            </a:r>
            <a:endParaRPr lang="en-US" i="1" dirty="0"/>
          </a:p>
        </p:txBody>
      </p:sp>
      <p:sp>
        <p:nvSpPr>
          <p:cNvPr id="42" name="Oval 41"/>
          <p:cNvSpPr/>
          <p:nvPr/>
        </p:nvSpPr>
        <p:spPr>
          <a:xfrm>
            <a:off x="3581400" y="4267200"/>
            <a:ext cx="1371600" cy="1295400"/>
          </a:xfrm>
          <a:prstGeom prst="ellipse">
            <a:avLst/>
          </a:prstGeom>
          <a:solidFill>
            <a:schemeClr val="accent6"/>
          </a:solidFill>
          <a:ln w="1270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latin typeface="Times New Roman" pitchFamily="18" charset="0"/>
                <a:cs typeface="Times New Roman" pitchFamily="18" charset="0"/>
              </a:rPr>
              <a:t>B</a:t>
            </a:r>
          </a:p>
        </p:txBody>
      </p:sp>
      <p:sp>
        <p:nvSpPr>
          <p:cNvPr id="29" name="Oval 28"/>
          <p:cNvSpPr/>
          <p:nvPr/>
        </p:nvSpPr>
        <p:spPr>
          <a:xfrm>
            <a:off x="2971800" y="4495800"/>
            <a:ext cx="914400" cy="914400"/>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A</a:t>
            </a:r>
          </a:p>
        </p:txBody>
      </p:sp>
      <p:sp>
        <p:nvSpPr>
          <p:cNvPr id="43" name="Rectangle 42"/>
          <p:cNvSpPr/>
          <p:nvPr/>
        </p:nvSpPr>
        <p:spPr>
          <a:xfrm>
            <a:off x="2590800" y="4038600"/>
            <a:ext cx="2895600" cy="19050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4" name="Oval 43"/>
          <p:cNvSpPr/>
          <p:nvPr/>
        </p:nvSpPr>
        <p:spPr>
          <a:xfrm>
            <a:off x="2971800" y="4495800"/>
            <a:ext cx="914400" cy="914400"/>
          </a:xfrm>
          <a:prstGeom prst="ellipse">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i="1" dirty="0">
                <a:latin typeface="Times New Roman" pitchFamily="18" charset="0"/>
                <a:cs typeface="Times New Roman" pitchFamily="18" charset="0"/>
              </a:rPr>
              <a:t>A</a:t>
            </a:r>
          </a:p>
        </p:txBody>
      </p:sp>
      <p:sp>
        <p:nvSpPr>
          <p:cNvPr id="4" name="Date Placeholder 3"/>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63043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7" grpId="0" animBg="1"/>
      <p:bldP spid="10" grpId="0" animBg="1"/>
      <p:bldP spid="11" grpId="0" animBg="1"/>
      <p:bldP spid="23" grpId="0" animBg="1"/>
      <p:bldP spid="22" grpId="0" animBg="1"/>
      <p:bldP spid="5" grpId="0" animBg="1"/>
      <p:bldP spid="7" grpId="0" animBg="1"/>
      <p:bldP spid="6" grpId="0" animBg="1"/>
      <p:bldP spid="9" grpId="0"/>
      <p:bldP spid="12" grpId="0" animBg="1"/>
      <p:bldP spid="13" grpId="0"/>
      <p:bldP spid="18" grpId="0"/>
      <p:bldP spid="19" grpId="0"/>
      <p:bldP spid="24" grpId="0" animBg="1"/>
      <p:bldP spid="20" grpId="0" animBg="1"/>
      <p:bldP spid="21" grpId="0" animBg="1"/>
      <p:bldP spid="30" grpId="0"/>
      <p:bldP spid="31" grpId="0" animBg="1"/>
      <p:bldP spid="32" grpId="0"/>
      <p:bldP spid="33" grpId="0"/>
      <p:bldP spid="34" grpId="0"/>
      <p:bldP spid="42" grpId="0" animBg="1"/>
      <p:bldP spid="29" grpId="0" animBg="1"/>
      <p:bldP spid="43" grpId="0" animBg="1"/>
      <p:bldP spid="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44562"/>
          </a:xfrm>
        </p:spPr>
        <p:txBody>
          <a:bodyPr/>
          <a:lstStyle/>
          <a:p>
            <a:r>
              <a:rPr lang="en-US" sz="3600" dirty="0">
                <a:cs typeface="Times New Roman" pitchFamily="18" charset="0"/>
              </a:rPr>
              <a:t>Example</a:t>
            </a:r>
          </a:p>
        </p:txBody>
      </p:sp>
      <p:sp>
        <p:nvSpPr>
          <p:cNvPr id="3" name="Slide Number Placeholder 2"/>
          <p:cNvSpPr>
            <a:spLocks noGrp="1"/>
          </p:cNvSpPr>
          <p:nvPr>
            <p:ph type="sldNum" sz="quarter" idx="12"/>
          </p:nvPr>
        </p:nvSpPr>
        <p:spPr/>
        <p:txBody>
          <a:bodyPr/>
          <a:lstStyle/>
          <a:p>
            <a:fld id="{066C4DAF-6593-41FF-841C-207F004CEB8C}" type="slidenum">
              <a:rPr lang="en-US" smtClean="0"/>
              <a:pPr/>
              <a:t>15</a:t>
            </a:fld>
            <a:endParaRPr lang="en-US" dirty="0"/>
          </a:p>
        </p:txBody>
      </p:sp>
      <p:sp>
        <p:nvSpPr>
          <p:cNvPr id="4" name="Content Placeholder 3"/>
          <p:cNvSpPr>
            <a:spLocks noGrp="1"/>
          </p:cNvSpPr>
          <p:nvPr>
            <p:ph sz="quarter" idx="1"/>
          </p:nvPr>
        </p:nvSpPr>
        <p:spPr>
          <a:xfrm>
            <a:off x="1981200" y="1219200"/>
            <a:ext cx="8229600" cy="5105400"/>
          </a:xfrm>
        </p:spPr>
        <p:txBody>
          <a:bodyPr>
            <a:noAutofit/>
          </a:bodyPr>
          <a:lstStyle/>
          <a:p>
            <a:pPr marL="0" indent="0">
              <a:buNone/>
            </a:pPr>
            <a:r>
              <a:rPr lang="en-US" sz="2400" dirty="0">
                <a:cs typeface="Times New Roman" pitchFamily="18" charset="0"/>
              </a:rPr>
              <a:t>We roll 2 dice and read the 2 numbers facing up. </a:t>
            </a:r>
          </a:p>
          <a:p>
            <a:pPr marL="788670" lvl="1" indent="-514350"/>
            <a:r>
              <a:rPr lang="en-US" sz="2400" dirty="0">
                <a:cs typeface="Times New Roman" pitchFamily="18" charset="0"/>
              </a:rPr>
              <a:t>What is the sample space? </a:t>
            </a:r>
          </a:p>
          <a:p>
            <a:pPr marL="788670" lvl="1" indent="-514350">
              <a:buNone/>
            </a:pPr>
            <a:r>
              <a:rPr lang="en-US" sz="2400" dirty="0">
                <a:cs typeface="Times New Roman" pitchFamily="18" charset="0"/>
              </a:rPr>
              <a:t>	</a:t>
            </a:r>
          </a:p>
          <a:p>
            <a:pPr marL="788670" lvl="1" indent="-514350">
              <a:buNone/>
            </a:pPr>
            <a:endParaRPr lang="en-US" sz="2400" dirty="0">
              <a:cs typeface="Times New Roman" pitchFamily="18" charset="0"/>
            </a:endParaRPr>
          </a:p>
          <a:p>
            <a:pPr marL="788670" lvl="1" indent="-514350">
              <a:buNone/>
            </a:pPr>
            <a:endParaRPr lang="en-US" sz="2400" dirty="0">
              <a:cs typeface="Times New Roman" pitchFamily="18" charset="0"/>
            </a:endParaRPr>
          </a:p>
          <a:p>
            <a:pPr marL="788670" lvl="1" indent="-514350">
              <a:buNone/>
            </a:pPr>
            <a:r>
              <a:rPr lang="en-US" sz="2400" dirty="0">
                <a:cs typeface="Times New Roman" pitchFamily="18" charset="0"/>
              </a:rPr>
              <a:t>	</a:t>
            </a:r>
          </a:p>
          <a:p>
            <a:pPr marL="731520" lvl="1" indent="-457200"/>
            <a:r>
              <a:rPr lang="en-US" sz="2400" dirty="0">
                <a:cs typeface="Times New Roman" pitchFamily="18" charset="0"/>
              </a:rPr>
              <a:t>Let </a:t>
            </a:r>
            <a:r>
              <a:rPr lang="en-US" sz="2400" i="1" dirty="0">
                <a:cs typeface="Times New Roman" pitchFamily="18" charset="0"/>
              </a:rPr>
              <a:t>A</a:t>
            </a:r>
            <a:r>
              <a:rPr lang="en-US" sz="2400" dirty="0">
                <a:cs typeface="Times New Roman" pitchFamily="18" charset="0"/>
              </a:rPr>
              <a:t> be the event that both dice show the same number.  How many members does </a:t>
            </a:r>
            <a:r>
              <a:rPr lang="en-US" sz="2400" i="1" dirty="0">
                <a:cs typeface="Times New Roman" pitchFamily="18" charset="0"/>
              </a:rPr>
              <a:t>A</a:t>
            </a:r>
            <a:r>
              <a:rPr lang="en-US" sz="2400" dirty="0">
                <a:cs typeface="Times New Roman" pitchFamily="18" charset="0"/>
              </a:rPr>
              <a:t> complement have? 		</a:t>
            </a:r>
          </a:p>
          <a:p>
            <a:pPr marL="731520" lvl="1" indent="-457200">
              <a:buNone/>
            </a:pPr>
            <a:r>
              <a:rPr lang="en-US" sz="2400" dirty="0">
                <a:cs typeface="Times New Roman" pitchFamily="18" charset="0"/>
              </a:rPr>
              <a:t>	</a:t>
            </a:r>
          </a:p>
          <a:p>
            <a:pPr marL="731520" lvl="1" indent="-457200">
              <a:buNone/>
            </a:pPr>
            <a:endParaRPr lang="en-US" sz="2000" dirty="0">
              <a:latin typeface="Times New Roman" pitchFamily="18" charset="0"/>
              <a:cs typeface="Times New Roman" pitchFamily="18" charset="0"/>
            </a:endParaRPr>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68514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imes New Roman" pitchFamily="18" charset="0"/>
              </a:rPr>
              <a:t>Example</a:t>
            </a:r>
          </a:p>
        </p:txBody>
      </p:sp>
      <p:sp>
        <p:nvSpPr>
          <p:cNvPr id="3" name="Slide Number Placeholder 2"/>
          <p:cNvSpPr>
            <a:spLocks noGrp="1"/>
          </p:cNvSpPr>
          <p:nvPr>
            <p:ph type="sldNum" sz="quarter" idx="12"/>
          </p:nvPr>
        </p:nvSpPr>
        <p:spPr/>
        <p:txBody>
          <a:bodyPr/>
          <a:lstStyle/>
          <a:p>
            <a:fld id="{066C4DAF-6593-41FF-841C-207F004CEB8C}" type="slidenum">
              <a:rPr lang="en-US" smtClean="0"/>
              <a:pPr/>
              <a:t>16</a:t>
            </a:fld>
            <a:endParaRPr lang="en-US" dirty="0"/>
          </a:p>
        </p:txBody>
      </p:sp>
      <p:sp>
        <p:nvSpPr>
          <p:cNvPr id="4" name="Content Placeholder 3"/>
          <p:cNvSpPr>
            <a:spLocks noGrp="1"/>
          </p:cNvSpPr>
          <p:nvPr>
            <p:ph sz="quarter" idx="1"/>
          </p:nvPr>
        </p:nvSpPr>
        <p:spPr>
          <a:xfrm>
            <a:off x="1981200" y="1219200"/>
            <a:ext cx="8229600" cy="5105400"/>
          </a:xfrm>
        </p:spPr>
        <p:txBody>
          <a:bodyPr>
            <a:noAutofit/>
          </a:bodyPr>
          <a:lstStyle/>
          <a:p>
            <a:pPr marL="0" indent="0">
              <a:buNone/>
            </a:pPr>
            <a:r>
              <a:rPr lang="en-US" sz="2400" dirty="0">
                <a:cs typeface="Times New Roman" pitchFamily="18" charset="0"/>
              </a:rPr>
              <a:t>We roll 2 dice and read the 2 numbers facing up. </a:t>
            </a:r>
          </a:p>
          <a:p>
            <a:pPr marL="788670" lvl="1" indent="-514350"/>
            <a:r>
              <a:rPr lang="en-US" sz="2400" dirty="0">
                <a:cs typeface="Times New Roman" pitchFamily="18" charset="0"/>
              </a:rPr>
              <a:t>Let </a:t>
            </a:r>
            <a:r>
              <a:rPr lang="en-US" sz="2400" i="1" dirty="0">
                <a:cs typeface="Times New Roman" pitchFamily="18" charset="0"/>
              </a:rPr>
              <a:t>B</a:t>
            </a:r>
            <a:r>
              <a:rPr lang="en-US" sz="2400" dirty="0">
                <a:cs typeface="Times New Roman" pitchFamily="18" charset="0"/>
              </a:rPr>
              <a:t> be the event that at least one of the dice shows a 1. What is the union of </a:t>
            </a:r>
            <a:r>
              <a:rPr lang="en-US" sz="2400" i="1" dirty="0">
                <a:cs typeface="Times New Roman" pitchFamily="18" charset="0"/>
              </a:rPr>
              <a:t>A</a:t>
            </a:r>
            <a:r>
              <a:rPr lang="en-US" sz="2400" dirty="0">
                <a:cs typeface="Times New Roman" pitchFamily="18" charset="0"/>
              </a:rPr>
              <a:t> and </a:t>
            </a:r>
            <a:r>
              <a:rPr lang="en-US" sz="2400" i="1" dirty="0">
                <a:cs typeface="Times New Roman" pitchFamily="18" charset="0"/>
              </a:rPr>
              <a:t>B</a:t>
            </a:r>
            <a:r>
              <a:rPr lang="en-US" sz="2400" dirty="0">
                <a:cs typeface="Times New Roman" pitchFamily="18" charset="0"/>
              </a:rPr>
              <a:t>?</a:t>
            </a:r>
          </a:p>
          <a:p>
            <a:pPr marL="788670" lvl="1" indent="-514350">
              <a:buNone/>
            </a:pPr>
            <a:endParaRPr lang="en-US" sz="2400" dirty="0">
              <a:cs typeface="Times New Roman" pitchFamily="18" charset="0"/>
            </a:endParaRPr>
          </a:p>
          <a:p>
            <a:pPr marL="788670" lvl="1" indent="-514350">
              <a:buNone/>
            </a:pPr>
            <a:endParaRPr lang="en-US" sz="2400" dirty="0">
              <a:cs typeface="Times New Roman" pitchFamily="18" charset="0"/>
            </a:endParaRPr>
          </a:p>
          <a:p>
            <a:pPr marL="788670" lvl="1" indent="-514350">
              <a:buNone/>
            </a:pPr>
            <a:endParaRPr lang="en-US" sz="2400" dirty="0">
              <a:cs typeface="Times New Roman" pitchFamily="18" charset="0"/>
            </a:endParaRPr>
          </a:p>
          <a:p>
            <a:pPr marL="788670" lvl="1" indent="-514350">
              <a:buNone/>
            </a:pPr>
            <a:endParaRPr lang="en-US" sz="2400" dirty="0"/>
          </a:p>
          <a:p>
            <a:pPr marL="788670" lvl="1" indent="-514350">
              <a:buNone/>
            </a:pPr>
            <a:endParaRPr lang="en-US" sz="2400" dirty="0">
              <a:cs typeface="Times New Roman" pitchFamily="18" charset="0"/>
            </a:endParaRPr>
          </a:p>
          <a:p>
            <a:pPr marL="788670" lvl="1" indent="-514350">
              <a:buNone/>
            </a:pPr>
            <a:endParaRPr lang="en-US" sz="2400" dirty="0"/>
          </a:p>
          <a:p>
            <a:pPr marL="731520" lvl="1" indent="-457200"/>
            <a:r>
              <a:rPr lang="en-US" sz="2400" dirty="0">
                <a:cs typeface="Times New Roman" pitchFamily="18" charset="0"/>
              </a:rPr>
              <a:t> What is the intersection of </a:t>
            </a:r>
            <a:r>
              <a:rPr lang="en-US" sz="2400" i="1" dirty="0">
                <a:cs typeface="Times New Roman" pitchFamily="18" charset="0"/>
              </a:rPr>
              <a:t>A</a:t>
            </a:r>
            <a:r>
              <a:rPr lang="en-US" sz="2400" dirty="0">
                <a:cs typeface="Times New Roman" pitchFamily="18" charset="0"/>
              </a:rPr>
              <a:t> and </a:t>
            </a:r>
            <a:r>
              <a:rPr lang="en-US" sz="2400" i="1" dirty="0">
                <a:cs typeface="Times New Roman" pitchFamily="18" charset="0"/>
              </a:rPr>
              <a:t>B</a:t>
            </a:r>
            <a:r>
              <a:rPr lang="en-US" sz="2400" dirty="0">
                <a:cs typeface="Times New Roman" pitchFamily="18" charset="0"/>
              </a:rPr>
              <a:t>? </a:t>
            </a:r>
          </a:p>
          <a:p>
            <a:pPr marL="731520" lvl="1" indent="-457200">
              <a:buNone/>
            </a:pPr>
            <a:endParaRPr lang="en-US" sz="2400" dirty="0">
              <a:cs typeface="Times New Roman" pitchFamily="18" charset="0"/>
            </a:endParaRPr>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9448679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67204" y="0"/>
            <a:ext cx="8229600" cy="1143000"/>
          </a:xfrm>
        </p:spPr>
        <p:txBody>
          <a:bodyPr/>
          <a:lstStyle/>
          <a:p>
            <a:r>
              <a:rPr lang="en-US" altLang="en-US" sz="3600" dirty="0"/>
              <a:t>Example: Events of the sample space </a:t>
            </a:r>
            <a:r>
              <a:rPr lang="en-US" altLang="en-US" sz="3600" i="1" dirty="0"/>
              <a:t>S</a:t>
            </a:r>
          </a:p>
        </p:txBody>
      </p:sp>
      <p:pic>
        <p:nvPicPr>
          <p:cNvPr id="22531" name="Picture 4" descr="02_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7204" y="1417639"/>
            <a:ext cx="51816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DC0D5635-7541-40DA-B0BF-E30E0D2B3316}" type="slidenum">
              <a:rPr lang="it-IT" altLang="en-US" smtClean="0"/>
              <a:pPr>
                <a:defRPr/>
              </a:pPr>
              <a:t>17</a:t>
            </a:fld>
            <a:endParaRPr lang="it-IT" altLang="en-US"/>
          </a:p>
        </p:txBody>
      </p:sp>
      <p:sp>
        <p:nvSpPr>
          <p:cNvPr id="3" name="Date Placeholder 2"/>
          <p:cNvSpPr>
            <a:spLocks noGrp="1"/>
          </p:cNvSpPr>
          <p:nvPr>
            <p:ph type="dt" sz="half" idx="10"/>
          </p:nvPr>
        </p:nvSpPr>
        <p:spPr/>
        <p:txBody>
          <a:bodyPr/>
          <a:lstStyle/>
          <a:p>
            <a:pPr>
              <a:defRPr/>
            </a:pPr>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81200" y="274638"/>
            <a:ext cx="8229600" cy="715962"/>
          </a:xfrm>
          <a:noFill/>
        </p:spPr>
        <p:txBody>
          <a:bodyPr/>
          <a:lstStyle/>
          <a:p>
            <a:pPr algn="l" eaLnBrk="1" hangingPunct="1"/>
            <a:r>
              <a:rPr lang="en-US" altLang="en-US" sz="3600"/>
              <a:t>Example</a:t>
            </a:r>
          </a:p>
        </p:txBody>
      </p:sp>
      <p:sp>
        <p:nvSpPr>
          <p:cNvPr id="147459" name="Rectangle 3"/>
          <p:cNvSpPr>
            <a:spLocks noGrp="1" noChangeArrowheads="1"/>
          </p:cNvSpPr>
          <p:nvPr>
            <p:ph idx="1"/>
          </p:nvPr>
        </p:nvSpPr>
        <p:spPr>
          <a:xfrm>
            <a:off x="1978025" y="1001713"/>
            <a:ext cx="8229600" cy="4906962"/>
          </a:xfrm>
        </p:spPr>
        <p:txBody>
          <a:bodyPr/>
          <a:lstStyle/>
          <a:p>
            <a:pPr marL="0" indent="0" eaLnBrk="1" hangingPunct="1">
              <a:buNone/>
              <a:tabLst>
                <a:tab pos="457200" algn="l"/>
                <a:tab pos="1371600" algn="l"/>
                <a:tab pos="1547813" algn="l"/>
              </a:tabLst>
            </a:pPr>
            <a:r>
              <a:rPr lang="en-US" altLang="en-US" sz="2400" dirty="0">
                <a:sym typeface="Symbol" panose="05050102010706020507" pitchFamily="18" charset="2"/>
              </a:rPr>
              <a:t>For the experiment in which the number of pumps in use at a single six-pump gas station is observed,</a:t>
            </a:r>
          </a:p>
          <a:p>
            <a:pPr marL="0" indent="0" eaLnBrk="1" hangingPunct="1">
              <a:buNone/>
              <a:tabLst>
                <a:tab pos="457200" algn="l"/>
                <a:tab pos="1371600" algn="l"/>
                <a:tab pos="1547813" algn="l"/>
              </a:tabLst>
            </a:pPr>
            <a:r>
              <a:rPr lang="en-US" altLang="en-US" sz="2400" dirty="0">
                <a:sym typeface="Symbol" panose="05050102010706020507" pitchFamily="18" charset="2"/>
              </a:rPr>
              <a:t>let </a:t>
            </a:r>
            <a:r>
              <a:rPr lang="en-US" altLang="en-US" sz="2400" i="1" dirty="0">
                <a:sym typeface="Symbol" panose="05050102010706020507" pitchFamily="18" charset="2"/>
              </a:rPr>
              <a:t>A </a:t>
            </a:r>
            <a:r>
              <a:rPr lang="en-US" altLang="en-US" sz="2400" dirty="0">
                <a:sym typeface="Symbol" panose="05050102010706020507" pitchFamily="18" charset="2"/>
              </a:rPr>
              <a:t>= {0, 1, 2, 3, 4}, </a:t>
            </a:r>
            <a:r>
              <a:rPr lang="en-US" altLang="en-US" sz="2400" i="1" dirty="0">
                <a:sym typeface="Symbol" panose="05050102010706020507" pitchFamily="18" charset="2"/>
              </a:rPr>
              <a:t>B </a:t>
            </a:r>
            <a:r>
              <a:rPr lang="en-US" altLang="en-US" sz="2400" dirty="0">
                <a:sym typeface="Symbol" panose="05050102010706020507" pitchFamily="18" charset="2"/>
              </a:rPr>
              <a:t>= {3, 4, 5, 6}, and </a:t>
            </a:r>
            <a:r>
              <a:rPr lang="en-US" altLang="en-US" sz="2400" i="1" dirty="0">
                <a:sym typeface="Symbol" panose="05050102010706020507" pitchFamily="18" charset="2"/>
              </a:rPr>
              <a:t>C </a:t>
            </a:r>
            <a:r>
              <a:rPr lang="en-US" altLang="en-US" sz="2400" dirty="0">
                <a:sym typeface="Symbol" panose="05050102010706020507" pitchFamily="18" charset="2"/>
              </a:rPr>
              <a:t>= {1, 3, 5}.</a:t>
            </a:r>
          </a:p>
          <a:p>
            <a:pPr marL="0" indent="0" eaLnBrk="1" hangingPunct="1">
              <a:buNone/>
              <a:tabLst>
                <a:tab pos="457200" algn="l"/>
                <a:tab pos="1371600" algn="l"/>
                <a:tab pos="1547813" algn="l"/>
              </a:tabLst>
            </a:pPr>
            <a:r>
              <a:rPr lang="en-US" altLang="en-US" sz="2400" dirty="0">
                <a:sym typeface="Symbol" panose="05050102010706020507" pitchFamily="18" charset="2"/>
              </a:rPr>
              <a:t>Then</a:t>
            </a:r>
          </a:p>
          <a:p>
            <a:pPr marL="0" indent="0" eaLnBrk="1" hangingPunct="1">
              <a:buNone/>
              <a:tabLst>
                <a:tab pos="457200" algn="l"/>
                <a:tab pos="1371600" algn="l"/>
                <a:tab pos="1547813" algn="l"/>
              </a:tabLst>
            </a:pPr>
            <a:r>
              <a:rPr lang="en-US" altLang="en-US" sz="2400" i="1" dirty="0"/>
              <a:t>A</a:t>
            </a:r>
            <a:r>
              <a:rPr lang="en-US" altLang="en-US" sz="2400" dirty="0">
                <a:sym typeface="Symbol" panose="05050102010706020507" pitchFamily="18" charset="2"/>
              </a:rPr>
              <a:t> =</a:t>
            </a:r>
            <a:br>
              <a:rPr lang="en-US" altLang="en-US" sz="2400" dirty="0">
                <a:sym typeface="Symbol" panose="05050102010706020507" pitchFamily="18" charset="2"/>
              </a:rPr>
            </a:br>
            <a:r>
              <a:rPr lang="en-US" altLang="en-US" sz="2400" i="1" dirty="0"/>
              <a:t>A </a:t>
            </a:r>
            <a:r>
              <a:rPr lang="en-US" altLang="en-US" sz="2400" dirty="0">
                <a:sym typeface="Symbol" panose="05050102010706020507" pitchFamily="18" charset="2"/>
              </a:rPr>
              <a:t> </a:t>
            </a:r>
            <a:r>
              <a:rPr lang="en-US" altLang="en-US" sz="2400" i="1" dirty="0"/>
              <a:t>B </a:t>
            </a:r>
            <a:r>
              <a:rPr lang="en-US" altLang="en-US" sz="2400" dirty="0">
                <a:sym typeface="Symbol" panose="05050102010706020507" pitchFamily="18" charset="2"/>
              </a:rPr>
              <a:t>= </a:t>
            </a:r>
          </a:p>
          <a:p>
            <a:pPr marL="0" indent="0" eaLnBrk="1" hangingPunct="1">
              <a:buNone/>
              <a:tabLst>
                <a:tab pos="457200" algn="l"/>
                <a:tab pos="1371600" algn="l"/>
                <a:tab pos="1547813" algn="l"/>
              </a:tabLst>
            </a:pPr>
            <a:r>
              <a:rPr lang="en-US" altLang="en-US" sz="2400" i="1" dirty="0"/>
              <a:t>A </a:t>
            </a:r>
            <a:r>
              <a:rPr lang="en-US" altLang="en-US" sz="2400" dirty="0">
                <a:sym typeface="Symbol" panose="05050102010706020507" pitchFamily="18" charset="2"/>
              </a:rPr>
              <a:t> </a:t>
            </a:r>
            <a:r>
              <a:rPr lang="en-US" altLang="en-US" sz="2400" i="1" dirty="0"/>
              <a:t>C </a:t>
            </a:r>
            <a:r>
              <a:rPr lang="en-US" altLang="en-US" sz="2400" dirty="0">
                <a:sym typeface="Symbol" panose="05050102010706020507" pitchFamily="18" charset="2"/>
              </a:rPr>
              <a:t>= </a:t>
            </a:r>
          </a:p>
          <a:p>
            <a:pPr marL="0" indent="0" eaLnBrk="1" hangingPunct="1">
              <a:buNone/>
              <a:tabLst>
                <a:tab pos="457200" algn="l"/>
                <a:tab pos="1371600" algn="l"/>
                <a:tab pos="1547813" algn="l"/>
              </a:tabLst>
            </a:pPr>
            <a:r>
              <a:rPr lang="en-US" altLang="en-US" sz="2400" i="1" dirty="0">
                <a:sym typeface="Symbol" panose="05050102010706020507" pitchFamily="18" charset="2"/>
              </a:rPr>
              <a:t>A </a:t>
            </a:r>
            <a:r>
              <a:rPr lang="en-US" altLang="en-US" sz="2400" dirty="0">
                <a:sym typeface="Symbol" panose="05050102010706020507" pitchFamily="18" charset="2"/>
              </a:rPr>
              <a:t></a:t>
            </a:r>
            <a:r>
              <a:rPr lang="en-US" altLang="en-US" sz="2400" b="1" dirty="0">
                <a:sym typeface="Symbol" panose="05050102010706020507" pitchFamily="18" charset="2"/>
              </a:rPr>
              <a:t> </a:t>
            </a:r>
            <a:r>
              <a:rPr lang="en-US" altLang="en-US" sz="2400" i="1" dirty="0">
                <a:sym typeface="Symbol" panose="05050102010706020507" pitchFamily="18" charset="2"/>
              </a:rPr>
              <a:t>B </a:t>
            </a:r>
            <a:r>
              <a:rPr lang="en-US" altLang="en-US" sz="2400" dirty="0">
                <a:sym typeface="Symbol" panose="05050102010706020507" pitchFamily="18" charset="2"/>
              </a:rPr>
              <a:t>=</a:t>
            </a:r>
          </a:p>
          <a:p>
            <a:pPr marL="0" indent="0" eaLnBrk="1" hangingPunct="1">
              <a:buNone/>
              <a:tabLst>
                <a:tab pos="457200" algn="l"/>
                <a:tab pos="1371600" algn="l"/>
                <a:tab pos="1547813" algn="l"/>
              </a:tabLst>
            </a:pPr>
            <a:r>
              <a:rPr lang="en-US" altLang="en-US" sz="2400" i="1" dirty="0">
                <a:sym typeface="Symbol" panose="05050102010706020507" pitchFamily="18" charset="2"/>
              </a:rPr>
              <a:t>A </a:t>
            </a:r>
            <a:r>
              <a:rPr lang="en-US" altLang="en-US" sz="2400" dirty="0">
                <a:sym typeface="Symbol" panose="05050102010706020507" pitchFamily="18" charset="2"/>
              </a:rPr>
              <a:t></a:t>
            </a:r>
            <a:r>
              <a:rPr lang="en-US" altLang="en-US" sz="2400" b="1" dirty="0">
                <a:sym typeface="Symbol" panose="05050102010706020507" pitchFamily="18" charset="2"/>
              </a:rPr>
              <a:t> </a:t>
            </a:r>
            <a:r>
              <a:rPr lang="en-US" altLang="en-US" sz="2400" i="1" dirty="0">
                <a:sym typeface="Symbol" panose="05050102010706020507" pitchFamily="18" charset="2"/>
              </a:rPr>
              <a:t>C </a:t>
            </a:r>
            <a:r>
              <a:rPr lang="en-US" altLang="en-US" sz="2400" dirty="0">
                <a:sym typeface="Symbol" panose="05050102010706020507" pitchFamily="18" charset="2"/>
              </a:rPr>
              <a:t>= </a:t>
            </a:r>
          </a:p>
          <a:p>
            <a:pPr marL="0" indent="0" eaLnBrk="1" hangingPunct="1">
              <a:buNone/>
              <a:tabLst>
                <a:tab pos="457200" algn="l"/>
                <a:tab pos="1371600" algn="l"/>
                <a:tab pos="1547813" algn="l"/>
              </a:tabLst>
            </a:pPr>
            <a:r>
              <a:rPr lang="en-US" altLang="en-US" sz="2400" dirty="0">
                <a:sym typeface="Symbol" panose="05050102010706020507" pitchFamily="18" charset="2"/>
              </a:rPr>
              <a:t>(</a:t>
            </a:r>
            <a:r>
              <a:rPr lang="en-US" altLang="en-US" sz="2400" i="1" dirty="0">
                <a:sym typeface="Symbol" panose="05050102010706020507" pitchFamily="18" charset="2"/>
              </a:rPr>
              <a:t>A </a:t>
            </a:r>
            <a:r>
              <a:rPr lang="en-US" altLang="en-US" sz="2400" dirty="0">
                <a:sym typeface="Symbol" panose="05050102010706020507" pitchFamily="18" charset="2"/>
              </a:rPr>
              <a:t></a:t>
            </a:r>
            <a:r>
              <a:rPr lang="en-US" altLang="en-US" sz="2400" b="1" dirty="0">
                <a:sym typeface="Symbol" panose="05050102010706020507" pitchFamily="18" charset="2"/>
              </a:rPr>
              <a:t> </a:t>
            </a:r>
            <a:r>
              <a:rPr lang="en-US" altLang="en-US" sz="2400" i="1" dirty="0">
                <a:sym typeface="Symbol" panose="05050102010706020507" pitchFamily="18" charset="2"/>
              </a:rPr>
              <a:t>C</a:t>
            </a:r>
            <a:r>
              <a:rPr lang="en-US" altLang="en-US" sz="2400" dirty="0">
                <a:sym typeface="Symbol" panose="05050102010706020507" pitchFamily="18" charset="2"/>
              </a:rPr>
              <a:t>) = </a:t>
            </a:r>
          </a:p>
          <a:p>
            <a:pPr marL="0" indent="0" eaLnBrk="1" hangingPunct="1">
              <a:buNone/>
              <a:tabLst>
                <a:tab pos="457200" algn="l"/>
                <a:tab pos="1371600" algn="l"/>
                <a:tab pos="1547813" algn="l"/>
              </a:tabLst>
            </a:pPr>
            <a:endParaRPr lang="en-US" altLang="en-US" sz="2400" dirty="0">
              <a:sym typeface="Symbol" panose="05050102010706020507" pitchFamily="18" charset="2"/>
            </a:endParaRPr>
          </a:p>
        </p:txBody>
      </p:sp>
      <p:sp>
        <p:nvSpPr>
          <p:cNvPr id="2" name="Slide Number Placeholder 1"/>
          <p:cNvSpPr>
            <a:spLocks noGrp="1"/>
          </p:cNvSpPr>
          <p:nvPr>
            <p:ph type="sldNum" sz="quarter" idx="12"/>
          </p:nvPr>
        </p:nvSpPr>
        <p:spPr/>
        <p:txBody>
          <a:bodyPr/>
          <a:lstStyle/>
          <a:p>
            <a:pPr>
              <a:defRPr/>
            </a:pPr>
            <a:fld id="{DC0D5635-7541-40DA-B0BF-E30E0D2B3316}" type="slidenum">
              <a:rPr lang="it-IT" altLang="en-US" smtClean="0"/>
              <a:pPr>
                <a:defRPr/>
              </a:pPr>
              <a:t>18</a:t>
            </a:fld>
            <a:endParaRPr lang="it-IT" altLang="en-US"/>
          </a:p>
        </p:txBody>
      </p:sp>
      <p:sp>
        <p:nvSpPr>
          <p:cNvPr id="3" name="Date Placeholder 2"/>
          <p:cNvSpPr>
            <a:spLocks noGrp="1"/>
          </p:cNvSpPr>
          <p:nvPr>
            <p:ph type="dt" sz="half" idx="10"/>
          </p:nvPr>
        </p:nvSpPr>
        <p:spPr/>
        <p:txBody>
          <a:bodyPr/>
          <a:lstStyle/>
          <a:p>
            <a:pPr>
              <a:defRPr/>
            </a:pPr>
            <a:endParaRPr lang="it-IT"/>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147459">
                                            <p:txEl>
                                              <p:pRg st="2" end="2"/>
                                            </p:txEl>
                                          </p:spTgt>
                                        </p:tgtEl>
                                        <p:attrNameLst>
                                          <p:attrName>style.visibility</p:attrName>
                                        </p:attrNameLst>
                                      </p:cBhvr>
                                      <p:to>
                                        <p:strVal val="visible"/>
                                      </p:to>
                                    </p:set>
                                    <p:animEffect transition="in" filter="fade">
                                      <p:cBhvr>
                                        <p:cTn id="7" dur="1000"/>
                                        <p:tgtEl>
                                          <p:spTgt spid="147459">
                                            <p:txEl>
                                              <p:pRg st="2" end="2"/>
                                            </p:txEl>
                                          </p:spTgt>
                                        </p:tgtEl>
                                      </p:cBhvr>
                                    </p:animEffect>
                                    <p:anim calcmode="lin" valueType="num">
                                      <p:cBhvr>
                                        <p:cTn id="8" dur="1000" fill="hold"/>
                                        <p:tgtEl>
                                          <p:spTgt spid="147459">
                                            <p:txEl>
                                              <p:pRg st="2" end="2"/>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147459">
                                            <p:txEl>
                                              <p:pRg st="2" end="2"/>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47459">
                                            <p:txEl>
                                              <p:pRg st="2" end="2"/>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147459">
                                            <p:txEl>
                                              <p:pRg st="3" end="3"/>
                                            </p:txEl>
                                          </p:spTgt>
                                        </p:tgtEl>
                                        <p:attrNameLst>
                                          <p:attrName>style.visibility</p:attrName>
                                        </p:attrNameLst>
                                      </p:cBhvr>
                                      <p:to>
                                        <p:strVal val="visible"/>
                                      </p:to>
                                    </p:set>
                                    <p:animEffect transition="in" filter="fade">
                                      <p:cBhvr>
                                        <p:cTn id="13" dur="1000"/>
                                        <p:tgtEl>
                                          <p:spTgt spid="147459">
                                            <p:txEl>
                                              <p:pRg st="3" end="3"/>
                                            </p:txEl>
                                          </p:spTgt>
                                        </p:tgtEl>
                                      </p:cBhvr>
                                    </p:animEffect>
                                    <p:anim calcmode="lin" valueType="num">
                                      <p:cBhvr>
                                        <p:cTn id="14" dur="1000" fill="hold"/>
                                        <p:tgtEl>
                                          <p:spTgt spid="147459">
                                            <p:txEl>
                                              <p:pRg st="3" end="3"/>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147459">
                                            <p:txEl>
                                              <p:pRg st="3" end="3"/>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47459">
                                            <p:txEl>
                                              <p:pRg st="3" end="3"/>
                                            </p:txEl>
                                          </p:spTgt>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147459">
                                            <p:txEl>
                                              <p:pRg st="4" end="4"/>
                                            </p:txEl>
                                          </p:spTgt>
                                        </p:tgtEl>
                                        <p:attrNameLst>
                                          <p:attrName>style.visibility</p:attrName>
                                        </p:attrNameLst>
                                      </p:cBhvr>
                                      <p:to>
                                        <p:strVal val="visible"/>
                                      </p:to>
                                    </p:set>
                                    <p:animEffect transition="in" filter="fade">
                                      <p:cBhvr>
                                        <p:cTn id="19" dur="1000"/>
                                        <p:tgtEl>
                                          <p:spTgt spid="147459">
                                            <p:txEl>
                                              <p:pRg st="4" end="4"/>
                                            </p:txEl>
                                          </p:spTgt>
                                        </p:tgtEl>
                                      </p:cBhvr>
                                    </p:animEffect>
                                    <p:anim calcmode="lin" valueType="num">
                                      <p:cBhvr>
                                        <p:cTn id="20" dur="1000" fill="hold"/>
                                        <p:tgtEl>
                                          <p:spTgt spid="147459">
                                            <p:txEl>
                                              <p:pRg st="4" end="4"/>
                                            </p:txEl>
                                          </p:spTgt>
                                        </p:tgtEl>
                                        <p:attrNameLst>
                                          <p:attrName>ppt_x</p:attrName>
                                        </p:attrNameLst>
                                      </p:cBhvr>
                                      <p:tavLst>
                                        <p:tav tm="0">
                                          <p:val>
                                            <p:strVal val="#ppt_x"/>
                                          </p:val>
                                        </p:tav>
                                        <p:tav tm="100000">
                                          <p:val>
                                            <p:strVal val="#ppt_x"/>
                                          </p:val>
                                        </p:tav>
                                      </p:tavLst>
                                    </p:anim>
                                    <p:anim calcmode="lin" valueType="num">
                                      <p:cBhvr>
                                        <p:cTn id="21" dur="900" decel="100000" fill="hold"/>
                                        <p:tgtEl>
                                          <p:spTgt spid="147459">
                                            <p:txEl>
                                              <p:pRg st="4" end="4"/>
                                            </p:txEl>
                                          </p:spTgt>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47459">
                                            <p:txEl>
                                              <p:pRg st="4" end="4"/>
                                            </p:txEl>
                                          </p:spTgt>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147459">
                                            <p:txEl>
                                              <p:pRg st="5" end="5"/>
                                            </p:txEl>
                                          </p:spTgt>
                                        </p:tgtEl>
                                        <p:attrNameLst>
                                          <p:attrName>style.visibility</p:attrName>
                                        </p:attrNameLst>
                                      </p:cBhvr>
                                      <p:to>
                                        <p:strVal val="visible"/>
                                      </p:to>
                                    </p:set>
                                    <p:animEffect transition="in" filter="fade">
                                      <p:cBhvr>
                                        <p:cTn id="25" dur="1000"/>
                                        <p:tgtEl>
                                          <p:spTgt spid="147459">
                                            <p:txEl>
                                              <p:pRg st="5" end="5"/>
                                            </p:txEl>
                                          </p:spTgt>
                                        </p:tgtEl>
                                      </p:cBhvr>
                                    </p:animEffect>
                                    <p:anim calcmode="lin" valueType="num">
                                      <p:cBhvr>
                                        <p:cTn id="26" dur="1000" fill="hold"/>
                                        <p:tgtEl>
                                          <p:spTgt spid="147459">
                                            <p:txEl>
                                              <p:pRg st="5" end="5"/>
                                            </p:txEl>
                                          </p:spTgt>
                                        </p:tgtEl>
                                        <p:attrNameLst>
                                          <p:attrName>ppt_x</p:attrName>
                                        </p:attrNameLst>
                                      </p:cBhvr>
                                      <p:tavLst>
                                        <p:tav tm="0">
                                          <p:val>
                                            <p:strVal val="#ppt_x"/>
                                          </p:val>
                                        </p:tav>
                                        <p:tav tm="100000">
                                          <p:val>
                                            <p:strVal val="#ppt_x"/>
                                          </p:val>
                                        </p:tav>
                                      </p:tavLst>
                                    </p:anim>
                                    <p:anim calcmode="lin" valueType="num">
                                      <p:cBhvr>
                                        <p:cTn id="27" dur="900" decel="100000" fill="hold"/>
                                        <p:tgtEl>
                                          <p:spTgt spid="147459">
                                            <p:txEl>
                                              <p:pRg st="5" end="5"/>
                                            </p:txEl>
                                          </p:spTgt>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47459">
                                            <p:txEl>
                                              <p:pRg st="5" end="5"/>
                                            </p:txEl>
                                          </p:spTgt>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0"/>
                                  </p:stCondLst>
                                  <p:childTnLst>
                                    <p:set>
                                      <p:cBhvr>
                                        <p:cTn id="30" dur="1" fill="hold">
                                          <p:stCondLst>
                                            <p:cond delay="0"/>
                                          </p:stCondLst>
                                        </p:cTn>
                                        <p:tgtEl>
                                          <p:spTgt spid="147459">
                                            <p:txEl>
                                              <p:pRg st="6" end="6"/>
                                            </p:txEl>
                                          </p:spTgt>
                                        </p:tgtEl>
                                        <p:attrNameLst>
                                          <p:attrName>style.visibility</p:attrName>
                                        </p:attrNameLst>
                                      </p:cBhvr>
                                      <p:to>
                                        <p:strVal val="visible"/>
                                      </p:to>
                                    </p:set>
                                    <p:animEffect transition="in" filter="fade">
                                      <p:cBhvr>
                                        <p:cTn id="31" dur="1000"/>
                                        <p:tgtEl>
                                          <p:spTgt spid="147459">
                                            <p:txEl>
                                              <p:pRg st="6" end="6"/>
                                            </p:txEl>
                                          </p:spTgt>
                                        </p:tgtEl>
                                      </p:cBhvr>
                                    </p:animEffect>
                                    <p:anim calcmode="lin" valueType="num">
                                      <p:cBhvr>
                                        <p:cTn id="32" dur="1000" fill="hold"/>
                                        <p:tgtEl>
                                          <p:spTgt spid="147459">
                                            <p:txEl>
                                              <p:pRg st="6" end="6"/>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147459">
                                            <p:txEl>
                                              <p:pRg st="6" end="6"/>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47459">
                                            <p:txEl>
                                              <p:pRg st="6" end="6"/>
                                            </p:txEl>
                                          </p:spTgt>
                                        </p:tgtEl>
                                        <p:attrNameLst>
                                          <p:attrName>ppt_y</p:attrName>
                                        </p:attrNameLst>
                                      </p:cBhvr>
                                      <p:tavLst>
                                        <p:tav tm="0">
                                          <p:val>
                                            <p:strVal val="#ppt_y-.03"/>
                                          </p:val>
                                        </p:tav>
                                        <p:tav tm="100000">
                                          <p:val>
                                            <p:strVal val="#ppt_y"/>
                                          </p:val>
                                        </p:tav>
                                      </p:tavLst>
                                    </p:anim>
                                  </p:childTnLst>
                                </p:cTn>
                              </p:par>
                              <p:par>
                                <p:cTn id="35" presetID="37" presetClass="entr" presetSubtype="0" fill="hold" nodeType="withEffect">
                                  <p:stCondLst>
                                    <p:cond delay="0"/>
                                  </p:stCondLst>
                                  <p:childTnLst>
                                    <p:set>
                                      <p:cBhvr>
                                        <p:cTn id="36" dur="1" fill="hold">
                                          <p:stCondLst>
                                            <p:cond delay="0"/>
                                          </p:stCondLst>
                                        </p:cTn>
                                        <p:tgtEl>
                                          <p:spTgt spid="147459">
                                            <p:txEl>
                                              <p:pRg st="7" end="7"/>
                                            </p:txEl>
                                          </p:spTgt>
                                        </p:tgtEl>
                                        <p:attrNameLst>
                                          <p:attrName>style.visibility</p:attrName>
                                        </p:attrNameLst>
                                      </p:cBhvr>
                                      <p:to>
                                        <p:strVal val="visible"/>
                                      </p:to>
                                    </p:set>
                                    <p:animEffect transition="in" filter="fade">
                                      <p:cBhvr>
                                        <p:cTn id="37" dur="1000"/>
                                        <p:tgtEl>
                                          <p:spTgt spid="147459">
                                            <p:txEl>
                                              <p:pRg st="7" end="7"/>
                                            </p:txEl>
                                          </p:spTgt>
                                        </p:tgtEl>
                                      </p:cBhvr>
                                    </p:animEffect>
                                    <p:anim calcmode="lin" valueType="num">
                                      <p:cBhvr>
                                        <p:cTn id="38" dur="1000" fill="hold"/>
                                        <p:tgtEl>
                                          <p:spTgt spid="147459">
                                            <p:txEl>
                                              <p:pRg st="7" end="7"/>
                                            </p:txEl>
                                          </p:spTgt>
                                        </p:tgtEl>
                                        <p:attrNameLst>
                                          <p:attrName>ppt_x</p:attrName>
                                        </p:attrNameLst>
                                      </p:cBhvr>
                                      <p:tavLst>
                                        <p:tav tm="0">
                                          <p:val>
                                            <p:strVal val="#ppt_x"/>
                                          </p:val>
                                        </p:tav>
                                        <p:tav tm="100000">
                                          <p:val>
                                            <p:strVal val="#ppt_x"/>
                                          </p:val>
                                        </p:tav>
                                      </p:tavLst>
                                    </p:anim>
                                    <p:anim calcmode="lin" valueType="num">
                                      <p:cBhvr>
                                        <p:cTn id="39" dur="900" decel="100000" fill="hold"/>
                                        <p:tgtEl>
                                          <p:spTgt spid="147459">
                                            <p:txEl>
                                              <p:pRg st="7" end="7"/>
                                            </p:txEl>
                                          </p:spTgt>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47459">
                                            <p:txEl>
                                              <p:pRg st="7" end="7"/>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z="3600"/>
              <a:t>Learning Objectives</a:t>
            </a:r>
          </a:p>
        </p:txBody>
      </p:sp>
      <p:sp>
        <p:nvSpPr>
          <p:cNvPr id="3" name="Content Placeholder 2"/>
          <p:cNvSpPr>
            <a:spLocks noGrp="1"/>
          </p:cNvSpPr>
          <p:nvPr>
            <p:ph idx="1"/>
          </p:nvPr>
        </p:nvSpPr>
        <p:spPr>
          <a:xfrm>
            <a:off x="1828800" y="1143001"/>
            <a:ext cx="8229600" cy="5059363"/>
          </a:xfrm>
        </p:spPr>
        <p:txBody>
          <a:bodyPr/>
          <a:lstStyle/>
          <a:p>
            <a:pPr>
              <a:defRPr/>
            </a:pPr>
            <a:r>
              <a:rPr lang="en-US" dirty="0"/>
              <a:t>Sample Space</a:t>
            </a:r>
          </a:p>
          <a:p>
            <a:pPr>
              <a:defRPr/>
            </a:pPr>
            <a:r>
              <a:rPr lang="en-US" dirty="0"/>
              <a:t>Events</a:t>
            </a:r>
          </a:p>
          <a:p>
            <a:pPr>
              <a:defRPr/>
            </a:pPr>
            <a:r>
              <a:rPr lang="en-US" dirty="0"/>
              <a:t>Counting Sample Points</a:t>
            </a:r>
          </a:p>
          <a:p>
            <a:pPr lvl="1">
              <a:defRPr/>
            </a:pPr>
            <a:r>
              <a:rPr lang="en-US" dirty="0"/>
              <a:t>Permutations</a:t>
            </a:r>
          </a:p>
          <a:p>
            <a:pPr lvl="1">
              <a:defRPr/>
            </a:pPr>
            <a:r>
              <a:rPr lang="en-US" dirty="0"/>
              <a:t>Combinations</a:t>
            </a:r>
          </a:p>
          <a:p>
            <a:pPr>
              <a:defRPr/>
            </a:pPr>
            <a:r>
              <a:rPr lang="en-US" dirty="0">
                <a:solidFill>
                  <a:schemeClr val="bg1">
                    <a:lumMod val="65000"/>
                  </a:schemeClr>
                </a:solidFill>
              </a:rPr>
              <a:t>Probability of an Event</a:t>
            </a:r>
          </a:p>
          <a:p>
            <a:pPr>
              <a:defRPr/>
            </a:pPr>
            <a:r>
              <a:rPr lang="en-US" dirty="0">
                <a:solidFill>
                  <a:schemeClr val="bg1">
                    <a:lumMod val="65000"/>
                  </a:schemeClr>
                </a:solidFill>
              </a:rPr>
              <a:t>Additive Rules</a:t>
            </a:r>
          </a:p>
          <a:p>
            <a:pPr>
              <a:defRPr/>
            </a:pPr>
            <a:r>
              <a:rPr lang="en-US" altLang="en-US" dirty="0">
                <a:solidFill>
                  <a:schemeClr val="bg1">
                    <a:lumMod val="65000"/>
                  </a:schemeClr>
                </a:solidFill>
              </a:rPr>
              <a:t>Conditional Probability, Independence, and the Product Rule</a:t>
            </a:r>
          </a:p>
          <a:p>
            <a:pPr>
              <a:defRPr/>
            </a:pPr>
            <a:r>
              <a:rPr lang="en-US" altLang="en-US" dirty="0">
                <a:solidFill>
                  <a:schemeClr val="bg1">
                    <a:lumMod val="65000"/>
                  </a:schemeClr>
                </a:solidFill>
              </a:rPr>
              <a:t>Bayes’ Rule</a:t>
            </a:r>
          </a:p>
          <a:p>
            <a:pPr marL="0" indent="0">
              <a:buNone/>
              <a:defRPr/>
            </a:pPr>
            <a:endParaRPr lang="en-US" altLang="en-US" dirty="0">
              <a:solidFill>
                <a:srgbClr val="191718"/>
              </a:solidFill>
            </a:endParaRPr>
          </a:p>
          <a:p>
            <a:pPr>
              <a:defRPr/>
            </a:pPr>
            <a:endParaRPr lang="en-US" dirty="0"/>
          </a:p>
        </p:txBody>
      </p:sp>
      <p:sp>
        <p:nvSpPr>
          <p:cNvPr id="51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9ECFC72-9084-4A55-B995-B8D8E6B9D48D}" type="slidenum">
              <a:rPr lang="it-IT" altLang="en-US" sz="1200">
                <a:solidFill>
                  <a:srgbClr val="898989"/>
                </a:solidFill>
                <a:latin typeface="Arial" panose="020B0604020202020204" pitchFamily="34" charset="0"/>
              </a:rPr>
              <a:pPr>
                <a:spcBef>
                  <a:spcPct val="0"/>
                </a:spcBef>
                <a:buFontTx/>
                <a:buNone/>
              </a:pPr>
              <a:t>19</a:t>
            </a:fld>
            <a:endParaRPr lang="it-IT" altLang="en-US" sz="1200">
              <a:solidFill>
                <a:srgbClr val="898989"/>
              </a:solidFill>
              <a:latin typeface="Arial" panose="020B0604020202020204" pitchFamily="34" charset="0"/>
            </a:endParaRPr>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21044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dirty="0">
                <a:cs typeface="Arial" charset="0"/>
              </a:rPr>
              <a:t>Counting Sample Points</a:t>
            </a:r>
          </a:p>
        </p:txBody>
      </p:sp>
      <p:sp>
        <p:nvSpPr>
          <p:cNvPr id="4" name="Slide Number Placeholder 3"/>
          <p:cNvSpPr>
            <a:spLocks noGrp="1"/>
          </p:cNvSpPr>
          <p:nvPr>
            <p:ph type="sldNum" sz="quarter" idx="12"/>
          </p:nvPr>
        </p:nvSpPr>
        <p:spPr/>
        <p:txBody>
          <a:bodyPr/>
          <a:lstStyle/>
          <a:p>
            <a:pPr>
              <a:defRPr/>
            </a:pPr>
            <a:fld id="{1A8FCEDA-36C1-4AE8-BB68-80B78FEC456F}" type="slidenum">
              <a:rPr lang="it-IT" smtClean="0"/>
              <a:pPr>
                <a:defRPr/>
              </a:pPr>
              <a:t>20</a:t>
            </a:fld>
            <a:endParaRPr lang="it-IT"/>
          </a:p>
        </p:txBody>
      </p:sp>
      <p:sp>
        <p:nvSpPr>
          <p:cNvPr id="2" name="Content Placeholder 1"/>
          <p:cNvSpPr>
            <a:spLocks noGrp="1"/>
          </p:cNvSpPr>
          <p:nvPr>
            <p:ph idx="1"/>
          </p:nvPr>
        </p:nvSpPr>
        <p:spPr/>
        <p:txBody>
          <a:bodyPr/>
          <a:lstStyle/>
          <a:p>
            <a:r>
              <a:rPr lang="en-US" dirty="0"/>
              <a:t>How many points are in the Sample Space?</a:t>
            </a:r>
          </a:p>
          <a:p>
            <a:pPr lvl="1"/>
            <a:r>
              <a:rPr lang="en-US" dirty="0"/>
              <a:t>List each possible outcome</a:t>
            </a:r>
          </a:p>
          <a:p>
            <a:pPr lvl="1"/>
            <a:r>
              <a:rPr lang="en-US" dirty="0"/>
              <a:t>If we roll 100 dice???</a:t>
            </a:r>
          </a:p>
          <a:p>
            <a:r>
              <a:rPr lang="en-US" dirty="0"/>
              <a:t>When the outcomes are </a:t>
            </a:r>
            <a:r>
              <a:rPr lang="en-US" b="1" dirty="0"/>
              <a:t>equally likely</a:t>
            </a:r>
            <a:r>
              <a:rPr lang="en-US" dirty="0"/>
              <a:t>, can use:</a:t>
            </a:r>
          </a:p>
          <a:p>
            <a:pPr lvl="1"/>
            <a:r>
              <a:rPr lang="en-US" dirty="0"/>
              <a:t>Multiplication Rule</a:t>
            </a:r>
          </a:p>
          <a:p>
            <a:pPr lvl="1"/>
            <a:r>
              <a:rPr lang="en-US" dirty="0"/>
              <a:t>Permutations</a:t>
            </a:r>
          </a:p>
          <a:p>
            <a:pPr lvl="1"/>
            <a:r>
              <a:rPr lang="en-US" dirty="0"/>
              <a:t>Combinations</a:t>
            </a:r>
          </a:p>
        </p:txBody>
      </p:sp>
      <p:sp>
        <p:nvSpPr>
          <p:cNvPr id="3" name="Date Placeholder 2"/>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262767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tLang="en-US" dirty="0">
                <a:cs typeface="Arial" charset="0"/>
              </a:rPr>
              <a:t>Multiplication Rule</a:t>
            </a:r>
          </a:p>
        </p:txBody>
      </p:sp>
      <p:sp>
        <p:nvSpPr>
          <p:cNvPr id="28675" name="Content Placeholder 2"/>
          <p:cNvSpPr>
            <a:spLocks noGrp="1"/>
          </p:cNvSpPr>
          <p:nvPr>
            <p:ph idx="1"/>
          </p:nvPr>
        </p:nvSpPr>
        <p:spPr/>
        <p:txBody>
          <a:bodyPr/>
          <a:lstStyle/>
          <a:p>
            <a:pPr eaLnBrk="1" hangingPunct="1"/>
            <a:r>
              <a:rPr lang="en-US" altLang="en-US" u="sng" dirty="0">
                <a:cs typeface="Arial" charset="0"/>
              </a:rPr>
              <a:t>Multiplication Rule:</a:t>
            </a:r>
            <a:r>
              <a:rPr lang="en-US" altLang="en-US" dirty="0">
                <a:cs typeface="Arial" charset="0"/>
              </a:rPr>
              <a:t>  If an operation can be performed in </a:t>
            </a:r>
            <a:r>
              <a:rPr lang="en-US" altLang="en-US" i="1" dirty="0">
                <a:cs typeface="Arial" charset="0"/>
              </a:rPr>
              <a:t>n</a:t>
            </a:r>
            <a:r>
              <a:rPr lang="en-US" altLang="en-US" i="1" baseline="-25000" dirty="0">
                <a:cs typeface="Arial" charset="0"/>
              </a:rPr>
              <a:t>1</a:t>
            </a:r>
            <a:r>
              <a:rPr lang="en-US" altLang="en-US" dirty="0">
                <a:cs typeface="Arial" charset="0"/>
              </a:rPr>
              <a:t> ways, and if for each of these ways a second operation can be performed in </a:t>
            </a:r>
            <a:r>
              <a:rPr lang="en-US" altLang="en-US" i="1" dirty="0">
                <a:cs typeface="Arial" charset="0"/>
              </a:rPr>
              <a:t>n</a:t>
            </a:r>
            <a:r>
              <a:rPr lang="en-US" altLang="en-US" i="1" baseline="-25000" dirty="0">
                <a:cs typeface="Arial" charset="0"/>
              </a:rPr>
              <a:t>2</a:t>
            </a:r>
            <a:r>
              <a:rPr lang="en-US" altLang="en-US" dirty="0">
                <a:cs typeface="Arial" charset="0"/>
              </a:rPr>
              <a:t> ways, then the two operations can be performed together in </a:t>
            </a:r>
            <a:r>
              <a:rPr lang="en-US" altLang="en-US" i="1" dirty="0">
                <a:cs typeface="Arial" charset="0"/>
              </a:rPr>
              <a:t>n</a:t>
            </a:r>
            <a:r>
              <a:rPr lang="en-US" altLang="en-US" i="1" baseline="-25000" dirty="0">
                <a:cs typeface="Arial" charset="0"/>
              </a:rPr>
              <a:t>1</a:t>
            </a:r>
            <a:r>
              <a:rPr lang="en-US" altLang="en-US" i="1" dirty="0">
                <a:cs typeface="Arial" charset="0"/>
              </a:rPr>
              <a:t>n</a:t>
            </a:r>
            <a:r>
              <a:rPr lang="en-US" altLang="en-US" i="1" baseline="-25000" dirty="0">
                <a:cs typeface="Arial" charset="0"/>
              </a:rPr>
              <a:t>2</a:t>
            </a:r>
            <a:r>
              <a:rPr lang="en-US" altLang="en-US" dirty="0">
                <a:cs typeface="Arial" charset="0"/>
              </a:rPr>
              <a:t> ways.</a:t>
            </a:r>
          </a:p>
          <a:p>
            <a:pPr lvl="1" eaLnBrk="1" hangingPunct="1"/>
            <a:r>
              <a:rPr lang="en-US" altLang="en-US" dirty="0">
                <a:cs typeface="Arial" charset="0"/>
              </a:rPr>
              <a:t>Used when events consist of ordered pairs and we want to count the number of possible pairs</a:t>
            </a:r>
          </a:p>
        </p:txBody>
      </p:sp>
      <p:sp>
        <p:nvSpPr>
          <p:cNvPr id="4" name="Slide Number Placeholder 3"/>
          <p:cNvSpPr>
            <a:spLocks noGrp="1"/>
          </p:cNvSpPr>
          <p:nvPr>
            <p:ph type="sldNum" sz="quarter" idx="12"/>
          </p:nvPr>
        </p:nvSpPr>
        <p:spPr/>
        <p:txBody>
          <a:bodyPr/>
          <a:lstStyle/>
          <a:p>
            <a:pPr>
              <a:defRPr/>
            </a:pPr>
            <a:fld id="{486624E6-79FD-4F79-A433-9FF1840B0CCA}" type="slidenum">
              <a:rPr lang="it-IT" smtClean="0"/>
              <a:pPr>
                <a:defRPr/>
              </a:pPr>
              <a:t>21</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36710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ltLang="en-US" sz="4000" dirty="0">
                <a:cs typeface="Arial" charset="0"/>
              </a:rPr>
              <a:t>Generalized Multiplication Rule              for </a:t>
            </a:r>
            <a:r>
              <a:rPr lang="en-US" altLang="en-US" sz="4000" i="1" dirty="0">
                <a:cs typeface="Arial" charset="0"/>
              </a:rPr>
              <a:t>k</a:t>
            </a:r>
            <a:r>
              <a:rPr lang="en-US" altLang="en-US" sz="4000" dirty="0">
                <a:cs typeface="Arial" charset="0"/>
              </a:rPr>
              <a:t>-tuples</a:t>
            </a:r>
          </a:p>
        </p:txBody>
      </p:sp>
      <p:sp>
        <p:nvSpPr>
          <p:cNvPr id="32771" name="Content Placeholder 2"/>
          <p:cNvSpPr>
            <a:spLocks noGrp="1"/>
          </p:cNvSpPr>
          <p:nvPr>
            <p:ph idx="1"/>
          </p:nvPr>
        </p:nvSpPr>
        <p:spPr/>
        <p:txBody>
          <a:bodyPr/>
          <a:lstStyle/>
          <a:p>
            <a:pPr marL="0" indent="0" eaLnBrk="1" hangingPunct="1">
              <a:buNone/>
            </a:pPr>
            <a:r>
              <a:rPr lang="en-US" altLang="en-US" dirty="0">
                <a:cs typeface="Arial" charset="0"/>
              </a:rPr>
              <a:t>If an operation can be performed in </a:t>
            </a:r>
            <a:r>
              <a:rPr lang="en-US" altLang="en-US" i="1" dirty="0">
                <a:cs typeface="Arial" charset="0"/>
              </a:rPr>
              <a:t>n</a:t>
            </a:r>
            <a:r>
              <a:rPr lang="en-US" altLang="en-US" i="1" baseline="-25000" dirty="0">
                <a:cs typeface="Arial" charset="0"/>
              </a:rPr>
              <a:t>1</a:t>
            </a:r>
            <a:r>
              <a:rPr lang="en-US" altLang="en-US" dirty="0">
                <a:cs typeface="Arial" charset="0"/>
              </a:rPr>
              <a:t> ways, and if for each of these a second operation can be performed in </a:t>
            </a:r>
            <a:r>
              <a:rPr lang="en-US" altLang="en-US" i="1" dirty="0">
                <a:cs typeface="Arial" charset="0"/>
              </a:rPr>
              <a:t>n</a:t>
            </a:r>
            <a:r>
              <a:rPr lang="en-US" altLang="en-US" i="1" baseline="-25000" dirty="0">
                <a:cs typeface="Arial" charset="0"/>
              </a:rPr>
              <a:t>2</a:t>
            </a:r>
            <a:r>
              <a:rPr lang="en-US" altLang="en-US" dirty="0">
                <a:cs typeface="Arial" charset="0"/>
              </a:rPr>
              <a:t> ways, and for each of the first two a third operation can be performed in </a:t>
            </a:r>
            <a:r>
              <a:rPr lang="en-US" altLang="en-US" i="1" dirty="0">
                <a:cs typeface="Arial" charset="0"/>
              </a:rPr>
              <a:t>n</a:t>
            </a:r>
            <a:r>
              <a:rPr lang="en-US" altLang="en-US" i="1" baseline="-25000" dirty="0">
                <a:cs typeface="Arial" charset="0"/>
              </a:rPr>
              <a:t>3</a:t>
            </a:r>
            <a:r>
              <a:rPr lang="en-US" altLang="en-US" dirty="0">
                <a:cs typeface="Arial" charset="0"/>
              </a:rPr>
              <a:t> ways, and so forth, then the sequence of </a:t>
            </a:r>
            <a:r>
              <a:rPr lang="en-US" altLang="en-US" i="1" dirty="0">
                <a:cs typeface="Arial" charset="0"/>
              </a:rPr>
              <a:t>k</a:t>
            </a:r>
            <a:r>
              <a:rPr lang="en-US" altLang="en-US" dirty="0">
                <a:cs typeface="Arial" charset="0"/>
              </a:rPr>
              <a:t> operations can be performed</a:t>
            </a:r>
            <a:r>
              <a:rPr lang="en-US" altLang="en-US" i="1" dirty="0">
                <a:cs typeface="Arial" charset="0"/>
              </a:rPr>
              <a:t> in n</a:t>
            </a:r>
            <a:r>
              <a:rPr lang="en-US" altLang="en-US" i="1" baseline="-25000" dirty="0">
                <a:cs typeface="Arial" charset="0"/>
              </a:rPr>
              <a:t>1</a:t>
            </a:r>
            <a:r>
              <a:rPr lang="en-US" altLang="en-US" i="1" dirty="0">
                <a:cs typeface="Arial" charset="0"/>
              </a:rPr>
              <a:t>n</a:t>
            </a:r>
            <a:r>
              <a:rPr lang="en-US" altLang="en-US" i="1" baseline="-25000" dirty="0">
                <a:cs typeface="Arial" charset="0"/>
              </a:rPr>
              <a:t>2</a:t>
            </a:r>
            <a:r>
              <a:rPr lang="en-US" altLang="en-US" i="1" dirty="0">
                <a:cs typeface="Arial" charset="0"/>
              </a:rPr>
              <a:t>∙…∙</a:t>
            </a:r>
            <a:r>
              <a:rPr lang="en-US" altLang="en-US" i="1" dirty="0" err="1">
                <a:cs typeface="Arial" charset="0"/>
              </a:rPr>
              <a:t>n</a:t>
            </a:r>
            <a:r>
              <a:rPr lang="en-US" altLang="en-US" i="1" baseline="-25000" dirty="0" err="1">
                <a:cs typeface="Arial" charset="0"/>
              </a:rPr>
              <a:t>k</a:t>
            </a:r>
            <a:r>
              <a:rPr lang="en-US" altLang="en-US" dirty="0">
                <a:cs typeface="Arial" charset="0"/>
              </a:rPr>
              <a:t> ways.</a:t>
            </a:r>
          </a:p>
        </p:txBody>
      </p:sp>
      <p:sp>
        <p:nvSpPr>
          <p:cNvPr id="4" name="Slide Number Placeholder 3"/>
          <p:cNvSpPr>
            <a:spLocks noGrp="1"/>
          </p:cNvSpPr>
          <p:nvPr>
            <p:ph type="sldNum" sz="quarter" idx="12"/>
          </p:nvPr>
        </p:nvSpPr>
        <p:spPr/>
        <p:txBody>
          <a:bodyPr/>
          <a:lstStyle/>
          <a:p>
            <a:pPr>
              <a:defRPr/>
            </a:pPr>
            <a:fld id="{024C66D5-E481-4AD5-8EDA-1334A798EC18}" type="slidenum">
              <a:rPr lang="it-IT" smtClean="0"/>
              <a:pPr>
                <a:defRPr/>
              </a:pPr>
              <a:t>22</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887095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dirty="0">
                <a:cs typeface="Arial" charset="0"/>
              </a:rPr>
              <a:t>Generalized Multiplication Rule              for </a:t>
            </a:r>
            <a:r>
              <a:rPr lang="en-US" altLang="en-US" i="1" dirty="0">
                <a:cs typeface="Arial" charset="0"/>
              </a:rPr>
              <a:t>k</a:t>
            </a:r>
            <a:r>
              <a:rPr lang="en-US" altLang="en-US" dirty="0">
                <a:cs typeface="Arial" charset="0"/>
              </a:rPr>
              <a:t>-tuples</a:t>
            </a:r>
          </a:p>
        </p:txBody>
      </p:sp>
      <p:sp>
        <p:nvSpPr>
          <p:cNvPr id="29699" name="Content Placeholder 2"/>
          <p:cNvSpPr>
            <a:spLocks noGrp="1"/>
          </p:cNvSpPr>
          <p:nvPr>
            <p:ph idx="1"/>
          </p:nvPr>
        </p:nvSpPr>
        <p:spPr/>
        <p:txBody>
          <a:bodyPr/>
          <a:lstStyle/>
          <a:p>
            <a:pPr eaLnBrk="1" hangingPunct="1"/>
            <a:r>
              <a:rPr lang="en-US" altLang="en-US" u="sng" dirty="0">
                <a:cs typeface="Arial" charset="0"/>
              </a:rPr>
              <a:t>Example:</a:t>
            </a:r>
            <a:r>
              <a:rPr lang="en-US" altLang="en-US" dirty="0">
                <a:cs typeface="Arial" charset="0"/>
              </a:rPr>
              <a:t>  </a:t>
            </a:r>
            <a:r>
              <a:rPr lang="en-US" altLang="en-US" dirty="0"/>
              <a:t>How many license plates of 3 letters followed by 3 numbers are possible?</a:t>
            </a:r>
          </a:p>
        </p:txBody>
      </p:sp>
      <p:sp>
        <p:nvSpPr>
          <p:cNvPr id="4" name="Slide Number Placeholder 3"/>
          <p:cNvSpPr>
            <a:spLocks noGrp="1"/>
          </p:cNvSpPr>
          <p:nvPr>
            <p:ph type="sldNum" sz="quarter" idx="12"/>
          </p:nvPr>
        </p:nvSpPr>
        <p:spPr/>
        <p:txBody>
          <a:bodyPr/>
          <a:lstStyle/>
          <a:p>
            <a:pPr>
              <a:defRPr/>
            </a:pPr>
            <a:fld id="{73F7E9A2-3693-43D2-956A-881BA1F48A2C}" type="slidenum">
              <a:rPr lang="it-IT" smtClean="0"/>
              <a:pPr>
                <a:defRPr/>
              </a:pPr>
              <a:t>23</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48741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FD38F-84E5-FF28-4DEA-5E9A248F3BCB}"/>
              </a:ext>
            </a:extLst>
          </p:cNvPr>
          <p:cNvSpPr>
            <a:spLocks noGrp="1"/>
          </p:cNvSpPr>
          <p:nvPr>
            <p:ph type="title"/>
          </p:nvPr>
        </p:nvSpPr>
        <p:spPr/>
        <p:txBody>
          <a:bodyPr/>
          <a:lstStyle/>
          <a:p>
            <a:r>
              <a:rPr lang="en-US" dirty="0"/>
              <a:t>Reverse Interpretation of Multiplication Rule</a:t>
            </a:r>
          </a:p>
        </p:txBody>
      </p:sp>
      <p:sp>
        <p:nvSpPr>
          <p:cNvPr id="3" name="Content Placeholder 2">
            <a:extLst>
              <a:ext uri="{FF2B5EF4-FFF2-40B4-BE49-F238E27FC236}">
                <a16:creationId xmlns:a16="http://schemas.microsoft.com/office/drawing/2014/main" id="{413FEBD6-535F-069B-3A59-469A10D52170}"/>
              </a:ext>
            </a:extLst>
          </p:cNvPr>
          <p:cNvSpPr>
            <a:spLocks noGrp="1"/>
          </p:cNvSpPr>
          <p:nvPr>
            <p:ph idx="1"/>
          </p:nvPr>
        </p:nvSpPr>
        <p:spPr/>
        <p:txBody>
          <a:bodyPr/>
          <a:lstStyle/>
          <a:p>
            <a:pPr marL="0" indent="0">
              <a:buNone/>
            </a:pPr>
            <a:r>
              <a:rPr lang="en-US" dirty="0"/>
              <a:t>Suppose we know total number of outcomes N and operation </a:t>
            </a:r>
            <a:r>
              <a:rPr lang="en-US" dirty="0" err="1"/>
              <a:t>i</a:t>
            </a:r>
            <a:endParaRPr lang="en-US" dirty="0"/>
          </a:p>
          <a:p>
            <a:pPr marL="0" indent="0">
              <a:buNone/>
            </a:pPr>
            <a:r>
              <a:rPr lang="en-US" dirty="0"/>
              <a:t>can be performed </a:t>
            </a:r>
            <a:r>
              <a:rPr lang="en-US" dirty="0" err="1"/>
              <a:t>n</a:t>
            </a:r>
            <a:r>
              <a:rPr lang="en-US" baseline="-25000" dirty="0" err="1"/>
              <a:t>i</a:t>
            </a:r>
            <a:r>
              <a:rPr lang="en-US" dirty="0"/>
              <a:t> ways. What would be one reasonable</a:t>
            </a:r>
          </a:p>
          <a:p>
            <a:pPr marL="0" indent="0">
              <a:buNone/>
            </a:pPr>
            <a:r>
              <a:rPr lang="en-US" dirty="0"/>
              <a:t>explanation of N/</a:t>
            </a:r>
            <a:r>
              <a:rPr lang="en-US" dirty="0" err="1"/>
              <a:t>n</a:t>
            </a:r>
            <a:r>
              <a:rPr lang="en-US" baseline="-25000" dirty="0" err="1"/>
              <a:t>i</a:t>
            </a:r>
            <a:endParaRPr lang="en-US" baseline="-25000" dirty="0"/>
          </a:p>
          <a:p>
            <a:endParaRPr lang="en-US" dirty="0"/>
          </a:p>
        </p:txBody>
      </p:sp>
      <p:sp>
        <p:nvSpPr>
          <p:cNvPr id="4" name="Date Placeholder 3">
            <a:extLst>
              <a:ext uri="{FF2B5EF4-FFF2-40B4-BE49-F238E27FC236}">
                <a16:creationId xmlns:a16="http://schemas.microsoft.com/office/drawing/2014/main" id="{CAA90D6E-2A69-680B-5ED2-D742ED087083}"/>
              </a:ext>
            </a:extLst>
          </p:cNvPr>
          <p:cNvSpPr>
            <a:spLocks noGrp="1"/>
          </p:cNvSpPr>
          <p:nvPr>
            <p:ph type="dt" sz="half" idx="10"/>
          </p:nvPr>
        </p:nvSpPr>
        <p:spPr/>
        <p:txBody>
          <a:bodyPr/>
          <a:lstStyle/>
          <a:p>
            <a:pPr>
              <a:defRPr/>
            </a:pPr>
            <a:endParaRPr lang="it-IT"/>
          </a:p>
        </p:txBody>
      </p:sp>
      <p:sp>
        <p:nvSpPr>
          <p:cNvPr id="5" name="Slide Number Placeholder 4">
            <a:extLst>
              <a:ext uri="{FF2B5EF4-FFF2-40B4-BE49-F238E27FC236}">
                <a16:creationId xmlns:a16="http://schemas.microsoft.com/office/drawing/2014/main" id="{DA112056-42B0-3F69-1BD4-5462CA0788A7}"/>
              </a:ext>
            </a:extLst>
          </p:cNvPr>
          <p:cNvSpPr>
            <a:spLocks noGrp="1"/>
          </p:cNvSpPr>
          <p:nvPr>
            <p:ph type="sldNum" sz="quarter" idx="12"/>
          </p:nvPr>
        </p:nvSpPr>
        <p:spPr/>
        <p:txBody>
          <a:bodyPr/>
          <a:lstStyle/>
          <a:p>
            <a:pPr>
              <a:defRPr/>
            </a:pPr>
            <a:fld id="{DC0D5635-7541-40DA-B0BF-E30E0D2B3316}" type="slidenum">
              <a:rPr lang="it-IT" altLang="en-US" smtClean="0"/>
              <a:pPr>
                <a:defRPr/>
              </a:pPr>
              <a:t>24</a:t>
            </a:fld>
            <a:endParaRPr lang="it-IT" altLang="en-US"/>
          </a:p>
        </p:txBody>
      </p:sp>
    </p:spTree>
    <p:extLst>
      <p:ext uri="{BB962C8B-B14F-4D97-AF65-F5344CB8AC3E}">
        <p14:creationId xmlns:p14="http://schemas.microsoft.com/office/powerpoint/2010/main" val="2736081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dirty="0">
                <a:cs typeface="Arial" charset="0"/>
              </a:rPr>
              <a:t>Permutations and Combinations</a:t>
            </a:r>
          </a:p>
        </p:txBody>
      </p:sp>
      <p:sp>
        <p:nvSpPr>
          <p:cNvPr id="34819" name="Content Placeholder 2"/>
          <p:cNvSpPr>
            <a:spLocks noGrp="1"/>
          </p:cNvSpPr>
          <p:nvPr>
            <p:ph idx="1"/>
          </p:nvPr>
        </p:nvSpPr>
        <p:spPr>
          <a:xfrm>
            <a:off x="1981200" y="1600200"/>
            <a:ext cx="8229600" cy="4876800"/>
          </a:xfrm>
        </p:spPr>
        <p:txBody>
          <a:bodyPr>
            <a:normAutofit/>
          </a:bodyPr>
          <a:lstStyle/>
          <a:p>
            <a:pPr eaLnBrk="1" hangingPunct="1"/>
            <a:r>
              <a:rPr lang="en-US" altLang="en-US" dirty="0">
                <a:cs typeface="Arial" charset="0"/>
              </a:rPr>
              <a:t>If you have </a:t>
            </a:r>
            <a:r>
              <a:rPr lang="en-US" altLang="en-US" i="1" dirty="0">
                <a:cs typeface="Arial" charset="0"/>
              </a:rPr>
              <a:t>n</a:t>
            </a:r>
            <a:r>
              <a:rPr lang="en-US" altLang="en-US" dirty="0">
                <a:cs typeface="Arial" charset="0"/>
              </a:rPr>
              <a:t> distinct individuals or objects, how many ways can you select a subset of size </a:t>
            </a:r>
            <a:r>
              <a:rPr lang="en-US" altLang="en-US" i="1" dirty="0">
                <a:cs typeface="Arial" charset="0"/>
              </a:rPr>
              <a:t>k</a:t>
            </a:r>
            <a:r>
              <a:rPr lang="en-US" altLang="en-US" dirty="0">
                <a:cs typeface="Arial" charset="0"/>
              </a:rPr>
              <a:t> from the group?</a:t>
            </a:r>
          </a:p>
          <a:p>
            <a:pPr marL="971550" lvl="1" indent="-514350" eaLnBrk="1" hangingPunct="1">
              <a:buFont typeface="+mj-lt"/>
              <a:buAutoNum type="arabicPeriod"/>
            </a:pPr>
            <a:r>
              <a:rPr lang="en-US" altLang="en-US" dirty="0">
                <a:cs typeface="Arial" charset="0"/>
              </a:rPr>
              <a:t>Permutation – order matters</a:t>
            </a:r>
          </a:p>
          <a:p>
            <a:pPr marL="971550" lvl="1" indent="-514350" eaLnBrk="1" hangingPunct="1">
              <a:buFont typeface="+mj-lt"/>
              <a:buAutoNum type="arabicPeriod"/>
            </a:pPr>
            <a:r>
              <a:rPr lang="en-US" altLang="en-US" dirty="0">
                <a:cs typeface="Arial" charset="0"/>
              </a:rPr>
              <a:t>Combination – order doesn’t matter</a:t>
            </a:r>
          </a:p>
        </p:txBody>
      </p:sp>
      <p:sp>
        <p:nvSpPr>
          <p:cNvPr id="4" name="Slide Number Placeholder 3"/>
          <p:cNvSpPr>
            <a:spLocks noGrp="1"/>
          </p:cNvSpPr>
          <p:nvPr>
            <p:ph type="sldNum" sz="quarter" idx="12"/>
          </p:nvPr>
        </p:nvSpPr>
        <p:spPr/>
        <p:txBody>
          <a:bodyPr/>
          <a:lstStyle/>
          <a:p>
            <a:pPr>
              <a:defRPr/>
            </a:pPr>
            <a:fld id="{67D7665F-B6DD-473C-AC59-A994C48A480E}" type="slidenum">
              <a:rPr lang="it-IT" smtClean="0"/>
              <a:pPr>
                <a:defRPr/>
              </a:pPr>
              <a:t>25</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16206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dirty="0">
                <a:cs typeface="Arial" charset="0"/>
              </a:rPr>
              <a:t>Permutations and Combinations</a:t>
            </a:r>
          </a:p>
        </p:txBody>
      </p:sp>
      <p:sp>
        <p:nvSpPr>
          <p:cNvPr id="34819" name="Content Placeholder 2"/>
          <p:cNvSpPr>
            <a:spLocks noGrp="1"/>
          </p:cNvSpPr>
          <p:nvPr>
            <p:ph idx="1"/>
          </p:nvPr>
        </p:nvSpPr>
        <p:spPr>
          <a:xfrm>
            <a:off x="1981200" y="1600200"/>
            <a:ext cx="8229600" cy="4876800"/>
          </a:xfrm>
        </p:spPr>
        <p:txBody>
          <a:bodyPr>
            <a:normAutofit/>
          </a:bodyPr>
          <a:lstStyle/>
          <a:p>
            <a:pPr eaLnBrk="1" hangingPunct="1"/>
            <a:r>
              <a:rPr lang="en-US" altLang="en-US" dirty="0">
                <a:cs typeface="Arial" charset="0"/>
              </a:rPr>
              <a:t>Easy way to remember difference between Permutations and Combinations…</a:t>
            </a:r>
          </a:p>
          <a:p>
            <a:pPr lvl="1" eaLnBrk="1" hangingPunct="1"/>
            <a:r>
              <a:rPr lang="en-US" altLang="en-US" sz="2400" u="sng" dirty="0">
                <a:cs typeface="Arial" charset="0"/>
              </a:rPr>
              <a:t>Example 1</a:t>
            </a:r>
            <a:r>
              <a:rPr lang="en-US" altLang="en-US" sz="2400" dirty="0">
                <a:cs typeface="Arial" charset="0"/>
              </a:rPr>
              <a:t>:  Pick 3 buildings on campus to visit.  </a:t>
            </a:r>
          </a:p>
          <a:p>
            <a:pPr lvl="2" eaLnBrk="1" hangingPunct="1"/>
            <a:r>
              <a:rPr lang="en-US" altLang="en-US" dirty="0">
                <a:cs typeface="Arial" charset="0"/>
              </a:rPr>
              <a:t>Permutation:  order of visits </a:t>
            </a:r>
            <a:r>
              <a:rPr lang="en-US" altLang="en-US" u="sng" dirty="0">
                <a:cs typeface="Arial" charset="0"/>
              </a:rPr>
              <a:t>matters</a:t>
            </a:r>
            <a:r>
              <a:rPr lang="en-US" altLang="en-US" dirty="0">
                <a:cs typeface="Arial" charset="0"/>
              </a:rPr>
              <a:t> because time is constrained, so Towers, WPU, Peterson is different from WPU, Towers, Peterson</a:t>
            </a:r>
          </a:p>
          <a:p>
            <a:pPr lvl="2" eaLnBrk="1" hangingPunct="1"/>
            <a:r>
              <a:rPr lang="en-US" altLang="en-US" dirty="0">
                <a:cs typeface="Arial" charset="0"/>
              </a:rPr>
              <a:t>Combination:  order doesn’t </a:t>
            </a:r>
            <a:r>
              <a:rPr lang="en-US" altLang="en-US" u="sng" dirty="0">
                <a:cs typeface="Arial" charset="0"/>
              </a:rPr>
              <a:t>matter</a:t>
            </a:r>
            <a:r>
              <a:rPr lang="en-US" altLang="en-US" dirty="0">
                <a:cs typeface="Arial" charset="0"/>
              </a:rPr>
              <a:t> because you have all day, so Towers, WPU, Peterson is the same as WPU, Towers, Peterson</a:t>
            </a:r>
          </a:p>
        </p:txBody>
      </p:sp>
      <p:sp>
        <p:nvSpPr>
          <p:cNvPr id="4" name="Slide Number Placeholder 3"/>
          <p:cNvSpPr>
            <a:spLocks noGrp="1"/>
          </p:cNvSpPr>
          <p:nvPr>
            <p:ph type="sldNum" sz="quarter" idx="12"/>
          </p:nvPr>
        </p:nvSpPr>
        <p:spPr/>
        <p:txBody>
          <a:bodyPr/>
          <a:lstStyle/>
          <a:p>
            <a:pPr>
              <a:defRPr/>
            </a:pPr>
            <a:fld id="{67D7665F-B6DD-473C-AC59-A994C48A480E}" type="slidenum">
              <a:rPr lang="it-IT" smtClean="0"/>
              <a:pPr>
                <a:defRPr/>
              </a:pPr>
              <a:t>26</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302187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dirty="0">
                <a:cs typeface="Arial" charset="0"/>
              </a:rPr>
              <a:t>Difference between Permutations and Combinations</a:t>
            </a:r>
          </a:p>
        </p:txBody>
      </p:sp>
      <p:sp>
        <p:nvSpPr>
          <p:cNvPr id="34819" name="Content Placeholder 2"/>
          <p:cNvSpPr>
            <a:spLocks noGrp="1"/>
          </p:cNvSpPr>
          <p:nvPr>
            <p:ph idx="1"/>
          </p:nvPr>
        </p:nvSpPr>
        <p:spPr/>
        <p:txBody>
          <a:bodyPr/>
          <a:lstStyle/>
          <a:p>
            <a:pPr marL="457200" lvl="1" indent="0" eaLnBrk="1" hangingPunct="1">
              <a:buNone/>
            </a:pPr>
            <a:r>
              <a:rPr lang="en-US" altLang="en-US" sz="2400" u="sng" dirty="0">
                <a:cs typeface="Arial" charset="0"/>
              </a:rPr>
              <a:t>Example 2</a:t>
            </a:r>
            <a:r>
              <a:rPr lang="en-US" altLang="en-US" sz="2400" dirty="0">
                <a:cs typeface="Arial" charset="0"/>
              </a:rPr>
              <a:t>:  9 people participate in a competition.  </a:t>
            </a:r>
          </a:p>
          <a:p>
            <a:pPr marL="457200" lvl="1" indent="0" eaLnBrk="1" hangingPunct="1">
              <a:buNone/>
            </a:pPr>
            <a:r>
              <a:rPr lang="en-US" altLang="en-US" sz="2400" dirty="0">
                <a:cs typeface="Arial" charset="0"/>
              </a:rPr>
              <a:t>In scenario one, three people are selected to receive the gold, silver and bronze medals.  </a:t>
            </a:r>
          </a:p>
          <a:p>
            <a:pPr marL="457200" lvl="1" indent="0" eaLnBrk="1" hangingPunct="1">
              <a:buNone/>
            </a:pPr>
            <a:r>
              <a:rPr lang="en-US" altLang="en-US" sz="2400" dirty="0">
                <a:cs typeface="Arial" charset="0"/>
              </a:rPr>
              <a:t>In scenario two, three people are selected to advance to the next round.</a:t>
            </a:r>
          </a:p>
          <a:p>
            <a:pPr marL="457200" lvl="1" indent="0" eaLnBrk="1" hangingPunct="1">
              <a:buNone/>
            </a:pPr>
            <a:r>
              <a:rPr lang="en-US" altLang="en-US" sz="2400" dirty="0">
                <a:cs typeface="Arial" charset="0"/>
              </a:rPr>
              <a:t>Q: Which scenario is a permutation and which scenario is a combination?</a:t>
            </a:r>
          </a:p>
        </p:txBody>
      </p:sp>
      <p:sp>
        <p:nvSpPr>
          <p:cNvPr id="4" name="Slide Number Placeholder 3"/>
          <p:cNvSpPr>
            <a:spLocks noGrp="1"/>
          </p:cNvSpPr>
          <p:nvPr>
            <p:ph type="sldNum" sz="quarter" idx="12"/>
          </p:nvPr>
        </p:nvSpPr>
        <p:spPr/>
        <p:txBody>
          <a:bodyPr/>
          <a:lstStyle/>
          <a:p>
            <a:pPr>
              <a:defRPr/>
            </a:pPr>
            <a:fld id="{67D7665F-B6DD-473C-AC59-A994C48A480E}" type="slidenum">
              <a:rPr lang="it-IT" smtClean="0"/>
              <a:pPr>
                <a:defRPr/>
              </a:pPr>
              <a:t>27</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073890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altLang="en-US" dirty="0">
                <a:cs typeface="Arial" charset="0"/>
              </a:rPr>
              <a:t>Permutations</a:t>
            </a:r>
          </a:p>
        </p:txBody>
      </p:sp>
      <p:sp>
        <p:nvSpPr>
          <p:cNvPr id="35843" name="Content Placeholder 2"/>
          <p:cNvSpPr>
            <a:spLocks noGrp="1"/>
          </p:cNvSpPr>
          <p:nvPr>
            <p:ph idx="1"/>
          </p:nvPr>
        </p:nvSpPr>
        <p:spPr/>
        <p:txBody>
          <a:bodyPr/>
          <a:lstStyle/>
          <a:p>
            <a:pPr eaLnBrk="1" hangingPunct="1"/>
            <a:r>
              <a:rPr lang="en-US" altLang="en-US" dirty="0">
                <a:cs typeface="Arial" charset="0"/>
              </a:rPr>
              <a:t>How do we determine the number of possibilities?</a:t>
            </a:r>
          </a:p>
          <a:p>
            <a:pPr lvl="1" eaLnBrk="1" hangingPunct="1"/>
            <a:r>
              <a:rPr lang="en-US" altLang="en-US" dirty="0">
                <a:cs typeface="Arial" charset="0"/>
              </a:rPr>
              <a:t>A </a:t>
            </a:r>
            <a:r>
              <a:rPr lang="en-US" altLang="en-US" b="1" dirty="0">
                <a:cs typeface="Arial" charset="0"/>
              </a:rPr>
              <a:t>permutation</a:t>
            </a:r>
            <a:r>
              <a:rPr lang="en-US" altLang="en-US" dirty="0">
                <a:cs typeface="Arial" charset="0"/>
              </a:rPr>
              <a:t> is an arrangement of all or part of a set of objects.</a:t>
            </a:r>
          </a:p>
          <a:p>
            <a:pPr lvl="1" eaLnBrk="1" hangingPunct="1"/>
            <a:r>
              <a:rPr lang="en-US" altLang="en-US" dirty="0">
                <a:cs typeface="Arial" charset="0"/>
              </a:rPr>
              <a:t>Can use the product rule for n-tuples</a:t>
            </a:r>
          </a:p>
          <a:p>
            <a:pPr lvl="1" eaLnBrk="1" hangingPunct="1"/>
            <a:endParaRPr lang="en-US" altLang="en-US" dirty="0">
              <a:cs typeface="Arial" charset="0"/>
            </a:endParaRPr>
          </a:p>
          <a:p>
            <a:pPr lvl="1" eaLnBrk="1" hangingPunct="1"/>
            <a:r>
              <a:rPr lang="en-US" altLang="en-US" dirty="0">
                <a:cs typeface="Arial" charset="0"/>
              </a:rPr>
              <a:t>Can use a tree diagram</a:t>
            </a:r>
          </a:p>
        </p:txBody>
      </p:sp>
      <p:sp>
        <p:nvSpPr>
          <p:cNvPr id="4" name="Slide Number Placeholder 3"/>
          <p:cNvSpPr>
            <a:spLocks noGrp="1"/>
          </p:cNvSpPr>
          <p:nvPr>
            <p:ph type="sldNum" sz="quarter" idx="12"/>
          </p:nvPr>
        </p:nvSpPr>
        <p:spPr/>
        <p:txBody>
          <a:bodyPr/>
          <a:lstStyle/>
          <a:p>
            <a:pPr>
              <a:defRPr/>
            </a:pPr>
            <a:fld id="{5FFDA696-30D5-4BC6-89AC-969C28B71F5D}" type="slidenum">
              <a:rPr lang="it-IT" smtClean="0"/>
              <a:pPr>
                <a:defRPr/>
              </a:pPr>
              <a:t>28</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608838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ltLang="en-US" dirty="0">
                <a:cs typeface="Arial" charset="0"/>
              </a:rPr>
              <a:t>Permutations</a:t>
            </a:r>
          </a:p>
        </p:txBody>
      </p:sp>
      <p:sp>
        <p:nvSpPr>
          <p:cNvPr id="4" name="Slide Number Placeholder 3"/>
          <p:cNvSpPr>
            <a:spLocks noGrp="1"/>
          </p:cNvSpPr>
          <p:nvPr>
            <p:ph type="sldNum" sz="quarter" idx="12"/>
          </p:nvPr>
        </p:nvSpPr>
        <p:spPr/>
        <p:txBody>
          <a:bodyPr/>
          <a:lstStyle/>
          <a:p>
            <a:pPr>
              <a:defRPr/>
            </a:pPr>
            <a:fld id="{4EB604A2-C38C-4ED8-B0C9-8D435AD7800E}" type="slidenum">
              <a:rPr lang="it-IT" smtClean="0"/>
              <a:pPr>
                <a:defRPr/>
              </a:pPr>
              <a:t>29</a:t>
            </a:fld>
            <a:endParaRPr lang="it-IT"/>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981200" y="1235076"/>
                <a:ext cx="8229600" cy="5121275"/>
              </a:xfrm>
            </p:spPr>
            <p:txBody>
              <a:bodyPr/>
              <a:lstStyle/>
              <a:p>
                <a:pPr marL="0" indent="0">
                  <a:buNone/>
                </a:pPr>
                <a:endParaRPr lang="en-US" sz="1200" dirty="0"/>
              </a:p>
              <a:p>
                <a:pPr lvl="1"/>
                <a:r>
                  <a:rPr lang="en-US" dirty="0"/>
                  <a:t>The number of permutations of </a:t>
                </a:r>
                <a:r>
                  <a:rPr lang="en-US" i="1" dirty="0">
                    <a:latin typeface="Times New Roman" panose="02020603050405020304" pitchFamily="18" charset="0"/>
                    <a:cs typeface="Times New Roman" panose="02020603050405020304" pitchFamily="18" charset="0"/>
                  </a:rPr>
                  <a:t>n</a:t>
                </a:r>
                <a:r>
                  <a:rPr lang="en-US" dirty="0"/>
                  <a:t> objects is </a:t>
                </a:r>
                <a:r>
                  <a:rPr lang="en-US" i="1" dirty="0">
                    <a:latin typeface="Times New Roman" panose="02020603050405020304" pitchFamily="18" charset="0"/>
                    <a:cs typeface="Times New Roman" panose="02020603050405020304" pitchFamily="18" charset="0"/>
                  </a:rPr>
                  <a:t>n!</a:t>
                </a:r>
                <a:r>
                  <a:rPr lang="en-US" dirty="0"/>
                  <a:t>, which is called “</a:t>
                </a:r>
                <a:r>
                  <a:rPr lang="en-US" i="1" dirty="0">
                    <a:latin typeface="Times New Roman" panose="02020603050405020304" pitchFamily="18" charset="0"/>
                    <a:cs typeface="Times New Roman" panose="02020603050405020304" pitchFamily="18" charset="0"/>
                  </a:rPr>
                  <a:t>n</a:t>
                </a:r>
                <a:r>
                  <a:rPr lang="en-US" dirty="0"/>
                  <a:t> factorial” and is defined </a:t>
                </a:r>
              </a:p>
              <a:p>
                <a:pPr marL="457200" lvl="1" indent="0" algn="ctr">
                  <a:buNone/>
                </a:pPr>
                <a14:m>
                  <m:oMathPara xmlns:m="http://schemas.openxmlformats.org/officeDocument/2006/math">
                    <m:oMathParaPr>
                      <m:jc m:val="centerGroup"/>
                    </m:oMathParaPr>
                    <m:oMath xmlns:m="http://schemas.openxmlformats.org/officeDocument/2006/math">
                      <m:r>
                        <a:rPr lang="en-US" sz="2400" i="1">
                          <a:latin typeface="Cambria Math"/>
                        </a:rPr>
                        <m:t>𝑛</m:t>
                      </m:r>
                      <m:r>
                        <a:rPr lang="en-US" sz="2400" i="1">
                          <a:latin typeface="Cambria Math"/>
                        </a:rPr>
                        <m:t>!=</m:t>
                      </m:r>
                      <m:r>
                        <a:rPr lang="en-US" sz="2400" i="1">
                          <a:latin typeface="Cambria Math"/>
                        </a:rPr>
                        <m:t>𝑛</m:t>
                      </m:r>
                      <m:d>
                        <m:dPr>
                          <m:ctrlPr>
                            <a:rPr lang="en-US" sz="2400" i="1">
                              <a:latin typeface="Cambria Math" panose="02040503050406030204" pitchFamily="18" charset="0"/>
                            </a:rPr>
                          </m:ctrlPr>
                        </m:dPr>
                        <m:e>
                          <m:r>
                            <a:rPr lang="en-US" sz="2400" i="1">
                              <a:latin typeface="Cambria Math"/>
                            </a:rPr>
                            <m:t>𝑛</m:t>
                          </m:r>
                          <m:r>
                            <a:rPr lang="en-US" sz="2400" i="1">
                              <a:latin typeface="Cambria Math"/>
                            </a:rPr>
                            <m:t>−1</m:t>
                          </m:r>
                        </m:e>
                      </m:d>
                      <m:d>
                        <m:dPr>
                          <m:ctrlPr>
                            <a:rPr lang="en-US" sz="2400" i="1">
                              <a:latin typeface="Cambria Math" panose="02040503050406030204" pitchFamily="18" charset="0"/>
                            </a:rPr>
                          </m:ctrlPr>
                        </m:dPr>
                        <m:e>
                          <m:r>
                            <a:rPr lang="en-US" sz="2400" i="1">
                              <a:latin typeface="Cambria Math"/>
                            </a:rPr>
                            <m:t>𝑛</m:t>
                          </m:r>
                          <m:r>
                            <a:rPr lang="en-US" sz="2400" i="1">
                              <a:latin typeface="Cambria Math"/>
                            </a:rPr>
                            <m:t>−2</m:t>
                          </m:r>
                        </m:e>
                      </m:d>
                      <m:r>
                        <a:rPr lang="en-US" sz="2400" i="1">
                          <a:latin typeface="Cambria Math"/>
                          <a:ea typeface="Cambria Math"/>
                        </a:rPr>
                        <m:t>∙∙∙(2)(1)</m:t>
                      </m:r>
                    </m:oMath>
                  </m:oMathPara>
                </a14:m>
                <a:endParaRPr lang="en-US" sz="2400" dirty="0"/>
              </a:p>
              <a:p>
                <a:pPr lvl="1"/>
                <a:endParaRPr lang="en-US" sz="1200" dirty="0"/>
              </a:p>
              <a:p>
                <a:pPr marL="457200" lvl="1" indent="0">
                  <a:buNone/>
                </a:pPr>
                <a:r>
                  <a:rPr lang="en-US" dirty="0"/>
                  <a:t>Permutation Formula:  The number of </a:t>
                </a:r>
                <a:r>
                  <a:rPr lang="en-US" i="1" dirty="0">
                    <a:latin typeface="Times New Roman" panose="02020603050405020304" pitchFamily="18" charset="0"/>
                    <a:cs typeface="Times New Roman" panose="02020603050405020304" pitchFamily="18" charset="0"/>
                  </a:rPr>
                  <a:t>n</a:t>
                </a:r>
                <a:r>
                  <a:rPr lang="en-US" dirty="0"/>
                  <a:t> distinct objects taken </a:t>
                </a:r>
                <a:r>
                  <a:rPr lang="en-US" i="1" dirty="0">
                    <a:latin typeface="Times New Roman" panose="02020603050405020304" pitchFamily="18" charset="0"/>
                    <a:cs typeface="Times New Roman" panose="02020603050405020304" pitchFamily="18" charset="0"/>
                  </a:rPr>
                  <a:t>r</a:t>
                </a:r>
                <a:r>
                  <a:rPr lang="en-US" dirty="0"/>
                  <a:t> at a time is </a:t>
                </a:r>
                <a14:m>
                  <m:oMath xmlns:m="http://schemas.openxmlformats.org/officeDocument/2006/math">
                    <m:sSub>
                      <m:sSubPr>
                        <m:ctrlPr>
                          <a:rPr lang="en-US" i="1" smtClean="0">
                            <a:latin typeface="Cambria Math" panose="02040503050406030204" pitchFamily="18" charset="0"/>
                          </a:rPr>
                        </m:ctrlPr>
                      </m:sSubPr>
                      <m:e>
                        <m:r>
                          <a:rPr lang="en-US" b="0" i="1" smtClean="0">
                            <a:solidFill>
                              <a:schemeClr val="bg1"/>
                            </a:solidFill>
                            <a:latin typeface="Cambria Math"/>
                          </a:rPr>
                          <m:t>.</m:t>
                        </m:r>
                      </m:e>
                      <m:sub>
                        <m:r>
                          <a:rPr lang="en-US" b="0" i="1" smtClean="0">
                            <a:latin typeface="Cambria Math"/>
                          </a:rPr>
                          <m:t>𝑛</m:t>
                        </m:r>
                      </m:sub>
                    </m:sSub>
                    <m:sSub>
                      <m:sSubPr>
                        <m:ctrlPr>
                          <a:rPr lang="en-US" i="1" smtClean="0">
                            <a:latin typeface="Cambria Math" panose="02040503050406030204" pitchFamily="18" charset="0"/>
                          </a:rPr>
                        </m:ctrlPr>
                      </m:sSubPr>
                      <m:e>
                        <m:r>
                          <a:rPr lang="en-US" b="0" i="1" smtClean="0">
                            <a:latin typeface="Cambria Math"/>
                          </a:rPr>
                          <m:t>𝑃</m:t>
                        </m:r>
                      </m:e>
                      <m:sub>
                        <m:r>
                          <a:rPr lang="en-US" b="0" i="1" smtClean="0">
                            <a:latin typeface="Cambria Math"/>
                          </a:rPr>
                          <m:t>𝑟</m:t>
                        </m:r>
                      </m:sub>
                    </m:sSub>
                    <m:r>
                      <a:rPr lang="en-US" b="0" i="0" smtClean="0">
                        <a:latin typeface="Cambria Math"/>
                      </a:rPr>
                      <m:t>=</m:t>
                    </m:r>
                    <m:f>
                      <m:fPr>
                        <m:ctrlPr>
                          <a:rPr lang="en-US" b="0" i="1" smtClean="0">
                            <a:latin typeface="Cambria Math" panose="02040503050406030204" pitchFamily="18" charset="0"/>
                          </a:rPr>
                        </m:ctrlPr>
                      </m:fPr>
                      <m:num>
                        <m:r>
                          <a:rPr lang="en-US" b="0" i="1" smtClean="0">
                            <a:latin typeface="Cambria Math"/>
                          </a:rPr>
                          <m:t>𝑛</m:t>
                        </m:r>
                        <m:r>
                          <a:rPr lang="en-US" b="0" i="1" smtClean="0">
                            <a:latin typeface="Cambria Math"/>
                          </a:rPr>
                          <m:t>!</m:t>
                        </m:r>
                      </m:num>
                      <m:den>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m:t>
                            </m:r>
                            <m:r>
                              <a:rPr lang="en-US" b="0" i="1" smtClean="0">
                                <a:latin typeface="Cambria Math"/>
                              </a:rPr>
                              <m:t>𝑟</m:t>
                            </m:r>
                          </m:e>
                        </m:d>
                        <m:r>
                          <a:rPr lang="en-US" b="0" i="1" smtClean="0">
                            <a:latin typeface="Cambria Math"/>
                          </a:rPr>
                          <m:t>!</m:t>
                        </m:r>
                      </m:den>
                    </m:f>
                  </m:oMath>
                </a14:m>
                <a:endParaRPr lang="en-US" dirty="0"/>
              </a:p>
              <a:p>
                <a:pPr marL="457200" lvl="1" indent="0">
                  <a:buNone/>
                </a:pPr>
                <a:endParaRPr lang="en-US" dirty="0"/>
              </a:p>
              <a:p>
                <a:pPr marL="457200" lvl="1" indent="0">
                  <a:buNone/>
                </a:pPr>
                <a:r>
                  <a:rPr lang="en-US" dirty="0"/>
                  <a:t>Intuition?</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981200" y="1235076"/>
                <a:ext cx="8229600" cy="5121275"/>
              </a:xfrm>
              <a:blipFill>
                <a:blip r:embed="rId3"/>
                <a:stretch>
                  <a:fillRect/>
                </a:stretch>
              </a:blipFill>
            </p:spPr>
            <p:txBody>
              <a:bodyPr/>
              <a:lstStyle/>
              <a:p>
                <a:r>
                  <a:rPr lang="en-US">
                    <a:noFill/>
                  </a:rPr>
                  <a:t> </a:t>
                </a:r>
              </a:p>
            </p:txBody>
          </p:sp>
        </mc:Fallback>
      </mc:AlternateContent>
      <p:sp>
        <p:nvSpPr>
          <p:cNvPr id="3" name="Date Placeholder 2"/>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224743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Circular Permutations</a:t>
            </a:r>
          </a:p>
        </p:txBody>
      </p:sp>
      <p:sp>
        <p:nvSpPr>
          <p:cNvPr id="3" name="Content Placeholder 2"/>
          <p:cNvSpPr>
            <a:spLocks noGrp="1"/>
          </p:cNvSpPr>
          <p:nvPr>
            <p:ph idx="1"/>
          </p:nvPr>
        </p:nvSpPr>
        <p:spPr/>
        <p:txBody>
          <a:bodyPr>
            <a:normAutofit/>
          </a:bodyPr>
          <a:lstStyle/>
          <a:p>
            <a:r>
              <a:rPr lang="en-US" u="sng" dirty="0"/>
              <a:t>Circular Permutations:</a:t>
            </a:r>
            <a:r>
              <a:rPr lang="en-US" dirty="0"/>
              <a:t>  Permutations that occur in a circle.</a:t>
            </a:r>
          </a:p>
          <a:p>
            <a:pPr lvl="1"/>
            <a:r>
              <a:rPr lang="en-US" dirty="0"/>
              <a:t>The number of permutations of n objects arranged in a circle is </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-1)!</a:t>
            </a:r>
          </a:p>
          <a:p>
            <a:r>
              <a:rPr lang="en-US" dirty="0"/>
              <a:t>Example:  Seating arrangements around a table.</a:t>
            </a:r>
          </a:p>
          <a:p>
            <a:pPr lvl="1"/>
            <a:r>
              <a:rPr lang="en-US" dirty="0"/>
              <a:t>If all people move one chair to the right – that is NOT a new arrangement.</a:t>
            </a:r>
          </a:p>
          <a:p>
            <a:pPr lvl="1"/>
            <a:r>
              <a:rPr lang="en-US" dirty="0"/>
              <a:t>If person 1 stays in same chair, and other people move then that is a new arrangement.</a:t>
            </a:r>
          </a:p>
        </p:txBody>
      </p:sp>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30</a:t>
            </a:fld>
            <a:endParaRPr lang="it-IT"/>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426755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Permutations –  Another Special Case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What if all of our objects are not distinct?</a:t>
                </a:r>
              </a:p>
              <a:p>
                <a:pPr lvl="1"/>
                <a:r>
                  <a:rPr lang="en-US" dirty="0"/>
                  <a:t>Example:  Number of ways to rearrange letters, banana</a:t>
                </a:r>
              </a:p>
              <a:p>
                <a:pPr lvl="1"/>
                <a:endParaRPr lang="en-US" dirty="0"/>
              </a:p>
              <a:p>
                <a:pPr lvl="1"/>
                <a:endParaRPr lang="en-US" dirty="0"/>
              </a:p>
              <a:p>
                <a:r>
                  <a:rPr lang="en-US" sz="3000" u="sng" dirty="0"/>
                  <a:t>Theorem 2.4:</a:t>
                </a:r>
                <a:r>
                  <a:rPr lang="en-US" sz="3000" dirty="0"/>
                  <a:t>  The number of distinct permutations of </a:t>
                </a:r>
                <a:r>
                  <a:rPr lang="en-US" sz="3000" i="1" dirty="0">
                    <a:latin typeface="Times New Roman" panose="02020603050405020304" pitchFamily="18" charset="0"/>
                    <a:cs typeface="Times New Roman" panose="02020603050405020304" pitchFamily="18" charset="0"/>
                  </a:rPr>
                  <a:t>n</a:t>
                </a:r>
                <a:r>
                  <a:rPr lang="en-US" sz="3000" dirty="0"/>
                  <a:t> things of which </a:t>
                </a:r>
                <a:r>
                  <a:rPr lang="en-US" sz="3000" i="1" dirty="0">
                    <a:latin typeface="Times New Roman" panose="02020603050405020304" pitchFamily="18" charset="0"/>
                    <a:cs typeface="Times New Roman" panose="02020603050405020304" pitchFamily="18" charset="0"/>
                  </a:rPr>
                  <a:t>n</a:t>
                </a:r>
                <a:r>
                  <a:rPr lang="en-US" sz="3000" i="1" baseline="-25000" dirty="0">
                    <a:latin typeface="Times New Roman" panose="02020603050405020304" pitchFamily="18" charset="0"/>
                    <a:cs typeface="Times New Roman" panose="02020603050405020304" pitchFamily="18" charset="0"/>
                  </a:rPr>
                  <a:t>1</a:t>
                </a:r>
                <a:r>
                  <a:rPr lang="en-US" sz="3000" dirty="0"/>
                  <a:t> are of one kind, </a:t>
                </a:r>
                <a:r>
                  <a:rPr lang="en-US" sz="3000" i="1" dirty="0">
                    <a:latin typeface="Times New Roman" panose="02020603050405020304" pitchFamily="18" charset="0"/>
                    <a:cs typeface="Times New Roman" panose="02020603050405020304" pitchFamily="18" charset="0"/>
                  </a:rPr>
                  <a:t>n</a:t>
                </a:r>
                <a:r>
                  <a:rPr lang="en-US" sz="3000" i="1" baseline="-25000" dirty="0">
                    <a:latin typeface="Times New Roman" panose="02020603050405020304" pitchFamily="18" charset="0"/>
                    <a:cs typeface="Times New Roman" panose="02020603050405020304" pitchFamily="18" charset="0"/>
                  </a:rPr>
                  <a:t>2</a:t>
                </a:r>
                <a:r>
                  <a:rPr lang="en-US" sz="3000" dirty="0"/>
                  <a:t> are of a second kind, … , </a:t>
                </a:r>
                <a:r>
                  <a:rPr lang="en-US" sz="3000" i="1" dirty="0" err="1">
                    <a:latin typeface="Times New Roman" panose="02020603050405020304" pitchFamily="18" charset="0"/>
                    <a:cs typeface="Times New Roman" panose="02020603050405020304" pitchFamily="18" charset="0"/>
                  </a:rPr>
                  <a:t>n</a:t>
                </a:r>
                <a:r>
                  <a:rPr lang="en-US" sz="3000" i="1" baseline="-25000" dirty="0" err="1">
                    <a:latin typeface="Times New Roman" panose="02020603050405020304" pitchFamily="18" charset="0"/>
                    <a:cs typeface="Times New Roman" panose="02020603050405020304" pitchFamily="18" charset="0"/>
                  </a:rPr>
                  <a:t>k</a:t>
                </a:r>
                <a:r>
                  <a:rPr lang="en-US" sz="3000" dirty="0"/>
                  <a:t> of a </a:t>
                </a:r>
                <a:r>
                  <a:rPr lang="en-US" sz="3000" i="1" dirty="0" err="1"/>
                  <a:t>k</a:t>
                </a:r>
                <a:r>
                  <a:rPr lang="en-US" sz="3000" baseline="30000" dirty="0" err="1"/>
                  <a:t>th</a:t>
                </a:r>
                <a:r>
                  <a:rPr lang="en-US" sz="3000" dirty="0"/>
                  <a:t> kind is </a:t>
                </a:r>
                <a14:m>
                  <m:oMath xmlns:m="http://schemas.openxmlformats.org/officeDocument/2006/math">
                    <m:f>
                      <m:fPr>
                        <m:ctrlPr>
                          <a:rPr lang="en-US" sz="3000" i="1">
                            <a:latin typeface="Cambria Math" panose="02040503050406030204" pitchFamily="18" charset="0"/>
                          </a:rPr>
                        </m:ctrlPr>
                      </m:fPr>
                      <m:num>
                        <m:r>
                          <a:rPr lang="en-US" sz="3000" i="1">
                            <a:latin typeface="Cambria Math"/>
                          </a:rPr>
                          <m:t>𝑛</m:t>
                        </m:r>
                        <m:r>
                          <a:rPr lang="en-US" sz="3000" i="1">
                            <a:latin typeface="Cambria Math"/>
                          </a:rPr>
                          <m:t>!</m:t>
                        </m:r>
                      </m:num>
                      <m:den>
                        <m:sSub>
                          <m:sSubPr>
                            <m:ctrlPr>
                              <a:rPr lang="en-US" sz="3000" i="1">
                                <a:latin typeface="Cambria Math" panose="02040503050406030204" pitchFamily="18" charset="0"/>
                              </a:rPr>
                            </m:ctrlPr>
                          </m:sSubPr>
                          <m:e>
                            <m:r>
                              <a:rPr lang="en-US" sz="3000" i="1">
                                <a:latin typeface="Cambria Math"/>
                              </a:rPr>
                              <m:t>𝑛</m:t>
                            </m:r>
                          </m:e>
                          <m:sub>
                            <m:r>
                              <a:rPr lang="en-US" sz="3000" i="1">
                                <a:latin typeface="Cambria Math"/>
                              </a:rPr>
                              <m:t>1</m:t>
                            </m:r>
                          </m:sub>
                        </m:sSub>
                        <m:r>
                          <a:rPr lang="en-US" sz="3000" i="1">
                            <a:latin typeface="Cambria Math"/>
                          </a:rPr>
                          <m:t>!</m:t>
                        </m:r>
                        <m:sSub>
                          <m:sSubPr>
                            <m:ctrlPr>
                              <a:rPr lang="en-US" sz="3000" i="1">
                                <a:latin typeface="Cambria Math" panose="02040503050406030204" pitchFamily="18" charset="0"/>
                              </a:rPr>
                            </m:ctrlPr>
                          </m:sSubPr>
                          <m:e>
                            <m:r>
                              <a:rPr lang="en-US" sz="3000" i="1">
                                <a:latin typeface="Cambria Math"/>
                              </a:rPr>
                              <m:t>𝑛</m:t>
                            </m:r>
                          </m:e>
                          <m:sub>
                            <m:r>
                              <a:rPr lang="en-US" sz="3000" i="1">
                                <a:latin typeface="Cambria Math"/>
                              </a:rPr>
                              <m:t>2</m:t>
                            </m:r>
                          </m:sub>
                        </m:sSub>
                        <m:r>
                          <a:rPr lang="en-US" sz="3000" i="1">
                            <a:latin typeface="Cambria Math"/>
                          </a:rPr>
                          <m:t>!</m:t>
                        </m:r>
                        <m:sSub>
                          <m:sSubPr>
                            <m:ctrlPr>
                              <a:rPr lang="en-US" sz="3000" i="1">
                                <a:latin typeface="Cambria Math" panose="02040503050406030204" pitchFamily="18" charset="0"/>
                              </a:rPr>
                            </m:ctrlPr>
                          </m:sSubPr>
                          <m:e>
                            <m:r>
                              <a:rPr lang="en-US" sz="3000" i="1">
                                <a:latin typeface="Cambria Math"/>
                                <a:ea typeface="Cambria Math"/>
                              </a:rPr>
                              <m:t>⋯</m:t>
                            </m:r>
                            <m:r>
                              <a:rPr lang="en-US" sz="3000" i="1">
                                <a:latin typeface="Cambria Math"/>
                              </a:rPr>
                              <m:t>𝑛</m:t>
                            </m:r>
                          </m:e>
                          <m:sub>
                            <m:r>
                              <a:rPr lang="en-US" sz="3000" i="1">
                                <a:latin typeface="Cambria Math"/>
                              </a:rPr>
                              <m:t>𝑘</m:t>
                            </m:r>
                          </m:sub>
                        </m:sSub>
                        <m:r>
                          <a:rPr lang="en-US" sz="3000" i="1">
                            <a:latin typeface="Cambria Math"/>
                          </a:rPr>
                          <m:t>!</m:t>
                        </m:r>
                      </m:den>
                    </m:f>
                  </m:oMath>
                </a14:m>
                <a:r>
                  <a:rPr lang="en-US" sz="30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87" t="-1681" r="-9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31</a:t>
            </a:fld>
            <a:endParaRPr lang="it-IT"/>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29770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914400" y="1417639"/>
            <a:ext cx="10439400" cy="4708525"/>
          </a:xfrm>
        </p:spPr>
        <p:txBody>
          <a:bodyPr/>
          <a:lstStyle/>
          <a:p>
            <a:r>
              <a:rPr lang="en-US" altLang="en-US" dirty="0"/>
              <a:t>How many ways can one arrange the letters </a:t>
            </a:r>
            <a:r>
              <a:rPr lang="en-US" dirty="0" err="1"/>
              <a:t>b,a,n,a,n,a</a:t>
            </a:r>
            <a:r>
              <a:rPr lang="en-US" altLang="en-US" dirty="0"/>
              <a:t>?</a:t>
            </a:r>
          </a:p>
          <a:p>
            <a:endParaRPr lang="en-US" altLang="en-US" dirty="0"/>
          </a:p>
        </p:txBody>
      </p:sp>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32</a:t>
            </a:fld>
            <a:endParaRPr lang="it-IT"/>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0205891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When order doesn’t matter, and we just want to split objects into different groups or </a:t>
                </a:r>
                <a:r>
                  <a:rPr lang="en-US" b="1" dirty="0"/>
                  <a:t>cells</a:t>
                </a:r>
                <a:r>
                  <a:rPr lang="en-US" dirty="0"/>
                  <a:t>, then we have a combination.</a:t>
                </a:r>
              </a:p>
              <a:p>
                <a:r>
                  <a:rPr lang="en-US" dirty="0"/>
                  <a:t>The number of combinations of </a:t>
                </a:r>
                <a:r>
                  <a:rPr lang="en-US" i="1" dirty="0">
                    <a:latin typeface="Times New Roman" panose="02020603050405020304" pitchFamily="18" charset="0"/>
                    <a:cs typeface="Times New Roman" panose="02020603050405020304" pitchFamily="18" charset="0"/>
                  </a:rPr>
                  <a:t>n</a:t>
                </a:r>
                <a:r>
                  <a:rPr lang="en-US" dirty="0"/>
                  <a:t> distinct objects taken </a:t>
                </a:r>
                <a:r>
                  <a:rPr lang="en-US" i="1" dirty="0">
                    <a:latin typeface="Times New Roman" panose="02020603050405020304" pitchFamily="18" charset="0"/>
                    <a:cs typeface="Times New Roman" panose="02020603050405020304" pitchFamily="18" charset="0"/>
                  </a:rPr>
                  <a:t>r</a:t>
                </a:r>
                <a:r>
                  <a:rPr lang="en-US" dirty="0"/>
                  <a:t> at a time is </a:t>
                </a:r>
                <a14:m>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a:rPr>
                                <m:t>𝑛</m:t>
                              </m:r>
                            </m:e>
                          </m:mr>
                          <m:mr>
                            <m:e>
                              <m:r>
                                <a:rPr lang="en-US" i="1">
                                  <a:latin typeface="Cambria Math"/>
                                </a:rPr>
                                <m:t>𝑟</m:t>
                              </m:r>
                            </m:e>
                          </m:mr>
                        </m:m>
                      </m:e>
                    </m:d>
                    <m:r>
                      <a:rPr lang="en-US" i="1">
                        <a:latin typeface="Cambria Math"/>
                      </a:rPr>
                      <m:t>=</m:t>
                    </m:r>
                    <m:f>
                      <m:fPr>
                        <m:ctrlPr>
                          <a:rPr lang="en-US" i="1">
                            <a:latin typeface="Cambria Math" panose="02040503050406030204" pitchFamily="18" charset="0"/>
                          </a:rPr>
                        </m:ctrlPr>
                      </m:fPr>
                      <m:num>
                        <m:r>
                          <a:rPr lang="en-US" i="1">
                            <a:latin typeface="Cambria Math"/>
                          </a:rPr>
                          <m:t>𝑛</m:t>
                        </m:r>
                        <m:r>
                          <a:rPr lang="en-US" i="1">
                            <a:latin typeface="Cambria Math"/>
                          </a:rPr>
                          <m:t>!</m:t>
                        </m:r>
                      </m:num>
                      <m:den>
                        <m:r>
                          <a:rPr lang="en-US" i="1">
                            <a:latin typeface="Cambria Math"/>
                          </a:rPr>
                          <m:t>𝑟</m:t>
                        </m:r>
                        <m:r>
                          <a:rPr lang="en-US" i="1">
                            <a:latin typeface="Cambria Math"/>
                          </a:rPr>
                          <m:t>!(</m:t>
                        </m:r>
                        <m:r>
                          <a:rPr lang="en-US" i="1">
                            <a:latin typeface="Cambria Math"/>
                          </a:rPr>
                          <m:t>𝑛</m:t>
                        </m:r>
                        <m:r>
                          <a:rPr lang="en-US" i="1">
                            <a:latin typeface="Cambria Math"/>
                          </a:rPr>
                          <m:t>−</m:t>
                        </m:r>
                        <m:r>
                          <a:rPr lang="en-US" i="1">
                            <a:latin typeface="Cambria Math"/>
                          </a:rPr>
                          <m:t>𝑟</m:t>
                        </m:r>
                        <m:r>
                          <a:rPr lang="en-US" i="1">
                            <a:latin typeface="Cambria Math"/>
                          </a:rPr>
                          <m:t>)!</m:t>
                        </m:r>
                      </m:den>
                    </m:f>
                  </m:oMath>
                </a14:m>
                <a:r>
                  <a:rPr lang="en-US" dirty="0"/>
                  <a:t>.</a:t>
                </a:r>
              </a:p>
              <a:p>
                <a:pPr lvl="1"/>
                <a:r>
                  <a:rPr lang="en-US" dirty="0"/>
                  <a:t>Example:  9 people compete and 3 advance to next round.  </a:t>
                </a:r>
              </a:p>
              <a:p>
                <a:pPr lvl="2"/>
                <a:r>
                  <a:rPr lang="en-US" dirty="0"/>
                  <a:t>Cell 1:  3 people that advance</a:t>
                </a:r>
              </a:p>
              <a:p>
                <a:pPr lvl="2"/>
                <a:r>
                  <a:rPr lang="en-US" dirty="0"/>
                  <a:t>Cell 2:  6 people that do not advance</a:t>
                </a:r>
              </a:p>
              <a:p>
                <a:pPr lvl="2"/>
                <a:r>
                  <a:rPr lang="en-US" dirty="0"/>
                  <a:t># of Combinations:</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3"/>
                <a:stretch>
                  <a:fillRect l="-1387" t="-1681"/>
                </a:stretch>
              </a:blipFill>
            </p:spPr>
            <p:txBody>
              <a:bodyPr/>
              <a:lstStyle/>
              <a:p>
                <a:r>
                  <a:rPr lang="en-US">
                    <a:noFill/>
                  </a:rPr>
                  <a:t> </a:t>
                </a:r>
              </a:p>
            </p:txBody>
          </p:sp>
        </mc:Fallback>
      </mc:AlternateContent>
      <p:sp>
        <p:nvSpPr>
          <p:cNvPr id="37890" name="Title 1"/>
          <p:cNvSpPr>
            <a:spLocks noGrp="1"/>
          </p:cNvSpPr>
          <p:nvPr>
            <p:ph type="title"/>
          </p:nvPr>
        </p:nvSpPr>
        <p:spPr/>
        <p:txBody>
          <a:bodyPr/>
          <a:lstStyle/>
          <a:p>
            <a:pPr eaLnBrk="1" hangingPunct="1"/>
            <a:r>
              <a:rPr lang="en-US" altLang="en-US" dirty="0">
                <a:cs typeface="Arial" charset="0"/>
              </a:rPr>
              <a:t>Combinations</a:t>
            </a:r>
          </a:p>
        </p:txBody>
      </p:sp>
      <p:sp>
        <p:nvSpPr>
          <p:cNvPr id="4" name="Slide Number Placeholder 3"/>
          <p:cNvSpPr>
            <a:spLocks noGrp="1"/>
          </p:cNvSpPr>
          <p:nvPr>
            <p:ph type="sldNum" sz="quarter" idx="12"/>
          </p:nvPr>
        </p:nvSpPr>
        <p:spPr/>
        <p:txBody>
          <a:bodyPr/>
          <a:lstStyle/>
          <a:p>
            <a:pPr>
              <a:defRPr/>
            </a:pPr>
            <a:fld id="{D780B766-9C6A-4048-807A-009C2CA92769}" type="slidenum">
              <a:rPr lang="it-IT" smtClean="0"/>
              <a:pPr>
                <a:defRPr/>
              </a:pPr>
              <a:t>33</a:t>
            </a:fld>
            <a:endParaRPr lang="it-IT"/>
          </a:p>
        </p:txBody>
      </p:sp>
      <p:sp>
        <p:nvSpPr>
          <p:cNvPr id="3" name="Date Placeholder 2"/>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225705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342900" lvl="2" indent="-342900"/>
                <a:r>
                  <a:rPr lang="en-US" sz="2800" dirty="0"/>
                  <a:t>The number of combinations of </a:t>
                </a:r>
                <a:r>
                  <a:rPr lang="en-US" sz="2800" i="1" dirty="0">
                    <a:latin typeface="Times New Roman" panose="02020603050405020304" pitchFamily="18" charset="0"/>
                    <a:cs typeface="Times New Roman" panose="02020603050405020304" pitchFamily="18" charset="0"/>
                  </a:rPr>
                  <a:t>n</a:t>
                </a:r>
                <a:r>
                  <a:rPr lang="en-US" sz="2800" dirty="0"/>
                  <a:t> distinct objects taken </a:t>
                </a:r>
                <a:r>
                  <a:rPr lang="en-US" sz="2800" i="1" dirty="0">
                    <a:latin typeface="Times New Roman" panose="02020603050405020304" pitchFamily="18" charset="0"/>
                    <a:cs typeface="Times New Roman" panose="02020603050405020304" pitchFamily="18" charset="0"/>
                  </a:rPr>
                  <a:t>r</a:t>
                </a:r>
                <a:r>
                  <a:rPr lang="en-US" sz="2800" dirty="0"/>
                  <a:t> at a time is </a:t>
                </a:r>
                <a14:m>
                  <m:oMath xmlns:m="http://schemas.openxmlformats.org/officeDocument/2006/math">
                    <m:d>
                      <m:dPr>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a:rPr>
                                <m:t>𝑛</m:t>
                              </m:r>
                            </m:e>
                          </m:mr>
                          <m:mr>
                            <m:e>
                              <m:r>
                                <a:rPr lang="en-US" b="0" i="1" smtClean="0">
                                  <a:latin typeface="Cambria Math"/>
                                </a:rPr>
                                <m:t>𝑟</m:t>
                              </m:r>
                            </m:e>
                          </m:mr>
                        </m:m>
                      </m:e>
                    </m:d>
                    <m:r>
                      <a:rPr lang="en-US" i="1">
                        <a:latin typeface="Cambria Math"/>
                      </a:rPr>
                      <m:t>=</m:t>
                    </m:r>
                    <m:f>
                      <m:fPr>
                        <m:ctrlPr>
                          <a:rPr lang="en-US" i="1">
                            <a:latin typeface="Cambria Math" panose="02040503050406030204" pitchFamily="18" charset="0"/>
                          </a:rPr>
                        </m:ctrlPr>
                      </m:fPr>
                      <m:num>
                        <m:r>
                          <a:rPr lang="en-US" b="0" i="1" smtClean="0">
                            <a:latin typeface="Cambria Math"/>
                          </a:rPr>
                          <m:t>𝑛</m:t>
                        </m:r>
                        <m:r>
                          <a:rPr lang="en-US" i="1">
                            <a:latin typeface="Cambria Math"/>
                          </a:rPr>
                          <m:t>!</m:t>
                        </m:r>
                      </m:num>
                      <m:den>
                        <m:r>
                          <a:rPr lang="en-US" b="0" i="1" smtClean="0">
                            <a:latin typeface="Cambria Math"/>
                          </a:rPr>
                          <m:t>𝑟</m:t>
                        </m:r>
                        <m:r>
                          <a:rPr lang="en-US" i="1">
                            <a:latin typeface="Cambria Math"/>
                          </a:rPr>
                          <m:t>!</m:t>
                        </m:r>
                        <m:r>
                          <a:rPr lang="en-US" b="0" i="1" smtClean="0">
                            <a:latin typeface="Cambria Math"/>
                          </a:rPr>
                          <m:t>(</m:t>
                        </m:r>
                        <m:r>
                          <a:rPr lang="en-US" b="0" i="1" smtClean="0">
                            <a:latin typeface="Cambria Math"/>
                          </a:rPr>
                          <m:t>𝑛</m:t>
                        </m:r>
                        <m:r>
                          <a:rPr lang="en-US" b="0" i="1" smtClean="0">
                            <a:latin typeface="Cambria Math"/>
                          </a:rPr>
                          <m:t>−</m:t>
                        </m:r>
                        <m:r>
                          <a:rPr lang="en-US" b="0" i="1" smtClean="0">
                            <a:latin typeface="Cambria Math"/>
                          </a:rPr>
                          <m:t>𝑟</m:t>
                        </m:r>
                        <m:r>
                          <a:rPr lang="en-US" b="0" i="1" smtClean="0">
                            <a:latin typeface="Cambria Math"/>
                          </a:rPr>
                          <m:t>)!</m:t>
                        </m:r>
                      </m:den>
                    </m:f>
                  </m:oMath>
                </a14:m>
                <a:r>
                  <a:rPr lang="en-US" dirty="0"/>
                  <a:t>.</a:t>
                </a:r>
              </a:p>
              <a:p>
                <a:pPr marL="342900" lvl="2" indent="-342900"/>
                <a:r>
                  <a:rPr lang="en-US" sz="2800" u="sng" dirty="0"/>
                  <a:t>Example:</a:t>
                </a:r>
                <a:r>
                  <a:rPr lang="en-US" sz="2800" dirty="0"/>
                  <a:t>  </a:t>
                </a:r>
                <a:r>
                  <a:rPr lang="en-US" altLang="en-US" sz="2800" dirty="0"/>
                  <a:t>Suppose there are 8 men and 8 women. How many ways can we choose a committee that has 2 men and 2 women?</a:t>
                </a:r>
              </a:p>
              <a:p>
                <a:pPr marL="342900" lvl="2" indent="-342900"/>
                <a:endParaRPr lang="en-US" sz="28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259" t="-1482" r="-214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34</a:t>
            </a:fld>
            <a:endParaRPr lang="it-IT"/>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560142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z="3600"/>
              <a:t>Learning Objectives</a:t>
            </a:r>
          </a:p>
        </p:txBody>
      </p:sp>
      <p:sp>
        <p:nvSpPr>
          <p:cNvPr id="3" name="Content Placeholder 2"/>
          <p:cNvSpPr>
            <a:spLocks noGrp="1"/>
          </p:cNvSpPr>
          <p:nvPr>
            <p:ph idx="1"/>
          </p:nvPr>
        </p:nvSpPr>
        <p:spPr>
          <a:xfrm>
            <a:off x="1828800" y="1143001"/>
            <a:ext cx="8229600" cy="5059363"/>
          </a:xfrm>
        </p:spPr>
        <p:txBody>
          <a:bodyPr/>
          <a:lstStyle/>
          <a:p>
            <a:pPr>
              <a:defRPr/>
            </a:pPr>
            <a:r>
              <a:rPr lang="en-US" dirty="0"/>
              <a:t>Sample Space</a:t>
            </a:r>
          </a:p>
          <a:p>
            <a:pPr>
              <a:defRPr/>
            </a:pPr>
            <a:r>
              <a:rPr lang="en-US" dirty="0"/>
              <a:t>Events</a:t>
            </a:r>
          </a:p>
          <a:p>
            <a:pPr>
              <a:defRPr/>
            </a:pPr>
            <a:r>
              <a:rPr lang="en-US" dirty="0"/>
              <a:t>Counting Sample Points</a:t>
            </a:r>
          </a:p>
          <a:p>
            <a:pPr lvl="1">
              <a:defRPr/>
            </a:pPr>
            <a:r>
              <a:rPr lang="en-US" dirty="0"/>
              <a:t>Permutations</a:t>
            </a:r>
          </a:p>
          <a:p>
            <a:pPr lvl="1">
              <a:defRPr/>
            </a:pPr>
            <a:r>
              <a:rPr lang="en-US" dirty="0"/>
              <a:t>Combinations</a:t>
            </a:r>
          </a:p>
          <a:p>
            <a:pPr>
              <a:defRPr/>
            </a:pPr>
            <a:r>
              <a:rPr lang="en-US" b="1" dirty="0"/>
              <a:t>Probability of an Event</a:t>
            </a:r>
          </a:p>
          <a:p>
            <a:pPr>
              <a:defRPr/>
            </a:pPr>
            <a:r>
              <a:rPr lang="en-US" b="1" dirty="0"/>
              <a:t>Additive Rules</a:t>
            </a:r>
          </a:p>
          <a:p>
            <a:pPr>
              <a:defRPr/>
            </a:pPr>
            <a:r>
              <a:rPr lang="en-US" altLang="en-US" dirty="0">
                <a:solidFill>
                  <a:schemeClr val="bg1">
                    <a:lumMod val="65000"/>
                  </a:schemeClr>
                </a:solidFill>
              </a:rPr>
              <a:t>Conditional Probability, Independence, and the Product Rule</a:t>
            </a:r>
          </a:p>
          <a:p>
            <a:pPr>
              <a:defRPr/>
            </a:pPr>
            <a:r>
              <a:rPr lang="en-US" altLang="en-US" dirty="0">
                <a:solidFill>
                  <a:schemeClr val="bg1">
                    <a:lumMod val="65000"/>
                  </a:schemeClr>
                </a:solidFill>
              </a:rPr>
              <a:t>Bayes’ Rule</a:t>
            </a:r>
          </a:p>
          <a:p>
            <a:pPr marL="0" indent="0">
              <a:buNone/>
              <a:defRPr/>
            </a:pPr>
            <a:endParaRPr lang="en-US" altLang="en-US" dirty="0">
              <a:solidFill>
                <a:srgbClr val="191718"/>
              </a:solidFill>
            </a:endParaRPr>
          </a:p>
          <a:p>
            <a:pPr>
              <a:defRPr/>
            </a:pPr>
            <a:endParaRPr lang="en-US" dirty="0"/>
          </a:p>
        </p:txBody>
      </p:sp>
      <p:sp>
        <p:nvSpPr>
          <p:cNvPr id="51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9ECFC72-9084-4A55-B995-B8D8E6B9D48D}" type="slidenum">
              <a:rPr lang="it-IT" altLang="en-US" sz="1200">
                <a:solidFill>
                  <a:srgbClr val="898989"/>
                </a:solidFill>
                <a:latin typeface="Arial" panose="020B0604020202020204" pitchFamily="34" charset="0"/>
              </a:rPr>
              <a:pPr>
                <a:spcBef>
                  <a:spcPct val="0"/>
                </a:spcBef>
                <a:buFontTx/>
                <a:buNone/>
              </a:pPr>
              <a:t>35</a:t>
            </a:fld>
            <a:endParaRPr lang="it-IT" altLang="en-US" sz="1200">
              <a:solidFill>
                <a:srgbClr val="898989"/>
              </a:solidFill>
              <a:latin typeface="Arial" panose="020B0604020202020204" pitchFamily="34" charset="0"/>
            </a:endParaRPr>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330988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981200" y="152400"/>
            <a:ext cx="8229600" cy="1143000"/>
          </a:xfrm>
        </p:spPr>
        <p:txBody>
          <a:bodyPr/>
          <a:lstStyle/>
          <a:p>
            <a:pPr eaLnBrk="1" hangingPunct="1"/>
            <a:r>
              <a:rPr lang="en-US" altLang="en-US" sz="3600" dirty="0">
                <a:cs typeface="Arial" charset="0"/>
              </a:rPr>
              <a:t>How does counting possibilities help us determine probabilities?</a:t>
            </a:r>
          </a:p>
        </p:txBody>
      </p:sp>
      <p:sp>
        <p:nvSpPr>
          <p:cNvPr id="38915" name="Content Placeholder 2"/>
          <p:cNvSpPr>
            <a:spLocks noGrp="1"/>
          </p:cNvSpPr>
          <p:nvPr>
            <p:ph idx="1"/>
          </p:nvPr>
        </p:nvSpPr>
        <p:spPr/>
        <p:txBody>
          <a:bodyPr/>
          <a:lstStyle/>
          <a:p>
            <a:pPr marL="0" indent="0" eaLnBrk="1" hangingPunct="1">
              <a:buNone/>
            </a:pPr>
            <a:r>
              <a:rPr lang="en-US" altLang="en-US" sz="2400" dirty="0">
                <a:cs typeface="Arial" charset="0"/>
                <a:sym typeface="Wingdings" panose="05000000000000000000" pitchFamily="2" charset="2"/>
              </a:rPr>
              <a:t> We just learned how to count the number of possibilities, now we will learn how to use those numbers to determine probability values…</a:t>
            </a:r>
            <a:endParaRPr lang="en-US" altLang="en-US" sz="2400" dirty="0">
              <a:cs typeface="Arial" charset="0"/>
            </a:endParaRPr>
          </a:p>
        </p:txBody>
      </p:sp>
      <p:sp>
        <p:nvSpPr>
          <p:cNvPr id="4" name="Slide Number Placeholder 3"/>
          <p:cNvSpPr>
            <a:spLocks noGrp="1"/>
          </p:cNvSpPr>
          <p:nvPr>
            <p:ph type="sldNum" sz="quarter" idx="12"/>
          </p:nvPr>
        </p:nvSpPr>
        <p:spPr/>
        <p:txBody>
          <a:bodyPr/>
          <a:lstStyle/>
          <a:p>
            <a:pPr>
              <a:defRPr/>
            </a:pPr>
            <a:fld id="{52D93479-7C5A-495F-91DC-72211BEA19C6}" type="slidenum">
              <a:rPr lang="it-IT" smtClean="0"/>
              <a:pPr>
                <a:defRPr/>
              </a:pPr>
              <a:t>36</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802824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981200" y="152400"/>
            <a:ext cx="8229600" cy="1143000"/>
          </a:xfrm>
        </p:spPr>
        <p:txBody>
          <a:bodyPr/>
          <a:lstStyle/>
          <a:p>
            <a:pPr eaLnBrk="1" hangingPunct="1"/>
            <a:r>
              <a:rPr lang="en-US" altLang="en-US" sz="3600" dirty="0">
                <a:cs typeface="Arial" charset="0"/>
              </a:rPr>
              <a:t>How does counting possibilities help us determine probabilities?</a:t>
            </a:r>
          </a:p>
        </p:txBody>
      </p:sp>
      <p:sp>
        <p:nvSpPr>
          <p:cNvPr id="38915" name="Content Placeholder 2"/>
          <p:cNvSpPr>
            <a:spLocks noGrp="1"/>
          </p:cNvSpPr>
          <p:nvPr>
            <p:ph idx="1"/>
          </p:nvPr>
        </p:nvSpPr>
        <p:spPr/>
        <p:txBody>
          <a:bodyPr/>
          <a:lstStyle/>
          <a:p>
            <a:pPr marL="0" indent="0" eaLnBrk="1" hangingPunct="1">
              <a:buNone/>
            </a:pPr>
            <a:r>
              <a:rPr lang="en-US" altLang="en-US" sz="2400" u="sng" dirty="0">
                <a:cs typeface="Arial" charset="0"/>
              </a:rPr>
              <a:t>Example:</a:t>
            </a:r>
            <a:r>
              <a:rPr lang="en-US" altLang="en-US" sz="2400" dirty="0">
                <a:cs typeface="Arial" charset="0"/>
              </a:rPr>
              <a:t>  You are an engineering manager with 30 engineers working for you.  18 are located in Pittsburgh and 12 are located in Chicago.  You need to select 4 to attend the annual conference.  To be fair, you draw names from a hat.  What is the probability that you pick 2 employees from Pittsburgh and 2 employees from Chicago?</a:t>
            </a:r>
          </a:p>
          <a:p>
            <a:pPr marL="0" indent="0" eaLnBrk="1" hangingPunct="1">
              <a:buNone/>
            </a:pPr>
            <a:endParaRPr lang="en-US" altLang="en-US" sz="2400" dirty="0">
              <a:cs typeface="Arial" charset="0"/>
              <a:sym typeface="Wingdings" panose="05000000000000000000" pitchFamily="2" charset="2"/>
            </a:endParaRPr>
          </a:p>
        </p:txBody>
      </p:sp>
      <p:sp>
        <p:nvSpPr>
          <p:cNvPr id="4" name="Slide Number Placeholder 3"/>
          <p:cNvSpPr>
            <a:spLocks noGrp="1"/>
          </p:cNvSpPr>
          <p:nvPr>
            <p:ph type="sldNum" sz="quarter" idx="12"/>
          </p:nvPr>
        </p:nvSpPr>
        <p:spPr/>
        <p:txBody>
          <a:bodyPr/>
          <a:lstStyle/>
          <a:p>
            <a:pPr>
              <a:defRPr/>
            </a:pPr>
            <a:fld id="{52D93479-7C5A-495F-91DC-72211BEA19C6}" type="slidenum">
              <a:rPr lang="it-IT" smtClean="0"/>
              <a:pPr>
                <a:defRPr/>
              </a:pPr>
              <a:t>37</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919470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of an Event</a:t>
            </a:r>
          </a:p>
        </p:txBody>
      </p:sp>
      <p:sp>
        <p:nvSpPr>
          <p:cNvPr id="3" name="Content Placeholder 2"/>
          <p:cNvSpPr>
            <a:spLocks noGrp="1"/>
          </p:cNvSpPr>
          <p:nvPr>
            <p:ph idx="1"/>
          </p:nvPr>
        </p:nvSpPr>
        <p:spPr/>
        <p:txBody>
          <a:bodyPr>
            <a:normAutofit/>
          </a:bodyPr>
          <a:lstStyle/>
          <a:p>
            <a:r>
              <a:rPr lang="en-US" dirty="0"/>
              <a:t>We want to assign probabilities or weights to different events.</a:t>
            </a:r>
          </a:p>
          <a:p>
            <a:pPr lvl="1"/>
            <a:r>
              <a:rPr lang="en-US" dirty="0"/>
              <a:t>In other words, we want to know the likelihood of occurrence of an event resulting from a statistical experiment.</a:t>
            </a:r>
          </a:p>
          <a:p>
            <a:pPr lvl="1"/>
            <a:r>
              <a:rPr lang="en-US" dirty="0"/>
              <a:t>Example:  Toss a coin, we want to know what is the probability of getting Heads?</a:t>
            </a:r>
          </a:p>
          <a:p>
            <a:pPr lvl="2"/>
            <a:r>
              <a:rPr lang="en-US" dirty="0"/>
              <a:t>Already learned how to define the sample space</a:t>
            </a:r>
          </a:p>
          <a:p>
            <a:pPr lvl="2"/>
            <a:r>
              <a:rPr lang="en-US" dirty="0"/>
              <a:t>Learned how to count points in the sample space</a:t>
            </a:r>
          </a:p>
          <a:p>
            <a:pPr lvl="2"/>
            <a:r>
              <a:rPr lang="en-US" dirty="0"/>
              <a:t>Now will learn how to assign probabilities to each point in the sample space</a:t>
            </a:r>
          </a:p>
        </p:txBody>
      </p:sp>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38</a:t>
            </a:fld>
            <a:endParaRPr lang="it-IT"/>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6036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dirty="0">
                <a:cs typeface="Arial" charset="0"/>
              </a:rPr>
              <a:t>Basic Probability Properties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52600" y="1417638"/>
                <a:ext cx="8686800" cy="5059362"/>
              </a:xfrm>
            </p:spPr>
            <p:txBody>
              <a:bodyPr rtlCol="0">
                <a:normAutofit/>
              </a:bodyPr>
              <a:lstStyle/>
              <a:p>
                <a:pPr marL="0" indent="0" eaLnBrk="1" fontAlgn="auto" hangingPunct="1">
                  <a:spcAft>
                    <a:spcPts val="0"/>
                  </a:spcAft>
                  <a:buNone/>
                  <a:defRPr/>
                </a:pPr>
                <a:r>
                  <a:rPr lang="en-US" sz="2400" dirty="0"/>
                  <a:t>The probability of an event </a:t>
                </a:r>
                <a:r>
                  <a:rPr lang="en-US" sz="2400" i="1" dirty="0"/>
                  <a:t>A</a:t>
                </a:r>
                <a:r>
                  <a:rPr lang="en-US" sz="2400" dirty="0"/>
                  <a:t> is the sum of weights of all sample points in </a:t>
                </a:r>
                <a:r>
                  <a:rPr lang="en-US" sz="2400" i="1" dirty="0"/>
                  <a:t>A</a:t>
                </a:r>
                <a:r>
                  <a:rPr lang="en-US" sz="2400" dirty="0"/>
                  <a:t>.  Therefore,</a:t>
                </a:r>
              </a:p>
              <a:p>
                <a:pPr marL="1371600" lvl="2" indent="-514350" eaLnBrk="1" fontAlgn="auto" hangingPunct="1">
                  <a:spcAft>
                    <a:spcPts val="0"/>
                  </a:spcAft>
                  <a:buFont typeface="Arial" pitchFamily="34" charset="0"/>
                  <a:buAutoNum type="arabicParenBoth"/>
                  <a:defRPr/>
                </a:pPr>
                <a:r>
                  <a:rPr lang="en-US" dirty="0"/>
                  <a:t>0 ≤ </a:t>
                </a:r>
                <a:r>
                  <a:rPr lang="en-US" i="1" dirty="0"/>
                  <a:t>P</a:t>
                </a:r>
                <a:r>
                  <a:rPr lang="en-US" dirty="0"/>
                  <a:t>(</a:t>
                </a:r>
                <a:r>
                  <a:rPr lang="en-US" i="1" dirty="0"/>
                  <a:t>A</a:t>
                </a:r>
                <a:r>
                  <a:rPr lang="en-US" dirty="0"/>
                  <a:t>) ≤ 1</a:t>
                </a:r>
              </a:p>
              <a:p>
                <a:pPr marL="1371600" lvl="2" indent="-514350" eaLnBrk="1" fontAlgn="auto" hangingPunct="1">
                  <a:spcAft>
                    <a:spcPts val="0"/>
                  </a:spcAft>
                  <a:buFont typeface="Arial" pitchFamily="34" charset="0"/>
                  <a:buAutoNum type="arabicParenBoth"/>
                  <a:defRPr/>
                </a:pPr>
                <a:r>
                  <a:rPr lang="en-US" b="0" dirty="0"/>
                  <a:t>P(</a:t>
                </a:r>
                <a14:m>
                  <m:oMath xmlns:m="http://schemas.openxmlformats.org/officeDocument/2006/math">
                    <m:r>
                      <a:rPr lang="en-US" b="0" i="1" smtClean="0">
                        <a:latin typeface="Cambria Math"/>
                        <a:ea typeface="Cambria Math"/>
                      </a:rPr>
                      <m:t>∅</m:t>
                    </m:r>
                  </m:oMath>
                </a14:m>
                <a:r>
                  <a:rPr lang="en-US" dirty="0"/>
                  <a:t>) = 0</a:t>
                </a:r>
              </a:p>
              <a:p>
                <a:pPr marL="1371600" lvl="2" indent="-514350" eaLnBrk="1" fontAlgn="auto" hangingPunct="1">
                  <a:spcAft>
                    <a:spcPts val="0"/>
                  </a:spcAft>
                  <a:buFont typeface="Arial" pitchFamily="34" charset="0"/>
                  <a:buAutoNum type="arabicParenBoth"/>
                  <a:defRPr/>
                </a:pPr>
                <a:r>
                  <a:rPr lang="en-US" dirty="0"/>
                  <a:t>P(S) = 1</a:t>
                </a:r>
              </a:p>
              <a:p>
                <a:pPr marL="857250" lvl="2" indent="0" eaLnBrk="1" fontAlgn="auto" hangingPunct="1">
                  <a:spcAft>
                    <a:spcPts val="0"/>
                  </a:spcAft>
                  <a:buNone/>
                  <a:defRPr/>
                </a:pPr>
                <a:endParaRPr lang="en-US" dirty="0"/>
              </a:p>
              <a:p>
                <a:pPr marL="457200" lvl="1" indent="0" eaLnBrk="1" fontAlgn="auto" hangingPunct="1">
                  <a:spcAft>
                    <a:spcPts val="0"/>
                  </a:spcAft>
                  <a:buNone/>
                  <a:defRPr/>
                </a:pPr>
                <a:r>
                  <a:rPr lang="en-US" sz="2400" dirty="0"/>
                  <a:t>Furthermore, if </a:t>
                </a:r>
                <a:r>
                  <a:rPr lang="en-US" sz="2400" i="1" dirty="0"/>
                  <a:t>A</a:t>
                </a:r>
                <a:r>
                  <a:rPr lang="en-US" sz="2400" baseline="-25000" dirty="0"/>
                  <a:t>1</a:t>
                </a:r>
                <a:r>
                  <a:rPr lang="en-US" sz="2400" dirty="0"/>
                  <a:t>,</a:t>
                </a:r>
                <a:r>
                  <a:rPr lang="en-US" sz="2400" i="1" dirty="0"/>
                  <a:t>  A</a:t>
                </a:r>
                <a:r>
                  <a:rPr lang="en-US" sz="2400" baseline="-25000" dirty="0"/>
                  <a:t>2</a:t>
                </a:r>
                <a:r>
                  <a:rPr lang="en-US" sz="2400" dirty="0"/>
                  <a:t>,</a:t>
                </a:r>
                <a:r>
                  <a:rPr lang="en-US" sz="2400" i="1" dirty="0"/>
                  <a:t> A</a:t>
                </a:r>
                <a:r>
                  <a:rPr lang="en-US" sz="2400" baseline="-25000" dirty="0"/>
                  <a:t>3</a:t>
                </a:r>
                <a:r>
                  <a:rPr lang="en-US" sz="2400" dirty="0"/>
                  <a:t>,… is a sequence of mutually exclusive events, then </a:t>
                </a:r>
              </a:p>
              <a:p>
                <a:pPr marL="457200" lvl="1" indent="0" eaLnBrk="1" fontAlgn="auto" hangingPunct="1">
                  <a:spcAft>
                    <a:spcPts val="0"/>
                  </a:spcAft>
                  <a:buNone/>
                  <a:defRPr/>
                </a:pPr>
                <a14:m>
                  <m:oMathPara xmlns:m="http://schemas.openxmlformats.org/officeDocument/2006/math">
                    <m:oMathParaPr>
                      <m:jc m:val="center"/>
                    </m:oMathParaPr>
                    <m:oMath xmlns:m="http://schemas.openxmlformats.org/officeDocument/2006/math">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1</m:t>
                              </m:r>
                            </m:sub>
                          </m:sSub>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𝐴</m:t>
                              </m:r>
                            </m:e>
                            <m:sub>
                              <m:r>
                                <a:rPr lang="en-US" sz="2400" i="1">
                                  <a:latin typeface="Cambria Math"/>
                                  <a:ea typeface="Cambria Math"/>
                                </a:rPr>
                                <m:t>2</m:t>
                              </m:r>
                            </m:sub>
                          </m:sSub>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𝐴</m:t>
                              </m:r>
                            </m:e>
                            <m:sub>
                              <m:r>
                                <a:rPr lang="en-US" sz="2400" i="1">
                                  <a:latin typeface="Cambria Math"/>
                                  <a:ea typeface="Cambria Math"/>
                                </a:rPr>
                                <m:t>3</m:t>
                              </m:r>
                            </m:sub>
                          </m:sSub>
                          <m:r>
                            <a:rPr lang="en-US" sz="2400" i="1">
                              <a:latin typeface="Cambria Math"/>
                              <a:ea typeface="Cambria Math"/>
                            </a:rPr>
                            <m:t>∪⋯</m:t>
                          </m:r>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sSub>
                            <m:sSubPr>
                              <m:ctrlPr>
                                <a:rPr lang="en-US" sz="2400" i="1">
                                  <a:latin typeface="Cambria Math" panose="02040503050406030204" pitchFamily="18" charset="0"/>
                                  <a:ea typeface="Cambria Math"/>
                                </a:rPr>
                              </m:ctrlPr>
                            </m:sSubPr>
                            <m:e>
                              <m:r>
                                <a:rPr lang="en-US" sz="2400" i="1">
                                  <a:latin typeface="Cambria Math"/>
                                  <a:ea typeface="Cambria Math"/>
                                </a:rPr>
                                <m:t>𝐴</m:t>
                              </m:r>
                            </m:e>
                            <m:sub>
                              <m:r>
                                <a:rPr lang="en-US" sz="2400" i="1">
                                  <a:latin typeface="Cambria Math"/>
                                  <a:ea typeface="Cambria Math"/>
                                </a:rPr>
                                <m:t>1</m:t>
                              </m:r>
                            </m:sub>
                          </m:sSub>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sSub>
                            <m:sSubPr>
                              <m:ctrlPr>
                                <a:rPr lang="en-US" sz="2400" i="1">
                                  <a:latin typeface="Cambria Math" panose="02040503050406030204" pitchFamily="18" charset="0"/>
                                  <a:ea typeface="Cambria Math"/>
                                </a:rPr>
                              </m:ctrlPr>
                            </m:sSubPr>
                            <m:e>
                              <m:r>
                                <a:rPr lang="en-US" sz="2400" i="1">
                                  <a:latin typeface="Cambria Math"/>
                                  <a:ea typeface="Cambria Math"/>
                                </a:rPr>
                                <m:t>𝐴</m:t>
                              </m:r>
                            </m:e>
                            <m:sub>
                              <m:r>
                                <a:rPr lang="en-US" sz="2400" i="1">
                                  <a:latin typeface="Cambria Math"/>
                                  <a:ea typeface="Cambria Math"/>
                                </a:rPr>
                                <m:t>2</m:t>
                              </m:r>
                            </m:sub>
                          </m:sSub>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sSub>
                            <m:sSubPr>
                              <m:ctrlPr>
                                <a:rPr lang="en-US" sz="2400" i="1">
                                  <a:latin typeface="Cambria Math" panose="02040503050406030204" pitchFamily="18" charset="0"/>
                                  <a:ea typeface="Cambria Math"/>
                                </a:rPr>
                              </m:ctrlPr>
                            </m:sSubPr>
                            <m:e>
                              <m:r>
                                <a:rPr lang="en-US" sz="2400" i="1">
                                  <a:latin typeface="Cambria Math"/>
                                  <a:ea typeface="Cambria Math"/>
                                </a:rPr>
                                <m:t>𝐴</m:t>
                              </m:r>
                            </m:e>
                            <m:sub>
                              <m:r>
                                <a:rPr lang="en-US" sz="2400" i="1">
                                  <a:latin typeface="Cambria Math"/>
                                  <a:ea typeface="Cambria Math"/>
                                </a:rPr>
                                <m:t>3</m:t>
                              </m:r>
                            </m:sub>
                          </m:sSub>
                        </m:e>
                      </m:d>
                      <m:r>
                        <a:rPr lang="en-US" sz="2400" i="1">
                          <a:latin typeface="Cambria Math"/>
                          <a:ea typeface="Cambria Math"/>
                        </a:rPr>
                        <m:t>+⋯</m:t>
                      </m:r>
                    </m:oMath>
                  </m:oMathPara>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52600" y="1417638"/>
                <a:ext cx="8686800" cy="5059362"/>
              </a:xfrm>
              <a:blipFill>
                <a:blip r:embed="rId2"/>
                <a:stretch>
                  <a:fillRect l="-1168" t="-100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ADACA2D-913A-46FE-A095-F553740BA815}" type="slidenum">
              <a:rPr lang="it-IT"/>
              <a:pPr>
                <a:defRPr/>
              </a:pPr>
              <a:t>39</a:t>
            </a:fld>
            <a:endParaRPr lang="it-IT" dirty="0"/>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3222383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dirty="0">
                <a:cs typeface="Arial" charset="0"/>
              </a:rPr>
              <a:t>Interpreting Probability</a:t>
            </a:r>
          </a:p>
        </p:txBody>
      </p:sp>
      <p:sp>
        <p:nvSpPr>
          <p:cNvPr id="3" name="Content Placeholder 2"/>
          <p:cNvSpPr>
            <a:spLocks noGrp="1"/>
          </p:cNvSpPr>
          <p:nvPr>
            <p:ph idx="1"/>
          </p:nvPr>
        </p:nvSpPr>
        <p:spPr/>
        <p:txBody>
          <a:bodyPr rtlCol="0">
            <a:normAutofit fontScale="92500"/>
          </a:bodyPr>
          <a:lstStyle/>
          <a:p>
            <a:pPr eaLnBrk="1" fontAlgn="auto" hangingPunct="1">
              <a:spcAft>
                <a:spcPts val="0"/>
              </a:spcAft>
              <a:defRPr/>
            </a:pPr>
            <a:r>
              <a:rPr lang="en-US" dirty="0"/>
              <a:t>The basic properties do not completely assign values to probabilities</a:t>
            </a:r>
          </a:p>
          <a:p>
            <a:pPr eaLnBrk="1" fontAlgn="auto" hangingPunct="1">
              <a:spcAft>
                <a:spcPts val="0"/>
              </a:spcAft>
              <a:defRPr/>
            </a:pPr>
            <a:r>
              <a:rPr lang="en-US" dirty="0"/>
              <a:t>They simply rule out probability assignments that are not logical</a:t>
            </a:r>
          </a:p>
          <a:p>
            <a:pPr eaLnBrk="1" fontAlgn="auto" hangingPunct="1">
              <a:spcAft>
                <a:spcPts val="0"/>
              </a:spcAft>
              <a:defRPr/>
            </a:pPr>
            <a:r>
              <a:rPr lang="en-US" dirty="0"/>
              <a:t>So how do we assign probabilities?</a:t>
            </a:r>
          </a:p>
          <a:p>
            <a:pPr lvl="1" eaLnBrk="1" fontAlgn="auto" hangingPunct="1">
              <a:spcAft>
                <a:spcPts val="0"/>
              </a:spcAft>
              <a:defRPr/>
            </a:pPr>
            <a:r>
              <a:rPr lang="en-US" dirty="0"/>
              <a:t>Relative frequency notion</a:t>
            </a:r>
          </a:p>
          <a:p>
            <a:pPr lvl="1" eaLnBrk="1" fontAlgn="auto" hangingPunct="1">
              <a:spcAft>
                <a:spcPts val="0"/>
              </a:spcAft>
              <a:defRPr/>
            </a:pPr>
            <a:r>
              <a:rPr lang="en-US" dirty="0"/>
              <a:t>Subjective judgments</a:t>
            </a:r>
          </a:p>
          <a:p>
            <a:pPr lvl="1" eaLnBrk="1" fontAlgn="auto" hangingPunct="1">
              <a:spcAft>
                <a:spcPts val="0"/>
              </a:spcAft>
              <a:defRPr/>
            </a:pPr>
            <a:r>
              <a:rPr lang="en-US" dirty="0"/>
              <a:t>Additive rules – use probabilities of other known events</a:t>
            </a:r>
          </a:p>
          <a:p>
            <a:pPr lvl="1" eaLnBrk="1" fontAlgn="auto" hangingPunct="1">
              <a:spcAft>
                <a:spcPts val="0"/>
              </a:spcAft>
              <a:defRPr/>
            </a:pPr>
            <a:r>
              <a:rPr lang="en-US" dirty="0"/>
              <a:t>Determine systematically</a:t>
            </a:r>
          </a:p>
          <a:p>
            <a:pPr lvl="1" eaLnBrk="1" fontAlgn="auto" hangingPunct="1">
              <a:spcAft>
                <a:spcPts val="0"/>
              </a:spcAft>
              <a:defRPr/>
            </a:pPr>
            <a:r>
              <a:rPr lang="en-US" dirty="0"/>
              <a:t>Equally likely outcomes</a:t>
            </a:r>
          </a:p>
        </p:txBody>
      </p:sp>
      <p:sp>
        <p:nvSpPr>
          <p:cNvPr id="4" name="Slide Number Placeholder 3"/>
          <p:cNvSpPr>
            <a:spLocks noGrp="1"/>
          </p:cNvSpPr>
          <p:nvPr>
            <p:ph type="sldNum" sz="quarter" idx="12"/>
          </p:nvPr>
        </p:nvSpPr>
        <p:spPr/>
        <p:txBody>
          <a:bodyPr/>
          <a:lstStyle/>
          <a:p>
            <a:pPr>
              <a:defRPr/>
            </a:pPr>
            <a:fld id="{412CB21E-EFA2-4B17-8201-72626842CE44}" type="slidenum">
              <a:rPr lang="it-IT"/>
              <a:pPr>
                <a:defRPr/>
              </a:pPr>
              <a:t>40</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1286480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95250"/>
            <a:ext cx="8229600" cy="1143000"/>
          </a:xfrm>
        </p:spPr>
        <p:txBody>
          <a:bodyPr>
            <a:noAutofit/>
          </a:bodyPr>
          <a:lstStyle/>
          <a:p>
            <a:r>
              <a:rPr lang="en-US" dirty="0">
                <a:cs typeface="Times New Roman" pitchFamily="18" charset="0"/>
              </a:rPr>
              <a:t>Defining Probabilities and Their Properties</a:t>
            </a:r>
          </a:p>
        </p:txBody>
      </p:sp>
      <p:sp>
        <p:nvSpPr>
          <p:cNvPr id="4" name="Slide Number Placeholder 3"/>
          <p:cNvSpPr>
            <a:spLocks noGrp="1"/>
          </p:cNvSpPr>
          <p:nvPr>
            <p:ph type="sldNum" sz="quarter" idx="12"/>
          </p:nvPr>
        </p:nvSpPr>
        <p:spPr/>
        <p:txBody>
          <a:bodyPr/>
          <a:lstStyle/>
          <a:p>
            <a:fld id="{C17A4BB5-F5F6-4DB8-BE2D-D1CF9FC8F599}" type="slidenum">
              <a:rPr lang="en-US" smtClean="0"/>
              <a:pPr/>
              <a:t>41</a:t>
            </a:fld>
            <a:endParaRPr lang="en-US"/>
          </a:p>
        </p:txBody>
      </p:sp>
      <p:sp>
        <p:nvSpPr>
          <p:cNvPr id="3" name="Content Placeholder 2"/>
          <p:cNvSpPr>
            <a:spLocks noGrp="1"/>
          </p:cNvSpPr>
          <p:nvPr>
            <p:ph sz="quarter" idx="1"/>
          </p:nvPr>
        </p:nvSpPr>
        <p:spPr>
          <a:xfrm>
            <a:off x="1981200" y="1257300"/>
            <a:ext cx="8229600" cy="2438400"/>
          </a:xfrm>
        </p:spPr>
        <p:txBody>
          <a:bodyPr>
            <a:normAutofit/>
          </a:bodyPr>
          <a:lstStyle/>
          <a:p>
            <a:r>
              <a:rPr lang="en-US" sz="2600" dirty="0">
                <a:cs typeface="Times New Roman" pitchFamily="18" charset="0"/>
              </a:rPr>
              <a:t>The objective of probability is to assign to each event, say </a:t>
            </a:r>
            <a:r>
              <a:rPr lang="en-US" sz="2600" i="1" dirty="0">
                <a:cs typeface="Times New Roman" pitchFamily="18" charset="0"/>
              </a:rPr>
              <a:t>A</a:t>
            </a:r>
            <a:r>
              <a:rPr lang="en-US" sz="2600" dirty="0">
                <a:cs typeface="Times New Roman" pitchFamily="18" charset="0"/>
              </a:rPr>
              <a:t>, a number </a:t>
            </a:r>
            <a:r>
              <a:rPr lang="en-US" sz="2600" i="1" dirty="0">
                <a:cs typeface="Times New Roman" pitchFamily="18" charset="0"/>
              </a:rPr>
              <a:t>P</a:t>
            </a:r>
            <a:r>
              <a:rPr lang="en-US" sz="2600" dirty="0">
                <a:cs typeface="Times New Roman" pitchFamily="18" charset="0"/>
              </a:rPr>
              <a:t>(</a:t>
            </a:r>
            <a:r>
              <a:rPr lang="en-US" sz="2600" i="1" dirty="0">
                <a:cs typeface="Times New Roman" pitchFamily="18" charset="0"/>
              </a:rPr>
              <a:t>A</a:t>
            </a:r>
            <a:r>
              <a:rPr lang="en-US" sz="2600" dirty="0">
                <a:cs typeface="Times New Roman" pitchFamily="18" charset="0"/>
              </a:rPr>
              <a:t>), called the probability of </a:t>
            </a:r>
            <a:r>
              <a:rPr lang="en-US" sz="2600" i="1" dirty="0">
                <a:cs typeface="Times New Roman" pitchFamily="18" charset="0"/>
              </a:rPr>
              <a:t>A</a:t>
            </a:r>
            <a:r>
              <a:rPr lang="en-US" sz="2600" dirty="0">
                <a:cs typeface="Times New Roman" pitchFamily="18" charset="0"/>
              </a:rPr>
              <a:t> which will give a precise measure of the chance that </a:t>
            </a:r>
            <a:r>
              <a:rPr lang="en-US" sz="2600" i="1" dirty="0">
                <a:cs typeface="Times New Roman" pitchFamily="18" charset="0"/>
              </a:rPr>
              <a:t>A</a:t>
            </a:r>
            <a:r>
              <a:rPr lang="en-US" sz="2600" dirty="0">
                <a:cs typeface="Times New Roman" pitchFamily="18" charset="0"/>
              </a:rPr>
              <a:t> will occur.</a:t>
            </a:r>
          </a:p>
          <a:p>
            <a:r>
              <a:rPr lang="en-US" sz="2600" dirty="0">
                <a:cs typeface="Times New Roman" pitchFamily="18" charset="0"/>
              </a:rPr>
              <a:t>This number, </a:t>
            </a:r>
            <a:r>
              <a:rPr lang="en-US" sz="2600" i="1" dirty="0">
                <a:cs typeface="Times New Roman" pitchFamily="18" charset="0"/>
              </a:rPr>
              <a:t>P</a:t>
            </a:r>
            <a:r>
              <a:rPr lang="en-US" sz="2600" dirty="0">
                <a:cs typeface="Times New Roman" pitchFamily="18" charset="0"/>
              </a:rPr>
              <a:t>(</a:t>
            </a:r>
            <a:r>
              <a:rPr lang="en-US" sz="2600" i="1" dirty="0">
                <a:cs typeface="Times New Roman" pitchFamily="18" charset="0"/>
              </a:rPr>
              <a:t>A</a:t>
            </a:r>
            <a:r>
              <a:rPr lang="en-US" sz="2600" dirty="0">
                <a:cs typeface="Times New Roman" pitchFamily="18" charset="0"/>
              </a:rPr>
              <a:t>), is the limiting relative frequency of event under certain conditions of the experiment.</a:t>
            </a:r>
          </a:p>
          <a:p>
            <a:endParaRPr lang="en-US" sz="2800" dirty="0">
              <a:latin typeface="Times New Roman" pitchFamily="18" charset="0"/>
              <a:cs typeface="Times New Roman" pitchFamily="18" charset="0"/>
            </a:endParaRPr>
          </a:p>
          <a:p>
            <a:endParaRPr lang="en-US" sz="2800" dirty="0">
              <a:latin typeface="Times New Roman" pitchFamily="18" charset="0"/>
            </a:endParaRPr>
          </a:p>
          <a:p>
            <a:endParaRPr lang="en-US" dirty="0"/>
          </a:p>
        </p:txBody>
      </p:sp>
      <p:sp>
        <p:nvSpPr>
          <p:cNvPr id="10" name="TextBox 9"/>
          <p:cNvSpPr txBox="1"/>
          <p:nvPr/>
        </p:nvSpPr>
        <p:spPr>
          <a:xfrm>
            <a:off x="2209800" y="3962401"/>
            <a:ext cx="1219200" cy="1200329"/>
          </a:xfrm>
          <a:prstGeom prst="rect">
            <a:avLst/>
          </a:prstGeom>
          <a:noFill/>
        </p:spPr>
        <p:txBody>
          <a:bodyPr wrap="square" rtlCol="0">
            <a:spAutoFit/>
          </a:bodyPr>
          <a:lstStyle/>
          <a:p>
            <a:r>
              <a:rPr lang="en-US" dirty="0">
                <a:latin typeface="+mn-lt"/>
                <a:cs typeface="Times New Roman" pitchFamily="18" charset="0"/>
              </a:rPr>
              <a:t>relative frequency of a head</a:t>
            </a:r>
          </a:p>
          <a:p>
            <a:r>
              <a:rPr lang="en-US" dirty="0">
                <a:latin typeface="+mn-lt"/>
                <a:cs typeface="Times New Roman" pitchFamily="18" charset="0"/>
              </a:rPr>
              <a:t>= </a:t>
            </a:r>
            <a:r>
              <a:rPr lang="en-US" i="1" dirty="0">
                <a:latin typeface="+mn-lt"/>
                <a:cs typeface="Times New Roman" pitchFamily="18" charset="0"/>
              </a:rPr>
              <a:t>n</a:t>
            </a:r>
            <a:r>
              <a:rPr lang="en-US" dirty="0">
                <a:latin typeface="+mn-lt"/>
                <a:cs typeface="Times New Roman" pitchFamily="18" charset="0"/>
              </a:rPr>
              <a:t>(</a:t>
            </a:r>
            <a:r>
              <a:rPr lang="en-US" i="1" dirty="0">
                <a:latin typeface="+mn-lt"/>
                <a:cs typeface="Times New Roman" pitchFamily="18" charset="0"/>
              </a:rPr>
              <a:t>A</a:t>
            </a:r>
            <a:r>
              <a:rPr lang="en-US" dirty="0">
                <a:latin typeface="+mn-lt"/>
                <a:cs typeface="Times New Roman" pitchFamily="18" charset="0"/>
              </a:rPr>
              <a:t>)/</a:t>
            </a:r>
            <a:r>
              <a:rPr lang="en-US" i="1" dirty="0">
                <a:latin typeface="+mn-lt"/>
                <a:cs typeface="Times New Roman" pitchFamily="18" charset="0"/>
              </a:rPr>
              <a:t>N</a:t>
            </a:r>
          </a:p>
        </p:txBody>
      </p:sp>
      <p:sp>
        <p:nvSpPr>
          <p:cNvPr id="12" name="TextBox 11"/>
          <p:cNvSpPr txBox="1"/>
          <p:nvPr/>
        </p:nvSpPr>
        <p:spPr>
          <a:xfrm>
            <a:off x="5257800" y="6171684"/>
            <a:ext cx="3886200" cy="369332"/>
          </a:xfrm>
          <a:prstGeom prst="rect">
            <a:avLst/>
          </a:prstGeom>
          <a:noFill/>
        </p:spPr>
        <p:txBody>
          <a:bodyPr wrap="square" rtlCol="0">
            <a:spAutoFit/>
          </a:bodyPr>
          <a:lstStyle/>
          <a:p>
            <a:r>
              <a:rPr lang="en-US" dirty="0">
                <a:latin typeface="+mn-lt"/>
                <a:cs typeface="Times New Roman" pitchFamily="18" charset="0"/>
              </a:rPr>
              <a:t>number of tosses = </a:t>
            </a:r>
            <a:r>
              <a:rPr lang="en-US" i="1" dirty="0">
                <a:latin typeface="+mn-lt"/>
                <a:cs typeface="Times New Roman" pitchFamily="18" charset="0"/>
              </a:rPr>
              <a:t>N</a:t>
            </a:r>
          </a:p>
        </p:txBody>
      </p:sp>
      <p:graphicFrame>
        <p:nvGraphicFramePr>
          <p:cNvPr id="13" name="Chart 12"/>
          <p:cNvGraphicFramePr/>
          <p:nvPr/>
        </p:nvGraphicFramePr>
        <p:xfrm>
          <a:off x="3048000" y="3333750"/>
          <a:ext cx="655320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15400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Graphic spid="13"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Autofit/>
          </a:bodyPr>
          <a:lstStyle/>
          <a:p>
            <a:r>
              <a:rPr lang="en-US" dirty="0">
                <a:cs typeface="Times New Roman" pitchFamily="18" charset="0"/>
              </a:rPr>
              <a:t>Defining Probabilities and Their Properties</a:t>
            </a:r>
          </a:p>
        </p:txBody>
      </p:sp>
      <p:sp>
        <p:nvSpPr>
          <p:cNvPr id="4" name="Slide Number Placeholder 3"/>
          <p:cNvSpPr>
            <a:spLocks noGrp="1"/>
          </p:cNvSpPr>
          <p:nvPr>
            <p:ph type="sldNum" sz="quarter" idx="12"/>
          </p:nvPr>
        </p:nvSpPr>
        <p:spPr/>
        <p:txBody>
          <a:bodyPr/>
          <a:lstStyle/>
          <a:p>
            <a:fld id="{C17A4BB5-F5F6-4DB8-BE2D-D1CF9FC8F599}" type="slidenum">
              <a:rPr lang="en-US" smtClean="0"/>
              <a:pPr/>
              <a:t>42</a:t>
            </a:fld>
            <a:endParaRPr lang="en-US"/>
          </a:p>
        </p:txBody>
      </p:sp>
      <p:sp>
        <p:nvSpPr>
          <p:cNvPr id="3" name="Content Placeholder 2"/>
          <p:cNvSpPr>
            <a:spLocks noGrp="1"/>
          </p:cNvSpPr>
          <p:nvPr>
            <p:ph sz="quarter" idx="1"/>
          </p:nvPr>
        </p:nvSpPr>
        <p:spPr>
          <a:xfrm>
            <a:off x="1981200" y="1433512"/>
            <a:ext cx="8382000" cy="5105400"/>
          </a:xfrm>
        </p:spPr>
        <p:txBody>
          <a:bodyPr>
            <a:normAutofit fontScale="92500"/>
          </a:bodyPr>
          <a:lstStyle/>
          <a:p>
            <a:pPr marL="0" indent="0">
              <a:buNone/>
            </a:pPr>
            <a:r>
              <a:rPr lang="en-US" sz="2800" dirty="0">
                <a:cs typeface="Times New Roman" pitchFamily="18" charset="0"/>
              </a:rPr>
              <a:t>How do we usually assign probabilities to the experiments?</a:t>
            </a:r>
          </a:p>
          <a:p>
            <a:pPr marL="274320" lvl="1" indent="0">
              <a:buNone/>
            </a:pPr>
            <a:r>
              <a:rPr lang="en-US" dirty="0">
                <a:cs typeface="Times New Roman" pitchFamily="18" charset="0"/>
              </a:rPr>
              <a:t>Typically, we assign probabilities based on our beliefs about the limiting relative frequencies.  </a:t>
            </a:r>
          </a:p>
          <a:p>
            <a:r>
              <a:rPr lang="en-US" sz="2800" dirty="0">
                <a:cs typeface="Times New Roman" pitchFamily="18" charset="0"/>
              </a:rPr>
              <a:t>The probability of any event should equal </a:t>
            </a:r>
            <a:r>
              <a:rPr lang="en-US" sz="2800" i="1" dirty="0">
                <a:cs typeface="Times New Roman" pitchFamily="18" charset="0"/>
              </a:rPr>
              <a:t>n</a:t>
            </a:r>
            <a:r>
              <a:rPr lang="en-US" sz="2800" dirty="0">
                <a:cs typeface="Times New Roman" pitchFamily="18" charset="0"/>
              </a:rPr>
              <a:t>/</a:t>
            </a:r>
            <a:r>
              <a:rPr lang="en-US" sz="2800" i="1" dirty="0">
                <a:cs typeface="Times New Roman" pitchFamily="18" charset="0"/>
              </a:rPr>
              <a:t>N </a:t>
            </a:r>
            <a:r>
              <a:rPr lang="en-US" sz="2800" dirty="0">
                <a:cs typeface="Times New Roman" pitchFamily="18" charset="0"/>
              </a:rPr>
              <a:t>where:</a:t>
            </a:r>
          </a:p>
          <a:p>
            <a:pPr>
              <a:buNone/>
            </a:pPr>
            <a:r>
              <a:rPr lang="en-US" sz="2800" dirty="0">
                <a:cs typeface="Times New Roman" pitchFamily="18" charset="0"/>
              </a:rPr>
              <a:t>		</a:t>
            </a:r>
            <a:r>
              <a:rPr lang="en-US" sz="2800" i="1" dirty="0">
                <a:cs typeface="Times New Roman" pitchFamily="18" charset="0"/>
              </a:rPr>
              <a:t>n</a:t>
            </a:r>
            <a:r>
              <a:rPr lang="en-US" sz="2800" dirty="0">
                <a:cs typeface="Times New Roman" pitchFamily="18" charset="0"/>
              </a:rPr>
              <a:t> = number of times we observe the event</a:t>
            </a:r>
          </a:p>
          <a:p>
            <a:pPr>
              <a:buNone/>
            </a:pPr>
            <a:r>
              <a:rPr lang="en-US" sz="2800" dirty="0">
                <a:cs typeface="Times New Roman" pitchFamily="18" charset="0"/>
              </a:rPr>
              <a:t>		</a:t>
            </a:r>
            <a:r>
              <a:rPr lang="en-US" sz="2800" i="1" dirty="0">
                <a:cs typeface="Times New Roman" pitchFamily="18" charset="0"/>
              </a:rPr>
              <a:t>N</a:t>
            </a:r>
            <a:r>
              <a:rPr lang="en-US" sz="2800" dirty="0">
                <a:cs typeface="Times New Roman" pitchFamily="18" charset="0"/>
              </a:rPr>
              <a:t> = a very large number of trials</a:t>
            </a:r>
          </a:p>
          <a:p>
            <a:r>
              <a:rPr lang="en-US" sz="2800" dirty="0">
                <a:cs typeface="Times New Roman" pitchFamily="18" charset="0"/>
              </a:rPr>
              <a:t>Example:</a:t>
            </a:r>
          </a:p>
          <a:p>
            <a:pPr>
              <a:buNone/>
            </a:pPr>
            <a:r>
              <a:rPr lang="en-US" sz="2800" dirty="0">
                <a:cs typeface="Times New Roman" pitchFamily="18" charset="0"/>
              </a:rPr>
              <a:t>	In the experiment of rolling a die, in the long run, what do we expect the probability of observing a 2 to equal?</a:t>
            </a:r>
          </a:p>
          <a:p>
            <a:pPr>
              <a:buNone/>
            </a:pPr>
            <a:r>
              <a:rPr lang="en-US" sz="2800" dirty="0">
                <a:cs typeface="Times New Roman" pitchFamily="18" charset="0"/>
              </a:rPr>
              <a:t>	</a:t>
            </a:r>
            <a:endParaRPr lang="en-US" dirty="0"/>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35469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dirty="0">
                <a:cs typeface="Arial" charset="0"/>
              </a:rPr>
              <a:t>Relative Frequency</a:t>
            </a:r>
          </a:p>
        </p:txBody>
      </p:sp>
      <p:sp>
        <p:nvSpPr>
          <p:cNvPr id="4" name="Slide Number Placeholder 3"/>
          <p:cNvSpPr>
            <a:spLocks noGrp="1"/>
          </p:cNvSpPr>
          <p:nvPr>
            <p:ph type="sldNum" sz="quarter" idx="12"/>
          </p:nvPr>
        </p:nvSpPr>
        <p:spPr/>
        <p:txBody>
          <a:bodyPr/>
          <a:lstStyle/>
          <a:p>
            <a:pPr>
              <a:defRPr/>
            </a:pPr>
            <a:fld id="{B7A5E7B4-66AC-4937-90D9-F0C2F48D797B}" type="slidenum">
              <a:rPr lang="it-IT"/>
              <a:pPr>
                <a:defRPr/>
              </a:pPr>
              <a:t>43</a:t>
            </a:fld>
            <a:endParaRPr lang="it-IT"/>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981200" y="1417639"/>
                <a:ext cx="8229600" cy="4525963"/>
              </a:xfrm>
            </p:spPr>
            <p:txBody>
              <a:bodyPr>
                <a:normAutofit/>
              </a:bodyPr>
              <a:lstStyle/>
              <a:p>
                <a:pPr marL="0" indent="0">
                  <a:buNone/>
                </a:pPr>
                <a:r>
                  <a:rPr lang="en-US" sz="2800" u="sng" dirty="0"/>
                  <a:t>Rule 2.3:</a:t>
                </a:r>
                <a:r>
                  <a:rPr lang="en-US" sz="2800" dirty="0"/>
                  <a:t>  If an experiment can result in any one of </a:t>
                </a:r>
                <a:r>
                  <a:rPr lang="en-US" sz="2800" i="1" dirty="0"/>
                  <a:t>N</a:t>
                </a:r>
                <a:r>
                  <a:rPr lang="en-US" sz="2800" dirty="0"/>
                  <a:t> different equally likely outcomes, and if exactly </a:t>
                </a:r>
                <a:r>
                  <a:rPr lang="en-US" sz="2800" i="1" dirty="0">
                    <a:latin typeface="Times New Roman" panose="02020603050405020304" pitchFamily="18" charset="0"/>
                    <a:cs typeface="Times New Roman" panose="02020603050405020304" pitchFamily="18" charset="0"/>
                  </a:rPr>
                  <a:t>n</a:t>
                </a:r>
                <a:r>
                  <a:rPr lang="en-US" sz="2800" dirty="0"/>
                  <a:t> of these outcomes correspond to event </a:t>
                </a:r>
                <a:r>
                  <a:rPr lang="en-US" sz="2800" i="1" dirty="0"/>
                  <a:t>A</a:t>
                </a:r>
                <a:r>
                  <a:rPr lang="en-US" sz="2800" dirty="0"/>
                  <a:t>, then the probability of event </a:t>
                </a:r>
                <a:r>
                  <a:rPr lang="en-US" sz="2800" i="1" dirty="0"/>
                  <a:t>A</a:t>
                </a:r>
                <a:r>
                  <a:rPr lang="en-US" sz="2800" dirty="0"/>
                  <a:t> is </a:t>
                </a:r>
              </a:p>
              <a:p>
                <a:pPr marL="914400" lvl="2" indent="0">
                  <a:buNone/>
                </a:pPr>
                <a14:m>
                  <m:oMathPara xmlns:m="http://schemas.openxmlformats.org/officeDocument/2006/math">
                    <m:oMathParaPr>
                      <m:jc m:val="centerGroup"/>
                    </m:oMathParaPr>
                    <m:oMath xmlns:m="http://schemas.openxmlformats.org/officeDocument/2006/math">
                      <m:r>
                        <a:rPr lang="en-US" sz="2800" i="1">
                          <a:latin typeface="Cambria Math"/>
                        </a:rPr>
                        <m:t>𝑃</m:t>
                      </m:r>
                      <m:d>
                        <m:dPr>
                          <m:ctrlPr>
                            <a:rPr lang="en-US" sz="2800" i="1">
                              <a:latin typeface="Cambria Math" panose="02040503050406030204" pitchFamily="18" charset="0"/>
                            </a:rPr>
                          </m:ctrlPr>
                        </m:dPr>
                        <m:e>
                          <m:r>
                            <a:rPr lang="en-US" sz="2800" i="1">
                              <a:latin typeface="Cambria Math"/>
                            </a:rPr>
                            <m:t>𝐴</m:t>
                          </m:r>
                        </m:e>
                      </m:d>
                      <m:r>
                        <a:rPr lang="en-US" sz="2800" i="1">
                          <a:latin typeface="Cambria Math"/>
                        </a:rPr>
                        <m:t>=</m:t>
                      </m:r>
                      <m:f>
                        <m:fPr>
                          <m:ctrlPr>
                            <a:rPr lang="en-US" sz="2800" i="1">
                              <a:latin typeface="Cambria Math" panose="02040503050406030204" pitchFamily="18" charset="0"/>
                            </a:rPr>
                          </m:ctrlPr>
                        </m:fPr>
                        <m:num>
                          <m:r>
                            <a:rPr lang="en-US" sz="2800" i="1">
                              <a:latin typeface="Cambria Math"/>
                            </a:rPr>
                            <m:t>𝑛</m:t>
                          </m:r>
                        </m:num>
                        <m:den>
                          <m:r>
                            <a:rPr lang="en-US" sz="2800" i="1">
                              <a:latin typeface="Cambria Math"/>
                            </a:rPr>
                            <m:t>𝑁</m:t>
                          </m:r>
                        </m:den>
                      </m:f>
                    </m:oMath>
                  </m:oMathPara>
                </a14:m>
                <a:endParaRPr lang="en-US" sz="28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981200" y="1417639"/>
                <a:ext cx="8229600" cy="4525963"/>
              </a:xfrm>
              <a:blipFill>
                <a:blip r:embed="rId2"/>
                <a:stretch>
                  <a:fillRect l="-1695" t="-1397"/>
                </a:stretch>
              </a:blipFill>
            </p:spPr>
            <p:txBody>
              <a:bodyPr/>
              <a:lstStyle/>
              <a:p>
                <a:r>
                  <a:rPr lang="en-US">
                    <a:noFill/>
                  </a:rPr>
                  <a:t> </a:t>
                </a:r>
              </a:p>
            </p:txBody>
          </p:sp>
        </mc:Fallback>
      </mc:AlternateContent>
      <p:sp>
        <p:nvSpPr>
          <p:cNvPr id="3" name="Date Placeholder 2"/>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008862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dirty="0">
                <a:cs typeface="Arial" charset="0"/>
              </a:rPr>
              <a:t>Subjective Judgments</a:t>
            </a:r>
          </a:p>
        </p:txBody>
      </p:sp>
      <p:sp>
        <p:nvSpPr>
          <p:cNvPr id="21507" name="Content Placeholder 2"/>
          <p:cNvSpPr>
            <a:spLocks noGrp="1"/>
          </p:cNvSpPr>
          <p:nvPr>
            <p:ph idx="1"/>
          </p:nvPr>
        </p:nvSpPr>
        <p:spPr/>
        <p:txBody>
          <a:bodyPr>
            <a:normAutofit/>
          </a:bodyPr>
          <a:lstStyle/>
          <a:p>
            <a:pPr eaLnBrk="1" hangingPunct="1"/>
            <a:r>
              <a:rPr lang="en-US" altLang="en-US" dirty="0">
                <a:cs typeface="Arial" charset="0"/>
              </a:rPr>
              <a:t>When situations are unrepeatable, probability assignments might differ based on individuals prior knowledge or opinions</a:t>
            </a:r>
          </a:p>
          <a:p>
            <a:pPr lvl="1" eaLnBrk="1" hangingPunct="1"/>
            <a:r>
              <a:rPr lang="en-US" altLang="en-US" u="sng" dirty="0">
                <a:cs typeface="Arial" charset="0"/>
              </a:rPr>
              <a:t>Example:</a:t>
            </a:r>
            <a:r>
              <a:rPr lang="en-US" altLang="en-US" dirty="0">
                <a:cs typeface="Arial" charset="0"/>
              </a:rPr>
              <a:t>  “Because Lebron has left the Cavaliers, I expect them to lose this game.”</a:t>
            </a:r>
          </a:p>
          <a:p>
            <a:pPr lvl="1" eaLnBrk="1" hangingPunct="1"/>
            <a:r>
              <a:rPr lang="en-US" altLang="en-US" u="sng" dirty="0">
                <a:cs typeface="Arial" charset="0"/>
              </a:rPr>
              <a:t>Example:</a:t>
            </a:r>
            <a:r>
              <a:rPr lang="en-US" altLang="en-US" dirty="0">
                <a:cs typeface="Arial" charset="0"/>
              </a:rPr>
              <a:t>  “The probability is 0.7 that I will pass my statistics exam.”</a:t>
            </a:r>
          </a:p>
          <a:p>
            <a:pPr eaLnBrk="1" hangingPunct="1"/>
            <a:r>
              <a:rPr lang="en-US" altLang="en-US" dirty="0">
                <a:cs typeface="Arial" charset="0"/>
              </a:rPr>
              <a:t>We don’t study subjective judgments in this course</a:t>
            </a:r>
          </a:p>
        </p:txBody>
      </p:sp>
      <p:sp>
        <p:nvSpPr>
          <p:cNvPr id="4" name="Slide Number Placeholder 3"/>
          <p:cNvSpPr>
            <a:spLocks noGrp="1"/>
          </p:cNvSpPr>
          <p:nvPr>
            <p:ph type="sldNum" sz="quarter" idx="12"/>
          </p:nvPr>
        </p:nvSpPr>
        <p:spPr/>
        <p:txBody>
          <a:bodyPr/>
          <a:lstStyle/>
          <a:p>
            <a:pPr>
              <a:defRPr/>
            </a:pPr>
            <a:fld id="{DA710EEB-F6DC-4A3D-A287-99807ED61901}" type="slidenum">
              <a:rPr lang="it-IT" smtClean="0"/>
              <a:pPr>
                <a:defRPr/>
              </a:pPr>
              <a:t>44</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3123399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sz="3600" dirty="0"/>
              <a:t>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28800" y="998539"/>
                <a:ext cx="8229600" cy="5426075"/>
              </a:xfrm>
            </p:spPr>
            <p:txBody>
              <a:bodyPr>
                <a:normAutofit/>
              </a:bodyPr>
              <a:lstStyle/>
              <a:p>
                <a:r>
                  <a:rPr lang="en-US" sz="2600" dirty="0"/>
                  <a:t>Sometimes it is easiest to calculate the probabilities of events based on other known events.</a:t>
                </a:r>
              </a:p>
              <a:p>
                <a:r>
                  <a:rPr lang="en-US" sz="2600" u="sng" dirty="0"/>
                  <a:t>Additive Rule #1:</a:t>
                </a:r>
                <a:r>
                  <a:rPr lang="en-US" sz="2600" dirty="0"/>
                  <a:t>  If A and B are two events, then </a:t>
                </a:r>
                <a14:m>
                  <m:oMath xmlns:m="http://schemas.openxmlformats.org/officeDocument/2006/math">
                    <m:r>
                      <a:rPr lang="en-US" sz="2600" i="1">
                        <a:latin typeface="Cambria Math"/>
                      </a:rPr>
                      <m:t>𝑃</m:t>
                    </m:r>
                    <m:d>
                      <m:dPr>
                        <m:ctrlPr>
                          <a:rPr lang="en-US" sz="2600" i="1">
                            <a:latin typeface="Cambria Math" panose="02040503050406030204" pitchFamily="18" charset="0"/>
                          </a:rPr>
                        </m:ctrlPr>
                      </m:dPr>
                      <m:e>
                        <m:r>
                          <a:rPr lang="en-US" sz="2600" i="1">
                            <a:latin typeface="Cambria Math"/>
                          </a:rPr>
                          <m:t>𝐴</m:t>
                        </m:r>
                        <m:r>
                          <a:rPr lang="en-US" sz="2600" i="1">
                            <a:latin typeface="Cambria Math"/>
                            <a:ea typeface="Cambria Math"/>
                          </a:rPr>
                          <m:t>∪</m:t>
                        </m:r>
                        <m:r>
                          <a:rPr lang="en-US" sz="2600" i="1">
                            <a:latin typeface="Cambria Math"/>
                            <a:ea typeface="Cambria Math"/>
                          </a:rPr>
                          <m:t>𝐵</m:t>
                        </m:r>
                      </m:e>
                    </m:d>
                    <m:r>
                      <a:rPr lang="en-US" sz="2600" i="1">
                        <a:latin typeface="Cambria Math"/>
                        <a:ea typeface="Cambria Math"/>
                      </a:rPr>
                      <m:t>=</m:t>
                    </m:r>
                    <m:r>
                      <a:rPr lang="en-US" sz="2600" i="1">
                        <a:latin typeface="Cambria Math"/>
                        <a:ea typeface="Cambria Math"/>
                      </a:rPr>
                      <m:t>𝑃</m:t>
                    </m:r>
                    <m:d>
                      <m:dPr>
                        <m:ctrlPr>
                          <a:rPr lang="en-US" sz="2600" i="1">
                            <a:latin typeface="Cambria Math" panose="02040503050406030204" pitchFamily="18" charset="0"/>
                            <a:ea typeface="Cambria Math"/>
                          </a:rPr>
                        </m:ctrlPr>
                      </m:dPr>
                      <m:e>
                        <m:r>
                          <a:rPr lang="en-US" sz="2600" i="1">
                            <a:latin typeface="Cambria Math"/>
                            <a:ea typeface="Cambria Math"/>
                          </a:rPr>
                          <m:t>𝐴</m:t>
                        </m:r>
                      </m:e>
                    </m:d>
                    <m:r>
                      <a:rPr lang="en-US" sz="2600" i="1">
                        <a:latin typeface="Cambria Math"/>
                        <a:ea typeface="Cambria Math"/>
                      </a:rPr>
                      <m:t>+</m:t>
                    </m:r>
                    <m:r>
                      <a:rPr lang="en-US" sz="2600" i="1">
                        <a:latin typeface="Cambria Math"/>
                        <a:ea typeface="Cambria Math"/>
                      </a:rPr>
                      <m:t>𝑃</m:t>
                    </m:r>
                    <m:d>
                      <m:dPr>
                        <m:ctrlPr>
                          <a:rPr lang="en-US" sz="2600" i="1">
                            <a:latin typeface="Cambria Math" panose="02040503050406030204" pitchFamily="18" charset="0"/>
                            <a:ea typeface="Cambria Math"/>
                          </a:rPr>
                        </m:ctrlPr>
                      </m:dPr>
                      <m:e>
                        <m:r>
                          <a:rPr lang="en-US" sz="2600" i="1">
                            <a:latin typeface="Cambria Math"/>
                            <a:ea typeface="Cambria Math"/>
                          </a:rPr>
                          <m:t>𝐵</m:t>
                        </m:r>
                      </m:e>
                    </m:d>
                    <m:r>
                      <a:rPr lang="en-US" sz="2600" i="1">
                        <a:latin typeface="Cambria Math"/>
                        <a:ea typeface="Cambria Math"/>
                      </a:rPr>
                      <m:t>−</m:t>
                    </m:r>
                    <m:r>
                      <a:rPr lang="en-US" sz="2600" i="1">
                        <a:latin typeface="Cambria Math"/>
                        <a:ea typeface="Cambria Math"/>
                      </a:rPr>
                      <m:t>𝑃</m:t>
                    </m:r>
                    <m:r>
                      <a:rPr lang="en-US" sz="2600" i="1">
                        <a:latin typeface="Cambria Math"/>
                        <a:ea typeface="Cambria Math"/>
                      </a:rPr>
                      <m:t>(</m:t>
                    </m:r>
                    <m:r>
                      <a:rPr lang="en-US" sz="2600" i="1">
                        <a:latin typeface="Cambria Math"/>
                        <a:ea typeface="Cambria Math"/>
                      </a:rPr>
                      <m:t>𝐴</m:t>
                    </m:r>
                    <m:r>
                      <a:rPr lang="en-US" sz="2600" i="1">
                        <a:latin typeface="Cambria Math"/>
                        <a:ea typeface="Cambria Math"/>
                      </a:rPr>
                      <m:t>∩</m:t>
                    </m:r>
                    <m:r>
                      <a:rPr lang="en-US" sz="2600" i="1">
                        <a:latin typeface="Cambria Math"/>
                        <a:ea typeface="Cambria Math"/>
                      </a:rPr>
                      <m:t>𝐵</m:t>
                    </m:r>
                    <m:r>
                      <a:rPr lang="en-US" sz="2600" i="1">
                        <a:latin typeface="Cambria Math"/>
                        <a:ea typeface="Cambria Math"/>
                      </a:rPr>
                      <m:t>)</m:t>
                    </m:r>
                  </m:oMath>
                </a14:m>
                <a:endParaRPr lang="en-US" altLang="en-US" sz="2400" dirty="0">
                  <a:latin typeface="Tahoma" panose="020B0604030504040204" pitchFamily="34" charset="0"/>
                  <a:cs typeface="Tahoma" panose="020B0604030504040204" pitchFamily="34" charset="0"/>
                </a:endParaRPr>
              </a:p>
              <a:p>
                <a:endParaRPr lang="en-US" altLang="en-US" sz="2400" dirty="0">
                  <a:latin typeface="Tahoma" panose="020B0604030504040204" pitchFamily="34" charset="0"/>
                  <a:cs typeface="Tahoma" panose="020B0604030504040204" pitchFamily="34" charset="0"/>
                </a:endParaRPr>
              </a:p>
              <a:p>
                <a:pPr eaLnBrk="1" hangingPunct="1"/>
                <a:r>
                  <a:rPr lang="en-US" altLang="en-US" sz="2400" dirty="0">
                    <a:cs typeface="Tahoma" panose="020B0604030504040204" pitchFamily="34" charset="0"/>
                  </a:rPr>
                  <a:t>Note that we are defining the probability of event A </a:t>
                </a:r>
                <a:r>
                  <a:rPr lang="en-US" altLang="en-US" sz="2400" u="sng" dirty="0">
                    <a:cs typeface="Tahoma" panose="020B0604030504040204" pitchFamily="34" charset="0"/>
                  </a:rPr>
                  <a:t>or</a:t>
                </a:r>
                <a:r>
                  <a:rPr lang="en-US" altLang="en-US" sz="2400" dirty="0">
                    <a:cs typeface="Tahoma" panose="020B0604030504040204" pitchFamily="34" charset="0"/>
                  </a:rPr>
                  <a:t> event B or both with </a:t>
                </a:r>
                <a:r>
                  <a:rPr lang="en-US" altLang="en-US" sz="2400" u="sng" dirty="0">
                    <a:cs typeface="Tahoma" panose="020B0604030504040204" pitchFamily="34" charset="0"/>
                  </a:rPr>
                  <a:t>addition</a:t>
                </a:r>
                <a:r>
                  <a:rPr lang="en-US" altLang="en-US" sz="2400" dirty="0">
                    <a:cs typeface="Tahoma" panose="020B0604030504040204" pitchFamily="34"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28800" y="998539"/>
                <a:ext cx="8229600" cy="5426075"/>
              </a:xfrm>
              <a:blipFill>
                <a:blip r:embed="rId3"/>
                <a:stretch>
                  <a:fillRect l="-1235" t="-93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45</a:t>
            </a:fld>
            <a:endParaRPr lang="it-IT"/>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8290593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600200"/>
                <a:ext cx="8229600" cy="4953000"/>
              </a:xfrm>
            </p:spPr>
            <p:txBody>
              <a:bodyPr>
                <a:normAutofit/>
              </a:bodyPr>
              <a:lstStyle/>
              <a:p>
                <a:r>
                  <a:rPr lang="en-US" sz="3000" u="sng" dirty="0"/>
                  <a:t>Corollary 2.1:</a:t>
                </a:r>
                <a:r>
                  <a:rPr lang="en-US" sz="3000" dirty="0"/>
                  <a:t> When events A and B are mutually exclusive, then </a:t>
                </a:r>
                <a14:m>
                  <m:oMath xmlns:m="http://schemas.openxmlformats.org/officeDocument/2006/math">
                    <m:r>
                      <a:rPr lang="en-US" sz="3000" i="1">
                        <a:latin typeface="Cambria Math"/>
                      </a:rPr>
                      <m:t>𝑃</m:t>
                    </m:r>
                    <m:d>
                      <m:dPr>
                        <m:ctrlPr>
                          <a:rPr lang="en-US" sz="3000" i="1">
                            <a:latin typeface="Cambria Math" panose="02040503050406030204" pitchFamily="18" charset="0"/>
                          </a:rPr>
                        </m:ctrlPr>
                      </m:dPr>
                      <m:e>
                        <m:r>
                          <a:rPr lang="en-US" sz="3000" i="1">
                            <a:latin typeface="Cambria Math"/>
                          </a:rPr>
                          <m:t>𝐴</m:t>
                        </m:r>
                        <m:r>
                          <a:rPr lang="en-US" sz="3000" i="1">
                            <a:latin typeface="Cambria Math"/>
                            <a:ea typeface="Cambria Math"/>
                          </a:rPr>
                          <m:t>∪</m:t>
                        </m:r>
                        <m:r>
                          <a:rPr lang="en-US" sz="3000" i="1">
                            <a:latin typeface="Cambria Math"/>
                            <a:ea typeface="Cambria Math"/>
                          </a:rPr>
                          <m:t>𝐵</m:t>
                        </m:r>
                      </m:e>
                    </m:d>
                    <m:r>
                      <a:rPr lang="en-US" sz="3000" i="1">
                        <a:latin typeface="Cambria Math"/>
                        <a:ea typeface="Cambria Math"/>
                      </a:rPr>
                      <m:t>=</m:t>
                    </m:r>
                    <m:r>
                      <a:rPr lang="en-US" sz="3000" i="1">
                        <a:latin typeface="Cambria Math"/>
                        <a:ea typeface="Cambria Math"/>
                      </a:rPr>
                      <m:t>𝑃</m:t>
                    </m:r>
                    <m:d>
                      <m:dPr>
                        <m:ctrlPr>
                          <a:rPr lang="en-US" sz="3000" i="1">
                            <a:latin typeface="Cambria Math" panose="02040503050406030204" pitchFamily="18" charset="0"/>
                            <a:ea typeface="Cambria Math"/>
                          </a:rPr>
                        </m:ctrlPr>
                      </m:dPr>
                      <m:e>
                        <m:r>
                          <a:rPr lang="en-US" sz="3000" i="1">
                            <a:latin typeface="Cambria Math"/>
                            <a:ea typeface="Cambria Math"/>
                          </a:rPr>
                          <m:t>𝐴</m:t>
                        </m:r>
                      </m:e>
                    </m:d>
                    <m:r>
                      <a:rPr lang="en-US" sz="3000" i="1">
                        <a:latin typeface="Cambria Math"/>
                        <a:ea typeface="Cambria Math"/>
                      </a:rPr>
                      <m:t>+</m:t>
                    </m:r>
                    <m:r>
                      <a:rPr lang="en-US" sz="3000" i="1">
                        <a:latin typeface="Cambria Math"/>
                        <a:ea typeface="Cambria Math"/>
                      </a:rPr>
                      <m:t>𝑃</m:t>
                    </m:r>
                    <m:d>
                      <m:dPr>
                        <m:ctrlPr>
                          <a:rPr lang="en-US" sz="3000" i="1">
                            <a:latin typeface="Cambria Math" panose="02040503050406030204" pitchFamily="18" charset="0"/>
                            <a:ea typeface="Cambria Math"/>
                          </a:rPr>
                        </m:ctrlPr>
                      </m:dPr>
                      <m:e>
                        <m:r>
                          <a:rPr lang="en-US" sz="3000" i="1">
                            <a:latin typeface="Cambria Math"/>
                            <a:ea typeface="Cambria Math"/>
                          </a:rPr>
                          <m:t>𝐵</m:t>
                        </m:r>
                      </m:e>
                    </m:d>
                  </m:oMath>
                </a14:m>
                <a:endParaRPr lang="en-US" sz="3000" dirty="0"/>
              </a:p>
              <a:p>
                <a:pPr lvl="1"/>
                <a:endParaRPr lang="en-US" dirty="0"/>
              </a:p>
              <a:p>
                <a:pPr marL="457200" lvl="1" indent="0">
                  <a:buNone/>
                </a:pPr>
                <a:r>
                  <a:rPr lang="en-US" dirty="0"/>
                  <a:t>                               =                           </a:t>
                </a:r>
                <a14:m>
                  <m:oMath xmlns:m="http://schemas.openxmlformats.org/officeDocument/2006/math">
                    <m:r>
                      <a:rPr lang="en-US" i="1" smtClean="0">
                        <a:latin typeface="Cambria Math"/>
                        <a:ea typeface="Cambria Math"/>
                      </a:rPr>
                      <m:t>∪</m:t>
                    </m:r>
                  </m:oMath>
                </a14:m>
                <a:endParaRPr lang="en-US" dirty="0"/>
              </a:p>
              <a:p>
                <a:pPr marL="457200" lvl="1" indent="0">
                  <a:buNone/>
                </a:pPr>
                <a:endParaRPr lang="en-US" dirty="0"/>
              </a:p>
              <a:p>
                <a:pPr marL="457200" lvl="1" indent="0">
                  <a:buNone/>
                </a:pPr>
                <a:r>
                  <a:rPr lang="en-US" dirty="0"/>
                  <a:t>Example: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600200"/>
                <a:ext cx="8229600" cy="4953000"/>
              </a:xfrm>
              <a:blipFill>
                <a:blip r:embed="rId3"/>
                <a:stretch>
                  <a:fillRect l="-1695" t="-153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46</a:t>
            </a:fld>
            <a:endParaRPr lang="it-IT"/>
          </a:p>
        </p:txBody>
      </p:sp>
      <p:grpSp>
        <p:nvGrpSpPr>
          <p:cNvPr id="14" name="Group 13"/>
          <p:cNvGrpSpPr/>
          <p:nvPr/>
        </p:nvGrpSpPr>
        <p:grpSpPr>
          <a:xfrm>
            <a:off x="3048000" y="2895600"/>
            <a:ext cx="1676400" cy="914400"/>
            <a:chOff x="1371600" y="4419600"/>
            <a:chExt cx="1676400" cy="914400"/>
          </a:xfrm>
        </p:grpSpPr>
        <p:sp>
          <p:nvSpPr>
            <p:cNvPr id="5" name="Rectangle 4"/>
            <p:cNvSpPr/>
            <p:nvPr/>
          </p:nvSpPr>
          <p:spPr>
            <a:xfrm>
              <a:off x="1371600" y="4419600"/>
              <a:ext cx="1676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676400" y="4648200"/>
              <a:ext cx="457200" cy="457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286000" y="4648200"/>
              <a:ext cx="457200" cy="457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p:nvGrpSpPr>
        <p:grpSpPr>
          <a:xfrm>
            <a:off x="5486400" y="2895600"/>
            <a:ext cx="1676400" cy="914400"/>
            <a:chOff x="3810000" y="4419600"/>
            <a:chExt cx="1676400" cy="914400"/>
          </a:xfrm>
        </p:grpSpPr>
        <p:sp>
          <p:nvSpPr>
            <p:cNvPr id="8" name="Rectangle 7"/>
            <p:cNvSpPr/>
            <p:nvPr/>
          </p:nvSpPr>
          <p:spPr>
            <a:xfrm>
              <a:off x="3810000" y="4419600"/>
              <a:ext cx="1676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114800" y="4648200"/>
              <a:ext cx="457200" cy="457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24800" y="2895600"/>
            <a:ext cx="1676400" cy="914400"/>
            <a:chOff x="6248400" y="4419600"/>
            <a:chExt cx="1676400" cy="914400"/>
          </a:xfrm>
        </p:grpSpPr>
        <p:sp>
          <p:nvSpPr>
            <p:cNvPr id="11" name="Rectangle 10"/>
            <p:cNvSpPr/>
            <p:nvPr/>
          </p:nvSpPr>
          <p:spPr>
            <a:xfrm>
              <a:off x="6248400" y="4419600"/>
              <a:ext cx="1676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7162800" y="4648200"/>
              <a:ext cx="457200" cy="457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Date Placeholder 9"/>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2112111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cs typeface="Arial" charset="0"/>
              </a:rPr>
              <a:t>Additive Rules</a:t>
            </a:r>
          </a:p>
        </p:txBody>
      </p:sp>
      <p:sp>
        <p:nvSpPr>
          <p:cNvPr id="4" name="Slide Number Placeholder 3"/>
          <p:cNvSpPr>
            <a:spLocks noGrp="1"/>
          </p:cNvSpPr>
          <p:nvPr>
            <p:ph type="sldNum" sz="quarter" idx="12"/>
          </p:nvPr>
        </p:nvSpPr>
        <p:spPr/>
        <p:txBody>
          <a:bodyPr/>
          <a:lstStyle/>
          <a:p>
            <a:pPr>
              <a:defRPr/>
            </a:pPr>
            <a:fld id="{DA4ACE7E-D614-4455-A4F2-476B155A881D}" type="slidenum">
              <a:rPr lang="it-IT" smtClean="0"/>
              <a:pPr>
                <a:defRPr/>
              </a:pPr>
              <a:t>47</a:t>
            </a:fld>
            <a:endParaRPr lang="it-IT"/>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sz="2800" u="sng" dirty="0"/>
                  <a:t>Corollary 2.2:</a:t>
                </a:r>
                <a:r>
                  <a:rPr lang="en-US" sz="2800" dirty="0"/>
                  <a:t>  If </a:t>
                </a:r>
                <a:r>
                  <a:rPr lang="en-US" sz="2800" i="1" dirty="0"/>
                  <a:t>A</a:t>
                </a:r>
                <a:r>
                  <a:rPr lang="en-US" sz="2800" baseline="-25000" dirty="0"/>
                  <a:t>1</a:t>
                </a:r>
                <a:r>
                  <a:rPr lang="en-US" sz="2800" dirty="0"/>
                  <a:t>, </a:t>
                </a:r>
                <a:r>
                  <a:rPr lang="en-US" sz="2800" i="1" dirty="0"/>
                  <a:t>A</a:t>
                </a:r>
                <a:r>
                  <a:rPr lang="en-US" sz="2800" baseline="-25000" dirty="0"/>
                  <a:t>2</a:t>
                </a:r>
                <a:r>
                  <a:rPr lang="en-US" sz="2800" dirty="0"/>
                  <a:t>, …, </a:t>
                </a:r>
                <a:r>
                  <a:rPr lang="en-US" sz="2800" i="1" dirty="0"/>
                  <a:t>A</a:t>
                </a:r>
                <a:r>
                  <a:rPr lang="en-US" sz="2800" i="1" baseline="-25000" dirty="0"/>
                  <a:t>n</a:t>
                </a:r>
                <a:r>
                  <a:rPr lang="en-US" sz="2800" dirty="0"/>
                  <a:t> are mutually exclusive, then </a:t>
                </a:r>
                <a:endParaRPr lang="en-US" sz="280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1</m:t>
                              </m:r>
                            </m:sub>
                          </m:sSub>
                          <m:r>
                            <a:rPr lang="en-US" sz="2400" i="1">
                              <a:latin typeface="Cambria Math"/>
                              <a:ea typeface="Cambria Math"/>
                            </a:rPr>
                            <m:t>∪</m:t>
                          </m:r>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2</m:t>
                              </m:r>
                            </m:sub>
                          </m:sSub>
                          <m:r>
                            <a:rPr lang="en-US" sz="2400" i="1">
                              <a:latin typeface="Cambria Math"/>
                              <a:ea typeface="Cambria Math"/>
                            </a:rPr>
                            <m:t>∪⋯∪</m:t>
                          </m:r>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𝑛</m:t>
                              </m:r>
                            </m:sub>
                          </m:sSub>
                        </m:e>
                      </m:d>
                      <m:r>
                        <a:rPr lang="en-US" sz="2400" i="1">
                          <a:latin typeface="Cambria Math"/>
                        </a:rPr>
                        <m:t>=</m:t>
                      </m:r>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1</m:t>
                              </m:r>
                            </m:sub>
                          </m:sSub>
                        </m:e>
                      </m:d>
                      <m:r>
                        <a:rPr lang="en-US" sz="2400" i="1">
                          <a:latin typeface="Cambria Math"/>
                        </a:rPr>
                        <m:t>+</m:t>
                      </m:r>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2</m:t>
                              </m:r>
                            </m:sub>
                          </m:sSub>
                        </m:e>
                      </m:d>
                      <m:r>
                        <a:rPr lang="en-US" sz="2400" i="1">
                          <a:latin typeface="Cambria Math"/>
                        </a:rPr>
                        <m:t>+</m:t>
                      </m:r>
                      <m:r>
                        <a:rPr lang="en-US" sz="2400" i="1">
                          <a:latin typeface="Cambria Math"/>
                          <a:ea typeface="Cambria Math"/>
                        </a:rPr>
                        <m:t>⋯+</m:t>
                      </m:r>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𝑛</m:t>
                              </m:r>
                            </m:sub>
                          </m:sSub>
                        </m:e>
                      </m:d>
                    </m:oMath>
                  </m:oMathPara>
                </a14:m>
                <a:endParaRPr lang="en-US" sz="2400" dirty="0"/>
              </a:p>
              <a:p>
                <a:endParaRPr lang="en-US" sz="2800" dirty="0"/>
              </a:p>
              <a:p>
                <a:r>
                  <a:rPr lang="en-US" sz="2800" u="sng" dirty="0"/>
                  <a:t>Corollary 2.3:</a:t>
                </a:r>
                <a:r>
                  <a:rPr lang="en-US" sz="2800" dirty="0"/>
                  <a:t>  If </a:t>
                </a:r>
                <a:r>
                  <a:rPr lang="en-US" sz="2800" i="1" dirty="0"/>
                  <a:t>A</a:t>
                </a:r>
                <a:r>
                  <a:rPr lang="en-US" sz="2800" baseline="-25000" dirty="0"/>
                  <a:t>1</a:t>
                </a:r>
                <a:r>
                  <a:rPr lang="en-US" sz="2800" dirty="0"/>
                  <a:t>, </a:t>
                </a:r>
                <a:r>
                  <a:rPr lang="en-US" sz="2800" i="1" dirty="0"/>
                  <a:t>A</a:t>
                </a:r>
                <a:r>
                  <a:rPr lang="en-US" sz="2800" baseline="-25000" dirty="0"/>
                  <a:t>2</a:t>
                </a:r>
                <a:r>
                  <a:rPr lang="en-US" sz="2800" dirty="0"/>
                  <a:t>, …, </a:t>
                </a:r>
                <a:r>
                  <a:rPr lang="en-US" sz="2800" i="1" dirty="0"/>
                  <a:t>A</a:t>
                </a:r>
                <a:r>
                  <a:rPr lang="en-US" sz="2800" i="1" baseline="-25000" dirty="0"/>
                  <a:t>n</a:t>
                </a:r>
                <a:r>
                  <a:rPr lang="en-US" sz="2800" dirty="0"/>
                  <a:t> is a partition of a sample space </a:t>
                </a:r>
                <a:r>
                  <a:rPr lang="en-US" sz="2800" i="1" dirty="0">
                    <a:latin typeface="Times New Roman" panose="02020603050405020304" pitchFamily="18" charset="0"/>
                    <a:cs typeface="Times New Roman" panose="02020603050405020304" pitchFamily="18" charset="0"/>
                  </a:rPr>
                  <a:t>S</a:t>
                </a:r>
                <a:r>
                  <a:rPr lang="en-US" sz="2800" dirty="0"/>
                  <a:t>, then </a:t>
                </a:r>
                <a:endParaRPr lang="en-US" sz="280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1</m:t>
                              </m:r>
                            </m:sub>
                          </m:sSub>
                          <m:r>
                            <a:rPr lang="en-US" sz="2400" i="1">
                              <a:latin typeface="Cambria Math"/>
                              <a:ea typeface="Cambria Math"/>
                            </a:rPr>
                            <m:t>∪</m:t>
                          </m:r>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2</m:t>
                              </m:r>
                            </m:sub>
                          </m:sSub>
                          <m:r>
                            <a:rPr lang="en-US" sz="2400" i="1">
                              <a:latin typeface="Cambria Math"/>
                              <a:ea typeface="Cambria Math"/>
                            </a:rPr>
                            <m:t>∪⋯∪</m:t>
                          </m:r>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𝑛</m:t>
                              </m:r>
                            </m:sub>
                          </m:sSub>
                        </m:e>
                      </m:d>
                      <m:r>
                        <a:rPr lang="en-US" sz="2400" i="1">
                          <a:latin typeface="Cambria Math"/>
                        </a:rPr>
                        <m:t>=</m:t>
                      </m:r>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1</m:t>
                              </m:r>
                            </m:sub>
                          </m:sSub>
                        </m:e>
                      </m:d>
                      <m:r>
                        <a:rPr lang="en-US" sz="2400" i="1">
                          <a:latin typeface="Cambria Math"/>
                        </a:rPr>
                        <m:t>+</m:t>
                      </m:r>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2</m:t>
                              </m:r>
                            </m:sub>
                          </m:sSub>
                        </m:e>
                      </m:d>
                      <m:r>
                        <a:rPr lang="en-US" sz="2400" i="1">
                          <a:latin typeface="Cambria Math"/>
                        </a:rPr>
                        <m:t>+</m:t>
                      </m:r>
                      <m:r>
                        <a:rPr lang="en-US" sz="2400" i="1">
                          <a:latin typeface="Cambria Math"/>
                          <a:ea typeface="Cambria Math"/>
                        </a:rPr>
                        <m:t>⋯+</m:t>
                      </m:r>
                      <m:r>
                        <a:rPr lang="en-US" sz="2400" i="1">
                          <a:latin typeface="Cambria Math"/>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𝑛</m:t>
                              </m:r>
                            </m:sub>
                          </m:sSub>
                        </m:e>
                      </m:d>
                    </m:oMath>
                  </m:oMathPara>
                </a14:m>
                <a:endParaRPr lang="en-US" sz="240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sz="2400" i="1">
                          <a:latin typeface="Cambria Math"/>
                        </a:rPr>
                        <m:t>=</m:t>
                      </m:r>
                      <m:r>
                        <a:rPr lang="en-US" sz="2400" i="1">
                          <a:latin typeface="Cambria Math"/>
                        </a:rPr>
                        <m:t>𝑃</m:t>
                      </m:r>
                      <m:d>
                        <m:dPr>
                          <m:ctrlPr>
                            <a:rPr lang="en-US" sz="2400" i="1">
                              <a:latin typeface="Cambria Math" panose="02040503050406030204" pitchFamily="18" charset="0"/>
                            </a:rPr>
                          </m:ctrlPr>
                        </m:dPr>
                        <m:e>
                          <m:r>
                            <a:rPr lang="en-US" sz="2400" i="1">
                              <a:latin typeface="Cambria Math"/>
                            </a:rPr>
                            <m:t>𝑆</m:t>
                          </m:r>
                        </m:e>
                      </m:d>
                      <m:r>
                        <a:rPr lang="en-US" sz="2400" i="1">
                          <a:latin typeface="Cambria Math"/>
                        </a:rPr>
                        <m:t>=1</m:t>
                      </m:r>
                    </m:oMath>
                  </m:oMathPara>
                </a14:m>
                <a:endParaRPr lang="en-US" sz="2400" dirty="0"/>
              </a:p>
              <a:p>
                <a:endParaRPr lang="en-US" sz="28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l="-1259" t="-1213"/>
                </a:stretch>
              </a:blipFill>
            </p:spPr>
            <p:txBody>
              <a:bodyPr/>
              <a:lstStyle/>
              <a:p>
                <a:r>
                  <a:rPr lang="en-US">
                    <a:noFill/>
                  </a:rPr>
                  <a:t> </a:t>
                </a:r>
              </a:p>
            </p:txBody>
          </p:sp>
        </mc:Fallback>
      </mc:AlternateContent>
      <p:sp>
        <p:nvSpPr>
          <p:cNvPr id="3" name="Date Placeholder 2"/>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913360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Additive Rules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417639"/>
                <a:ext cx="8229600" cy="4525963"/>
              </a:xfrm>
            </p:spPr>
            <p:txBody>
              <a:bodyPr/>
              <a:lstStyle/>
              <a:p>
                <a:pPr marL="0" indent="0">
                  <a:buNone/>
                </a:pPr>
                <a:r>
                  <a:rPr lang="en-US" u="sng" dirty="0"/>
                  <a:t>Additive Rule #2:</a:t>
                </a:r>
                <a:r>
                  <a:rPr lang="en-US" dirty="0"/>
                  <a:t>  For three events A, B and C, </a:t>
                </a:r>
                <a:endParaRPr lang="en-US" sz="240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sz="2400" i="1">
                          <a:latin typeface="Cambria Math"/>
                        </a:rPr>
                        <m:t>𝑃</m:t>
                      </m:r>
                      <m:d>
                        <m:dPr>
                          <m:ctrlPr>
                            <a:rPr lang="en-US" sz="2400" i="1">
                              <a:latin typeface="Cambria Math" panose="02040503050406030204" pitchFamily="18" charset="0"/>
                            </a:rPr>
                          </m:ctrlPr>
                        </m:dPr>
                        <m:e>
                          <m:r>
                            <a:rPr lang="en-US" sz="2400" i="1">
                              <a:latin typeface="Cambria Math"/>
                            </a:rPr>
                            <m:t>𝐴</m:t>
                          </m:r>
                          <m:r>
                            <a:rPr lang="en-US" sz="2400" i="1">
                              <a:latin typeface="Cambria Math"/>
                              <a:ea typeface="Cambria Math"/>
                            </a:rPr>
                            <m:t>∪</m:t>
                          </m:r>
                          <m:r>
                            <a:rPr lang="en-US" sz="2400" i="1">
                              <a:latin typeface="Cambria Math"/>
                              <a:ea typeface="Cambria Math"/>
                            </a:rPr>
                            <m:t>𝐵</m:t>
                          </m:r>
                          <m:r>
                            <a:rPr lang="en-US" sz="2400" i="1">
                              <a:latin typeface="Cambria Math"/>
                              <a:ea typeface="Cambria Math"/>
                            </a:rPr>
                            <m:t>∪</m:t>
                          </m:r>
                          <m:r>
                            <a:rPr lang="en-US" sz="2400" i="1">
                              <a:latin typeface="Cambria Math"/>
                              <a:ea typeface="Cambria Math"/>
                            </a:rPr>
                            <m:t>𝐶</m:t>
                          </m:r>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r>
                            <a:rPr lang="en-US" sz="2400" i="1">
                              <a:latin typeface="Cambria Math"/>
                              <a:ea typeface="Cambria Math"/>
                            </a:rPr>
                            <m:t>𝐴</m:t>
                          </m:r>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r>
                            <a:rPr lang="en-US" sz="2400" i="1">
                              <a:latin typeface="Cambria Math"/>
                              <a:ea typeface="Cambria Math"/>
                            </a:rPr>
                            <m:t>𝐵</m:t>
                          </m:r>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r>
                            <a:rPr lang="en-US" sz="2400" i="1">
                              <a:latin typeface="Cambria Math"/>
                              <a:ea typeface="Cambria Math"/>
                            </a:rPr>
                            <m:t>𝐶</m:t>
                          </m:r>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r>
                            <a:rPr lang="en-US" sz="2400" i="1">
                              <a:latin typeface="Cambria Math"/>
                              <a:ea typeface="Cambria Math"/>
                            </a:rPr>
                            <m:t>𝐴</m:t>
                          </m:r>
                          <m:r>
                            <a:rPr lang="en-US" sz="2400" i="1">
                              <a:latin typeface="Cambria Math"/>
                              <a:ea typeface="Cambria Math"/>
                            </a:rPr>
                            <m:t>∩</m:t>
                          </m:r>
                          <m:r>
                            <a:rPr lang="en-US" sz="2400" i="1">
                              <a:latin typeface="Cambria Math"/>
                              <a:ea typeface="Cambria Math"/>
                            </a:rPr>
                            <m:t>𝐵</m:t>
                          </m:r>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r>
                            <a:rPr lang="en-US" sz="2400" i="1">
                              <a:latin typeface="Cambria Math"/>
                              <a:ea typeface="Cambria Math"/>
                            </a:rPr>
                            <m:t>𝐴</m:t>
                          </m:r>
                          <m:r>
                            <a:rPr lang="en-US" sz="2400" i="1">
                              <a:latin typeface="Cambria Math"/>
                              <a:ea typeface="Cambria Math"/>
                            </a:rPr>
                            <m:t>∩</m:t>
                          </m:r>
                          <m:r>
                            <a:rPr lang="en-US" sz="2400" i="1">
                              <a:latin typeface="Cambria Math"/>
                              <a:ea typeface="Cambria Math"/>
                            </a:rPr>
                            <m:t>𝐶</m:t>
                          </m:r>
                        </m:e>
                      </m:d>
                      <m:r>
                        <a:rPr lang="en-US" sz="2400" i="1">
                          <a:latin typeface="Cambria Math"/>
                          <a:ea typeface="Cambria Math"/>
                        </a:rPr>
                        <m:t>−</m:t>
                      </m:r>
                      <m:r>
                        <a:rPr lang="en-US" sz="2400" i="1">
                          <a:latin typeface="Cambria Math"/>
                          <a:ea typeface="Cambria Math"/>
                        </a:rPr>
                        <m:t>𝑃</m:t>
                      </m:r>
                      <m:d>
                        <m:dPr>
                          <m:ctrlPr>
                            <a:rPr lang="en-US" sz="2400" i="1">
                              <a:latin typeface="Cambria Math" panose="02040503050406030204" pitchFamily="18" charset="0"/>
                              <a:ea typeface="Cambria Math"/>
                            </a:rPr>
                          </m:ctrlPr>
                        </m:dPr>
                        <m:e>
                          <m:r>
                            <a:rPr lang="en-US" sz="2400" i="1">
                              <a:latin typeface="Cambria Math"/>
                              <a:ea typeface="Cambria Math"/>
                            </a:rPr>
                            <m:t>𝐵</m:t>
                          </m:r>
                          <m:r>
                            <a:rPr lang="en-US" sz="2400" i="1">
                              <a:latin typeface="Cambria Math"/>
                              <a:ea typeface="Cambria Math"/>
                            </a:rPr>
                            <m:t>∩</m:t>
                          </m:r>
                          <m:r>
                            <a:rPr lang="en-US" sz="2400" i="1">
                              <a:latin typeface="Cambria Math"/>
                              <a:ea typeface="Cambria Math"/>
                            </a:rPr>
                            <m:t>𝐶</m:t>
                          </m:r>
                        </m:e>
                      </m:d>
                      <m:r>
                        <a:rPr lang="en-US" sz="2400" i="1">
                          <a:latin typeface="Cambria Math"/>
                          <a:ea typeface="Cambria Math"/>
                        </a:rPr>
                        <m:t>+</m:t>
                      </m:r>
                      <m:r>
                        <a:rPr lang="en-US" sz="2400" i="1">
                          <a:latin typeface="Cambria Math"/>
                          <a:ea typeface="Cambria Math"/>
                        </a:rPr>
                        <m:t>𝑃</m:t>
                      </m:r>
                      <m:r>
                        <a:rPr lang="en-US" sz="2400" i="1">
                          <a:latin typeface="Cambria Math"/>
                          <a:ea typeface="Cambria Math"/>
                        </a:rPr>
                        <m:t>(</m:t>
                      </m:r>
                      <m:r>
                        <a:rPr lang="en-US" sz="2400" i="1">
                          <a:latin typeface="Cambria Math"/>
                          <a:ea typeface="Cambria Math"/>
                        </a:rPr>
                        <m:t>𝐴</m:t>
                      </m:r>
                      <m:r>
                        <a:rPr lang="en-US" sz="2400" i="1">
                          <a:latin typeface="Cambria Math"/>
                          <a:ea typeface="Cambria Math"/>
                        </a:rPr>
                        <m:t>∩</m:t>
                      </m:r>
                      <m:r>
                        <a:rPr lang="en-US" sz="2400" i="1">
                          <a:latin typeface="Cambria Math"/>
                          <a:ea typeface="Cambria Math"/>
                        </a:rPr>
                        <m:t>𝐵</m:t>
                      </m:r>
                      <m:r>
                        <a:rPr lang="en-US" sz="2400" i="1">
                          <a:latin typeface="Cambria Math"/>
                          <a:ea typeface="Cambria Math"/>
                        </a:rPr>
                        <m:t>∩</m:t>
                      </m:r>
                      <m:r>
                        <a:rPr lang="en-US" sz="2400" i="1">
                          <a:latin typeface="Cambria Math"/>
                          <a:ea typeface="Cambria Math"/>
                        </a:rPr>
                        <m:t>𝐶</m:t>
                      </m:r>
                      <m:r>
                        <a:rPr lang="en-US" sz="2400" i="1">
                          <a:latin typeface="Cambria Math"/>
                          <a:ea typeface="Cambria Math"/>
                        </a:rPr>
                        <m:t>)</m:t>
                      </m:r>
                    </m:oMath>
                  </m:oMathPara>
                </a14:m>
                <a:endParaRPr lang="en-US" sz="2400" dirty="0"/>
              </a:p>
              <a:p>
                <a:pPr marL="0" indent="0">
                  <a:buNone/>
                </a:pPr>
                <a:r>
                  <a:rPr lang="en-US" dirty="0"/>
                  <a:t>Example: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417639"/>
                <a:ext cx="8229600" cy="4525963"/>
              </a:xfrm>
              <a:blipFill>
                <a:blip r:embed="rId2"/>
                <a:stretch>
                  <a:fillRect l="-1849" t="-167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48</a:t>
            </a:fld>
            <a:endParaRPr lang="it-IT"/>
          </a:p>
        </p:txBody>
      </p:sp>
      <p:sp>
        <p:nvSpPr>
          <p:cNvPr id="5" name="Date Placeholder 4"/>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547426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981200" y="274639"/>
            <a:ext cx="8229600" cy="623887"/>
          </a:xfrm>
          <a:noFill/>
        </p:spPr>
        <p:txBody>
          <a:bodyPr/>
          <a:lstStyle/>
          <a:p>
            <a:pPr eaLnBrk="1" hangingPunct="1"/>
            <a:r>
              <a:rPr lang="en-US" sz="3600" dirty="0"/>
              <a:t>Additive Rules</a:t>
            </a:r>
            <a:endParaRPr lang="en-US" altLang="en-US" sz="3600" dirty="0"/>
          </a:p>
        </p:txBody>
      </p:sp>
      <p:sp>
        <p:nvSpPr>
          <p:cNvPr id="20483" name="Rectangle 3"/>
          <p:cNvSpPr>
            <a:spLocks noGrp="1" noChangeArrowheads="1"/>
          </p:cNvSpPr>
          <p:nvPr>
            <p:ph type="body" idx="1"/>
          </p:nvPr>
        </p:nvSpPr>
        <p:spPr>
          <a:xfrm>
            <a:off x="1866900" y="1066800"/>
            <a:ext cx="8229600" cy="4953000"/>
          </a:xfrm>
          <a:noFill/>
        </p:spPr>
        <p:txBody>
          <a:bodyPr/>
          <a:lstStyle/>
          <a:p>
            <a:pPr eaLnBrk="1" hangingPunct="1">
              <a:tabLst>
                <a:tab pos="457200" algn="l"/>
                <a:tab pos="1371600" algn="l"/>
                <a:tab pos="1547813" algn="l"/>
              </a:tabLst>
            </a:pPr>
            <a:r>
              <a:rPr lang="en-US" altLang="en-US" sz="2400" dirty="0"/>
              <a:t>This can be verified by examining a Venn diagram of</a:t>
            </a:r>
            <a:br>
              <a:rPr lang="en-US" altLang="en-US" sz="2400" dirty="0"/>
            </a:br>
            <a:r>
              <a:rPr lang="en-US" altLang="en-US" sz="2400" i="1" dirty="0"/>
              <a:t>A </a:t>
            </a:r>
            <a:r>
              <a:rPr lang="en-US" altLang="en-US" sz="2400" dirty="0">
                <a:sym typeface="Symbol" panose="05050102010706020507" pitchFamily="18" charset="2"/>
              </a:rPr>
              <a:t> </a:t>
            </a:r>
            <a:r>
              <a:rPr lang="en-US" altLang="en-US" sz="2400" i="1" dirty="0"/>
              <a:t>B </a:t>
            </a:r>
            <a:r>
              <a:rPr lang="en-US" altLang="en-US" sz="2400" dirty="0">
                <a:sym typeface="Symbol" panose="05050102010706020507" pitchFamily="18" charset="2"/>
              </a:rPr>
              <a:t> </a:t>
            </a:r>
            <a:r>
              <a:rPr lang="en-US" altLang="en-US" sz="2400" i="1" dirty="0"/>
              <a:t>C</a:t>
            </a:r>
            <a:r>
              <a:rPr lang="en-US" altLang="en-US" sz="2400" dirty="0"/>
              <a:t>.</a:t>
            </a:r>
          </a:p>
          <a:p>
            <a:pPr eaLnBrk="1" hangingPunct="1">
              <a:tabLst>
                <a:tab pos="457200" algn="l"/>
                <a:tab pos="1371600" algn="l"/>
                <a:tab pos="1547813" algn="l"/>
              </a:tabLst>
            </a:pPr>
            <a:endParaRPr lang="en-US" altLang="en-US" dirty="0"/>
          </a:p>
          <a:p>
            <a:pPr marL="0" indent="0" eaLnBrk="1" hangingPunct="1">
              <a:buNone/>
              <a:tabLst>
                <a:tab pos="457200" algn="l"/>
                <a:tab pos="1371600" algn="l"/>
                <a:tab pos="1547813" algn="l"/>
              </a:tabLst>
            </a:pPr>
            <a:endParaRPr lang="en-US" altLang="en-US" dirty="0"/>
          </a:p>
          <a:p>
            <a:pPr eaLnBrk="1" hangingPunct="1">
              <a:buNone/>
              <a:tabLst>
                <a:tab pos="457200" algn="l"/>
                <a:tab pos="1371600" algn="l"/>
                <a:tab pos="1547813" algn="l"/>
              </a:tabLst>
            </a:pPr>
            <a:endParaRPr lang="en-US" altLang="en-US" dirty="0"/>
          </a:p>
          <a:p>
            <a:pPr marL="0" indent="0" eaLnBrk="1" hangingPunct="1">
              <a:buNone/>
              <a:tabLst>
                <a:tab pos="457200" algn="l"/>
                <a:tab pos="1371600" algn="l"/>
                <a:tab pos="1547813" algn="l"/>
              </a:tabLst>
            </a:pPr>
            <a:r>
              <a:rPr lang="en-US" altLang="en-US" sz="2400" dirty="0"/>
              <a:t>When </a:t>
            </a:r>
            <a:r>
              <a:rPr lang="en-US" altLang="en-US" sz="2400" i="1" dirty="0"/>
              <a:t>P</a:t>
            </a:r>
            <a:r>
              <a:rPr lang="en-US" altLang="en-US" sz="2400" dirty="0"/>
              <a:t>(</a:t>
            </a:r>
            <a:r>
              <a:rPr lang="en-US" altLang="en-US" sz="2400" i="1" dirty="0"/>
              <a:t>A</a:t>
            </a:r>
            <a:r>
              <a:rPr lang="en-US" altLang="en-US" sz="2400" dirty="0"/>
              <a:t>), </a:t>
            </a:r>
            <a:r>
              <a:rPr lang="en-US" altLang="en-US" sz="2400" i="1" dirty="0"/>
              <a:t>P</a:t>
            </a:r>
            <a:r>
              <a:rPr lang="en-US" altLang="en-US" sz="2400" dirty="0"/>
              <a:t>(</a:t>
            </a:r>
            <a:r>
              <a:rPr lang="en-US" altLang="en-US" sz="2400" i="1" dirty="0"/>
              <a:t>B</a:t>
            </a:r>
            <a:r>
              <a:rPr lang="en-US" altLang="en-US" sz="2400" dirty="0"/>
              <a:t>), and </a:t>
            </a:r>
            <a:r>
              <a:rPr lang="en-US" altLang="en-US" sz="2400" i="1" dirty="0"/>
              <a:t>P</a:t>
            </a:r>
            <a:r>
              <a:rPr lang="en-US" altLang="en-US" sz="2400" dirty="0"/>
              <a:t>(</a:t>
            </a:r>
            <a:r>
              <a:rPr lang="en-US" altLang="en-US" sz="2400" i="1" dirty="0"/>
              <a:t>C</a:t>
            </a:r>
            <a:r>
              <a:rPr lang="en-US" altLang="en-US" sz="2400" dirty="0"/>
              <a:t>) are added, certain intersections are counted twice, so they must be subtracted out, but this results in </a:t>
            </a:r>
            <a:r>
              <a:rPr lang="en-US" altLang="en-US" sz="2400" i="1" dirty="0"/>
              <a:t>P</a:t>
            </a:r>
            <a:r>
              <a:rPr lang="en-US" altLang="en-US" sz="2400" dirty="0"/>
              <a:t>(</a:t>
            </a:r>
            <a:r>
              <a:rPr lang="en-US" altLang="en-US" sz="2400" i="1" dirty="0"/>
              <a:t>A </a:t>
            </a:r>
            <a:r>
              <a:rPr lang="en-US" altLang="en-US" sz="2400" dirty="0">
                <a:sym typeface="Symbol" panose="05050102010706020507" pitchFamily="18" charset="2"/>
              </a:rPr>
              <a:t> </a:t>
            </a:r>
            <a:r>
              <a:rPr lang="en-US" altLang="en-US" sz="2400" i="1" dirty="0"/>
              <a:t>B </a:t>
            </a:r>
            <a:r>
              <a:rPr lang="en-US" altLang="en-US" sz="2400" dirty="0">
                <a:sym typeface="Symbol" panose="05050102010706020507" pitchFamily="18" charset="2"/>
              </a:rPr>
              <a:t> </a:t>
            </a:r>
            <a:r>
              <a:rPr lang="en-US" altLang="en-US" sz="2400" i="1" dirty="0">
                <a:sym typeface="Symbol" panose="05050102010706020507" pitchFamily="18" charset="2"/>
              </a:rPr>
              <a:t>C</a:t>
            </a:r>
            <a:r>
              <a:rPr lang="en-US" altLang="en-US" sz="2400" dirty="0"/>
              <a:t>) being subtracted once too often.</a:t>
            </a:r>
          </a:p>
        </p:txBody>
      </p:sp>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1" y="2057400"/>
            <a:ext cx="2093913" cy="123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6"/>
          <p:cNvSpPr txBox="1">
            <a:spLocks noChangeArrowheads="1"/>
          </p:cNvSpPr>
          <p:nvPr/>
        </p:nvSpPr>
        <p:spPr bwMode="auto">
          <a:xfrm>
            <a:off x="5276056" y="330676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i="1" dirty="0"/>
              <a:t>A </a:t>
            </a:r>
            <a:r>
              <a:rPr lang="en-US" altLang="en-US" sz="1400" dirty="0">
                <a:sym typeface="Symbol" panose="05050102010706020507" pitchFamily="18" charset="2"/>
              </a:rPr>
              <a:t> </a:t>
            </a:r>
            <a:r>
              <a:rPr lang="en-US" altLang="en-US" sz="1400" i="1" dirty="0"/>
              <a:t>B </a:t>
            </a:r>
            <a:r>
              <a:rPr lang="en-US" altLang="en-US" sz="1400" dirty="0">
                <a:sym typeface="Symbol" panose="05050102010706020507" pitchFamily="18" charset="2"/>
              </a:rPr>
              <a:t> </a:t>
            </a:r>
            <a:r>
              <a:rPr lang="en-US" altLang="en-US" sz="1400" i="1" dirty="0"/>
              <a:t>C</a:t>
            </a:r>
          </a:p>
        </p:txBody>
      </p:sp>
      <p:sp>
        <p:nvSpPr>
          <p:cNvPr id="2" name="Date Placeholder 1"/>
          <p:cNvSpPr>
            <a:spLocks noGrp="1"/>
          </p:cNvSpPr>
          <p:nvPr>
            <p:ph type="dt" sz="half" idx="10"/>
          </p:nvPr>
        </p:nvSpPr>
        <p:spPr/>
        <p:txBody>
          <a:bodyPr/>
          <a:lstStyle/>
          <a:p>
            <a:pPr>
              <a:defRPr/>
            </a:pPr>
            <a:endParaRPr lang="it-IT"/>
          </a:p>
        </p:txBody>
      </p:sp>
      <p:sp>
        <p:nvSpPr>
          <p:cNvPr id="3" name="Slide Number Placeholder 2"/>
          <p:cNvSpPr>
            <a:spLocks noGrp="1"/>
          </p:cNvSpPr>
          <p:nvPr>
            <p:ph type="sldNum" sz="quarter" idx="12"/>
          </p:nvPr>
        </p:nvSpPr>
        <p:spPr/>
        <p:txBody>
          <a:bodyPr/>
          <a:lstStyle/>
          <a:p>
            <a:pPr>
              <a:defRPr/>
            </a:pPr>
            <a:fld id="{17999C3B-878A-40EE-AB40-ACC04F59CADA}" type="slidenum">
              <a:rPr lang="it-IT" smtClean="0"/>
              <a:pPr>
                <a:defRPr/>
              </a:pPr>
              <a:t>49</a:t>
            </a:fld>
            <a:endParaRPr lang="it-IT"/>
          </a:p>
        </p:txBody>
      </p:sp>
    </p:spTree>
    <p:extLst>
      <p:ext uri="{BB962C8B-B14F-4D97-AF65-F5344CB8AC3E}">
        <p14:creationId xmlns:p14="http://schemas.microsoft.com/office/powerpoint/2010/main" val="61710159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3A2587-1865-4305-AD38-E847D805CF85}" type="slidenum">
              <a:rPr lang="it-IT" altLang="en-US">
                <a:latin typeface="Tahoma" panose="020B0604030504040204" pitchFamily="34" charset="0"/>
              </a:rPr>
              <a:pPr eaLnBrk="1" hangingPunct="1"/>
              <a:t>50</a:t>
            </a:fld>
            <a:endParaRPr lang="it-IT" altLang="en-US">
              <a:latin typeface="Tahoma" panose="020B0604030504040204" pitchFamily="34" charset="0"/>
            </a:endParaRPr>
          </a:p>
        </p:txBody>
      </p:sp>
      <p:sp>
        <p:nvSpPr>
          <p:cNvPr id="18435" name="Text Box 2"/>
          <p:cNvSpPr txBox="1">
            <a:spLocks noChangeArrowheads="1"/>
          </p:cNvSpPr>
          <p:nvPr/>
        </p:nvSpPr>
        <p:spPr bwMode="auto">
          <a:xfrm>
            <a:off x="1905000" y="856358"/>
            <a:ext cx="8534400" cy="6001643"/>
          </a:xfrm>
          <a:prstGeom prst="rect">
            <a:avLst/>
          </a:prstGeom>
          <a:noFill/>
          <a:ln w="9525">
            <a:noFill/>
            <a:miter lim="800000"/>
            <a:headEnd/>
            <a:tailEnd/>
          </a:ln>
        </p:spPr>
        <p:txBody>
          <a:bodyPr>
            <a:spAutoFit/>
          </a:bodyPr>
          <a:lstStyle/>
          <a:p>
            <a:pPr>
              <a:spcBef>
                <a:spcPct val="50000"/>
              </a:spcBef>
              <a:defRPr/>
            </a:pPr>
            <a:r>
              <a:rPr lang="en-US" sz="2400" dirty="0">
                <a:latin typeface="+mn-lt"/>
                <a:cs typeface="Times New Roman" pitchFamily="18" charset="0"/>
              </a:rPr>
              <a:t>When I visit the local library, the probability that someone is reading the current issue of </a:t>
            </a:r>
            <a:r>
              <a:rPr lang="en-US" sz="2400" i="1" dirty="0">
                <a:latin typeface="+mn-lt"/>
                <a:cs typeface="Times New Roman" pitchFamily="18" charset="0"/>
              </a:rPr>
              <a:t>Sports Illustrated</a:t>
            </a:r>
            <a:r>
              <a:rPr lang="en-US" sz="2400" dirty="0">
                <a:latin typeface="+mn-lt"/>
                <a:cs typeface="Times New Roman" pitchFamily="18" charset="0"/>
              </a:rPr>
              <a:t> is .4, the probability that someone is reading </a:t>
            </a:r>
            <a:r>
              <a:rPr lang="en-US" sz="2400" i="1" dirty="0">
                <a:latin typeface="+mn-lt"/>
                <a:cs typeface="Times New Roman" pitchFamily="18" charset="0"/>
              </a:rPr>
              <a:t>Time</a:t>
            </a:r>
            <a:r>
              <a:rPr lang="en-US" sz="2400" dirty="0">
                <a:latin typeface="+mn-lt"/>
                <a:cs typeface="Times New Roman" pitchFamily="18" charset="0"/>
              </a:rPr>
              <a:t> is .3, and the probability that at least one of these two magazines is being read by someone is .5.  What is the probability that</a:t>
            </a:r>
          </a:p>
          <a:p>
            <a:pPr>
              <a:buFontTx/>
              <a:buAutoNum type="alphaLcPeriod"/>
              <a:defRPr/>
            </a:pPr>
            <a:r>
              <a:rPr lang="en-US" sz="2400" dirty="0">
                <a:latin typeface="+mn-lt"/>
                <a:cs typeface="Times New Roman" pitchFamily="18" charset="0"/>
              </a:rPr>
              <a:t>Both of the magazines are being read?</a:t>
            </a:r>
          </a:p>
          <a:p>
            <a:pPr>
              <a:buFontTx/>
              <a:buAutoNum type="alphaLcPeriod"/>
              <a:defRPr/>
            </a:pPr>
            <a:endParaRPr lang="en-US" sz="2400" dirty="0">
              <a:latin typeface="+mn-lt"/>
              <a:cs typeface="Times New Roman" pitchFamily="18" charset="0"/>
            </a:endParaRPr>
          </a:p>
          <a:p>
            <a:pPr>
              <a:buFontTx/>
              <a:buAutoNum type="alphaLcPeriod"/>
              <a:defRPr/>
            </a:pPr>
            <a:endParaRPr lang="en-US" sz="2400" dirty="0">
              <a:latin typeface="+mn-lt"/>
              <a:cs typeface="Times New Roman" pitchFamily="18" charset="0"/>
            </a:endParaRPr>
          </a:p>
          <a:p>
            <a:pPr>
              <a:buFontTx/>
              <a:buAutoNum type="alphaLcPeriod"/>
              <a:defRPr/>
            </a:pPr>
            <a:r>
              <a:rPr lang="en-US" sz="2400" dirty="0">
                <a:latin typeface="+mn-lt"/>
                <a:cs typeface="Times New Roman" pitchFamily="18" charset="0"/>
              </a:rPr>
              <a:t>Neither of the two is being read?</a:t>
            </a:r>
          </a:p>
          <a:p>
            <a:pPr>
              <a:buFontTx/>
              <a:buAutoNum type="alphaLcPeriod"/>
              <a:defRPr/>
            </a:pPr>
            <a:endParaRPr lang="en-US" sz="2400" dirty="0">
              <a:latin typeface="+mn-lt"/>
              <a:cs typeface="Times New Roman" pitchFamily="18" charset="0"/>
            </a:endParaRPr>
          </a:p>
          <a:p>
            <a:pPr>
              <a:buFontTx/>
              <a:buAutoNum type="alphaLcPeriod"/>
              <a:defRPr/>
            </a:pPr>
            <a:endParaRPr lang="en-US" sz="2400" dirty="0">
              <a:latin typeface="+mn-lt"/>
              <a:cs typeface="Times New Roman" pitchFamily="18" charset="0"/>
            </a:endParaRPr>
          </a:p>
          <a:p>
            <a:pPr>
              <a:buFontTx/>
              <a:buAutoNum type="alphaLcPeriod"/>
              <a:defRPr/>
            </a:pPr>
            <a:endParaRPr lang="en-US" sz="2400" dirty="0">
              <a:latin typeface="+mn-lt"/>
              <a:cs typeface="Times New Roman" pitchFamily="18" charset="0"/>
            </a:endParaRPr>
          </a:p>
          <a:p>
            <a:pPr>
              <a:buFontTx/>
              <a:buAutoNum type="alphaLcPeriod"/>
              <a:defRPr/>
            </a:pPr>
            <a:r>
              <a:rPr lang="en-US" sz="2400" dirty="0">
                <a:latin typeface="+mn-lt"/>
                <a:cs typeface="Times New Roman" pitchFamily="18" charset="0"/>
              </a:rPr>
              <a:t>Exactly one is being read?</a:t>
            </a:r>
          </a:p>
          <a:p>
            <a:pPr>
              <a:buFontTx/>
              <a:buAutoNum type="alphaLcPeriod"/>
              <a:defRPr/>
            </a:pPr>
            <a:endParaRPr lang="en-US" sz="2400" dirty="0">
              <a:latin typeface="+mn-lt"/>
            </a:endParaRPr>
          </a:p>
          <a:p>
            <a:pPr>
              <a:buFontTx/>
              <a:buAutoNum type="alphaLcPeriod"/>
              <a:defRPr/>
            </a:pPr>
            <a:endParaRPr lang="en-US" sz="2400" dirty="0">
              <a:latin typeface="+mn-lt"/>
            </a:endParaRPr>
          </a:p>
          <a:p>
            <a:pPr>
              <a:defRPr/>
            </a:pPr>
            <a:endParaRPr lang="en-US" sz="2400" dirty="0">
              <a:latin typeface="+mn-lt"/>
            </a:endParaRPr>
          </a:p>
        </p:txBody>
      </p:sp>
      <p:sp>
        <p:nvSpPr>
          <p:cNvPr id="2" name="TextBox 1"/>
          <p:cNvSpPr txBox="1"/>
          <p:nvPr/>
        </p:nvSpPr>
        <p:spPr>
          <a:xfrm>
            <a:off x="5105401" y="152401"/>
            <a:ext cx="1769715" cy="646331"/>
          </a:xfrm>
          <a:prstGeom prst="rect">
            <a:avLst/>
          </a:prstGeom>
          <a:noFill/>
        </p:spPr>
        <p:txBody>
          <a:bodyPr wrap="none" rtlCol="0">
            <a:spAutoFit/>
          </a:bodyPr>
          <a:lstStyle/>
          <a:p>
            <a:r>
              <a:rPr lang="en-US" sz="3600" dirty="0">
                <a:latin typeface="+mj-lt"/>
              </a:rPr>
              <a:t>Example</a:t>
            </a:r>
          </a:p>
        </p:txBody>
      </p:sp>
      <p:sp>
        <p:nvSpPr>
          <p:cNvPr id="3" name="Date Placeholder 2"/>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13714303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dirty="0">
                <a:cs typeface="Arial" charset="0"/>
              </a:rPr>
              <a:t>Additive Rules</a:t>
            </a:r>
          </a:p>
        </p:txBody>
      </p:sp>
      <p:sp>
        <p:nvSpPr>
          <p:cNvPr id="3" name="Content Placeholder 2"/>
          <p:cNvSpPr>
            <a:spLocks noGrp="1"/>
          </p:cNvSpPr>
          <p:nvPr>
            <p:ph idx="1"/>
          </p:nvPr>
        </p:nvSpPr>
        <p:spPr>
          <a:xfrm>
            <a:off x="1981200" y="1600201"/>
            <a:ext cx="8534400" cy="4525963"/>
          </a:xfrm>
        </p:spPr>
        <p:txBody>
          <a:bodyPr/>
          <a:lstStyle/>
          <a:p>
            <a:pPr marL="0" indent="0" eaLnBrk="1" hangingPunct="1">
              <a:buNone/>
              <a:defRPr/>
            </a:pPr>
            <a:r>
              <a:rPr lang="en-US" u="sng" dirty="0"/>
              <a:t>Additive Rule #3:</a:t>
            </a:r>
            <a:r>
              <a:rPr lang="en-US" dirty="0"/>
              <a:t>  If </a:t>
            </a:r>
            <a:r>
              <a:rPr lang="en-US" i="1" dirty="0"/>
              <a:t>A</a:t>
            </a:r>
            <a:r>
              <a:rPr lang="en-US" dirty="0"/>
              <a:t> and </a:t>
            </a:r>
            <a:r>
              <a:rPr lang="en-US" i="1" dirty="0"/>
              <a:t>A</a:t>
            </a:r>
            <a:r>
              <a:rPr lang="en-US" dirty="0"/>
              <a:t>’ are complementary events, then P(</a:t>
            </a:r>
            <a:r>
              <a:rPr lang="en-US" i="1" dirty="0"/>
              <a:t>A</a:t>
            </a:r>
            <a:r>
              <a:rPr lang="en-US" dirty="0"/>
              <a:t>) + P(</a:t>
            </a:r>
            <a:r>
              <a:rPr lang="en-US" i="1" dirty="0"/>
              <a:t>A</a:t>
            </a:r>
            <a:r>
              <a:rPr lang="en-US" dirty="0"/>
              <a:t>’) = 1.</a:t>
            </a:r>
          </a:p>
          <a:p>
            <a:pPr lvl="1" eaLnBrk="1" hangingPunct="1">
              <a:buFont typeface="Arial" pitchFamily="34" charset="0"/>
              <a:buChar char="–"/>
              <a:defRPr/>
            </a:pPr>
            <a:endParaRPr lang="en-US" sz="1200" dirty="0"/>
          </a:p>
          <a:p>
            <a:pPr lvl="1" eaLnBrk="1" hangingPunct="1">
              <a:buFont typeface="Arial" pitchFamily="34" charset="0"/>
              <a:buChar char="–"/>
              <a:defRPr/>
            </a:pPr>
            <a:r>
              <a:rPr lang="en-US" sz="2400" dirty="0"/>
              <a:t>Sometimes P(</a:t>
            </a:r>
            <a:r>
              <a:rPr lang="en-US" sz="2400" i="1" dirty="0"/>
              <a:t>A</a:t>
            </a:r>
            <a:r>
              <a:rPr lang="en-US" sz="2400" dirty="0"/>
              <a:t>’) is easier to calculate than P(</a:t>
            </a:r>
            <a:r>
              <a:rPr lang="en-US" sz="2400" i="1" dirty="0"/>
              <a:t>A</a:t>
            </a:r>
            <a:r>
              <a:rPr lang="en-US" sz="2400" dirty="0"/>
              <a:t>)</a:t>
            </a:r>
          </a:p>
          <a:p>
            <a:pPr lvl="1" eaLnBrk="1" hangingPunct="1">
              <a:buFont typeface="Arial" pitchFamily="34" charset="0"/>
              <a:buChar char="–"/>
              <a:defRPr/>
            </a:pPr>
            <a:r>
              <a:rPr lang="en-US" sz="2400" u="sng" dirty="0"/>
              <a:t>Example:</a:t>
            </a:r>
            <a:r>
              <a:rPr lang="en-US" sz="2400" dirty="0"/>
              <a:t>  What is the probability that a student is 5’5’’ or taller?</a:t>
            </a:r>
          </a:p>
          <a:p>
            <a:pPr marL="457200" lvl="1" indent="0" eaLnBrk="1" hangingPunct="1">
              <a:buNone/>
              <a:defRPr/>
            </a:pPr>
            <a:endParaRPr lang="en-US" dirty="0"/>
          </a:p>
          <a:p>
            <a:pPr lvl="1" eaLnBrk="1" hangingPunct="1">
              <a:buFont typeface="Arial" pitchFamily="34" charset="0"/>
              <a:buChar char="–"/>
              <a:defRPr/>
            </a:pPr>
            <a:endParaRPr lang="en-US" dirty="0"/>
          </a:p>
          <a:p>
            <a:pPr lvl="1" eaLnBrk="1" hangingPunct="1">
              <a:buFont typeface="Arial" pitchFamily="34" charset="0"/>
              <a:buChar char="–"/>
              <a:defRPr/>
            </a:pPr>
            <a:endParaRPr lang="en-US" dirty="0"/>
          </a:p>
          <a:p>
            <a:pPr marL="457200" lvl="1" indent="0" eaLnBrk="1" hangingPunct="1">
              <a:buNone/>
              <a:defRPr/>
            </a:pPr>
            <a:endParaRPr lang="en-US" dirty="0"/>
          </a:p>
        </p:txBody>
      </p:sp>
      <p:sp>
        <p:nvSpPr>
          <p:cNvPr id="4" name="Slide Number Placeholder 3"/>
          <p:cNvSpPr>
            <a:spLocks noGrp="1"/>
          </p:cNvSpPr>
          <p:nvPr>
            <p:ph type="sldNum" sz="quarter" idx="12"/>
          </p:nvPr>
        </p:nvSpPr>
        <p:spPr/>
        <p:txBody>
          <a:bodyPr/>
          <a:lstStyle/>
          <a:p>
            <a:pPr>
              <a:defRPr/>
            </a:pPr>
            <a:fld id="{EC75C61E-7ECD-4DD1-8F4C-5F0C97FF216F}" type="slidenum">
              <a:rPr lang="it-IT" smtClean="0"/>
              <a:pPr>
                <a:defRPr/>
              </a:pPr>
              <a:t>51</a:t>
            </a:fld>
            <a:endParaRPr lang="it-IT"/>
          </a:p>
        </p:txBody>
      </p:sp>
      <p:graphicFrame>
        <p:nvGraphicFramePr>
          <p:cNvPr id="6" name="Table 5"/>
          <p:cNvGraphicFramePr>
            <a:graphicFrameLocks noGrp="1"/>
          </p:cNvGraphicFramePr>
          <p:nvPr/>
        </p:nvGraphicFramePr>
        <p:xfrm>
          <a:off x="1752601" y="4256088"/>
          <a:ext cx="8762999" cy="773112"/>
        </p:xfrm>
        <a:graphic>
          <a:graphicData uri="http://schemas.openxmlformats.org/drawingml/2006/table">
            <a:tbl>
              <a:tblPr firstRow="1" bandRow="1">
                <a:tableStyleId>{5940675A-B579-460E-94D1-54222C63F5DA}</a:tableStyleId>
              </a:tblPr>
              <a:tblGrid>
                <a:gridCol w="1251857">
                  <a:extLst>
                    <a:ext uri="{9D8B030D-6E8A-4147-A177-3AD203B41FA5}">
                      <a16:colId xmlns:a16="http://schemas.microsoft.com/office/drawing/2014/main" val="20000"/>
                    </a:ext>
                  </a:extLst>
                </a:gridCol>
                <a:gridCol w="1251857">
                  <a:extLst>
                    <a:ext uri="{9D8B030D-6E8A-4147-A177-3AD203B41FA5}">
                      <a16:colId xmlns:a16="http://schemas.microsoft.com/office/drawing/2014/main" val="20001"/>
                    </a:ext>
                  </a:extLst>
                </a:gridCol>
                <a:gridCol w="1251857">
                  <a:extLst>
                    <a:ext uri="{9D8B030D-6E8A-4147-A177-3AD203B41FA5}">
                      <a16:colId xmlns:a16="http://schemas.microsoft.com/office/drawing/2014/main" val="20002"/>
                    </a:ext>
                  </a:extLst>
                </a:gridCol>
                <a:gridCol w="1251857">
                  <a:extLst>
                    <a:ext uri="{9D8B030D-6E8A-4147-A177-3AD203B41FA5}">
                      <a16:colId xmlns:a16="http://schemas.microsoft.com/office/drawing/2014/main" val="20003"/>
                    </a:ext>
                  </a:extLst>
                </a:gridCol>
                <a:gridCol w="1251857">
                  <a:extLst>
                    <a:ext uri="{9D8B030D-6E8A-4147-A177-3AD203B41FA5}">
                      <a16:colId xmlns:a16="http://schemas.microsoft.com/office/drawing/2014/main" val="20004"/>
                    </a:ext>
                  </a:extLst>
                </a:gridCol>
                <a:gridCol w="1251857">
                  <a:extLst>
                    <a:ext uri="{9D8B030D-6E8A-4147-A177-3AD203B41FA5}">
                      <a16:colId xmlns:a16="http://schemas.microsoft.com/office/drawing/2014/main" val="20005"/>
                    </a:ext>
                  </a:extLst>
                </a:gridCol>
                <a:gridCol w="1251857">
                  <a:extLst>
                    <a:ext uri="{9D8B030D-6E8A-4147-A177-3AD203B41FA5}">
                      <a16:colId xmlns:a16="http://schemas.microsoft.com/office/drawing/2014/main" val="20006"/>
                    </a:ext>
                  </a:extLst>
                </a:gridCol>
              </a:tblGrid>
              <a:tr h="381381">
                <a:tc>
                  <a:txBody>
                    <a:bodyPr/>
                    <a:lstStyle/>
                    <a:p>
                      <a:pPr algn="ctr"/>
                      <a:r>
                        <a:rPr lang="en-US" sz="1800" dirty="0"/>
                        <a:t>5’0” – 5’1”</a:t>
                      </a:r>
                    </a:p>
                  </a:txBody>
                  <a:tcPr marT="45766" marB="45766" anchor="ctr"/>
                </a:tc>
                <a:tc>
                  <a:txBody>
                    <a:bodyPr/>
                    <a:lstStyle/>
                    <a:p>
                      <a:pPr algn="ctr"/>
                      <a:r>
                        <a:rPr lang="en-US" sz="1800" dirty="0"/>
                        <a:t>5’2’’ – 5’4’’</a:t>
                      </a:r>
                    </a:p>
                  </a:txBody>
                  <a:tcPr marT="45766" marB="45766" anchor="ctr"/>
                </a:tc>
                <a:tc>
                  <a:txBody>
                    <a:bodyPr/>
                    <a:lstStyle/>
                    <a:p>
                      <a:pPr algn="ctr"/>
                      <a:r>
                        <a:rPr lang="en-US" sz="1800" dirty="0"/>
                        <a:t>5’5’’ – 5’7’’</a:t>
                      </a:r>
                    </a:p>
                  </a:txBody>
                  <a:tcPr marT="45766" marB="45766" anchor="ctr"/>
                </a:tc>
                <a:tc>
                  <a:txBody>
                    <a:bodyPr/>
                    <a:lstStyle/>
                    <a:p>
                      <a:pPr algn="ctr"/>
                      <a:r>
                        <a:rPr lang="en-US" sz="1800" dirty="0"/>
                        <a:t>5’8’’–</a:t>
                      </a:r>
                      <a:r>
                        <a:rPr lang="en-US" sz="1800" baseline="0" dirty="0"/>
                        <a:t>5’10’’</a:t>
                      </a:r>
                      <a:endParaRPr lang="en-US" sz="1800" dirty="0"/>
                    </a:p>
                  </a:txBody>
                  <a:tcPr marT="45766" marB="45766" anchor="ctr"/>
                </a:tc>
                <a:tc>
                  <a:txBody>
                    <a:bodyPr/>
                    <a:lstStyle/>
                    <a:p>
                      <a:pPr algn="ctr"/>
                      <a:r>
                        <a:rPr lang="en-US" sz="1800" dirty="0"/>
                        <a:t>5’11’’–6’1’’</a:t>
                      </a:r>
                    </a:p>
                  </a:txBody>
                  <a:tcPr marT="45766" marB="45766" anchor="ctr"/>
                </a:tc>
                <a:tc>
                  <a:txBody>
                    <a:bodyPr/>
                    <a:lstStyle/>
                    <a:p>
                      <a:pPr algn="ctr"/>
                      <a:r>
                        <a:rPr lang="en-US" sz="1800" dirty="0"/>
                        <a:t>6’2’’ – 6’4’’</a:t>
                      </a:r>
                    </a:p>
                  </a:txBody>
                  <a:tcPr marT="45766" marB="45766" anchor="ctr"/>
                </a:tc>
                <a:tc>
                  <a:txBody>
                    <a:bodyPr/>
                    <a:lstStyle/>
                    <a:p>
                      <a:pPr algn="ctr"/>
                      <a:r>
                        <a:rPr lang="en-US" sz="1800" dirty="0"/>
                        <a:t>&gt;6’4’’</a:t>
                      </a:r>
                    </a:p>
                  </a:txBody>
                  <a:tcPr marT="45766" marB="45766" anchor="ctr"/>
                </a:tc>
                <a:extLst>
                  <a:ext uri="{0D108BD9-81ED-4DB2-BD59-A6C34878D82A}">
                    <a16:rowId xmlns:a16="http://schemas.microsoft.com/office/drawing/2014/main" val="10000"/>
                  </a:ext>
                </a:extLst>
              </a:tr>
              <a:tr h="391731">
                <a:tc>
                  <a:txBody>
                    <a:bodyPr/>
                    <a:lstStyle/>
                    <a:p>
                      <a:pPr algn="ctr"/>
                      <a:r>
                        <a:rPr lang="en-US" sz="1800" dirty="0"/>
                        <a:t>2</a:t>
                      </a:r>
                    </a:p>
                  </a:txBody>
                  <a:tcPr marT="45766" marB="45766" anchor="ctr"/>
                </a:tc>
                <a:tc>
                  <a:txBody>
                    <a:bodyPr/>
                    <a:lstStyle/>
                    <a:p>
                      <a:pPr algn="ctr"/>
                      <a:r>
                        <a:rPr lang="en-US" sz="1800" dirty="0"/>
                        <a:t>6</a:t>
                      </a:r>
                    </a:p>
                  </a:txBody>
                  <a:tcPr marT="45766" marB="45766" anchor="ctr"/>
                </a:tc>
                <a:tc>
                  <a:txBody>
                    <a:bodyPr/>
                    <a:lstStyle/>
                    <a:p>
                      <a:pPr algn="ctr"/>
                      <a:r>
                        <a:rPr lang="en-US" sz="1800" dirty="0"/>
                        <a:t>7</a:t>
                      </a:r>
                    </a:p>
                  </a:txBody>
                  <a:tcPr marT="45766" marB="45766" anchor="ctr"/>
                </a:tc>
                <a:tc>
                  <a:txBody>
                    <a:bodyPr/>
                    <a:lstStyle/>
                    <a:p>
                      <a:pPr algn="ctr"/>
                      <a:r>
                        <a:rPr lang="en-US" sz="1800" dirty="0"/>
                        <a:t>14</a:t>
                      </a:r>
                    </a:p>
                  </a:txBody>
                  <a:tcPr marT="45766" marB="45766" anchor="ctr"/>
                </a:tc>
                <a:tc>
                  <a:txBody>
                    <a:bodyPr/>
                    <a:lstStyle/>
                    <a:p>
                      <a:pPr algn="ctr"/>
                      <a:r>
                        <a:rPr lang="en-US" sz="1800" dirty="0"/>
                        <a:t>10</a:t>
                      </a:r>
                    </a:p>
                  </a:txBody>
                  <a:tcPr marT="45766" marB="45766" anchor="ctr"/>
                </a:tc>
                <a:tc>
                  <a:txBody>
                    <a:bodyPr/>
                    <a:lstStyle/>
                    <a:p>
                      <a:pPr algn="ctr"/>
                      <a:r>
                        <a:rPr lang="en-US" sz="1800" dirty="0"/>
                        <a:t>6</a:t>
                      </a:r>
                    </a:p>
                  </a:txBody>
                  <a:tcPr marT="45766" marB="45766" anchor="ctr"/>
                </a:tc>
                <a:tc>
                  <a:txBody>
                    <a:bodyPr/>
                    <a:lstStyle/>
                    <a:p>
                      <a:pPr algn="ctr"/>
                      <a:r>
                        <a:rPr lang="en-US" sz="1800" dirty="0"/>
                        <a:t>0</a:t>
                      </a:r>
                    </a:p>
                  </a:txBody>
                  <a:tcPr marT="45766" marB="45766" anchor="ctr"/>
                </a:tc>
                <a:extLst>
                  <a:ext uri="{0D108BD9-81ED-4DB2-BD59-A6C34878D82A}">
                    <a16:rowId xmlns:a16="http://schemas.microsoft.com/office/drawing/2014/main" val="10001"/>
                  </a:ext>
                </a:extLst>
              </a:tr>
            </a:tbl>
          </a:graphicData>
        </a:graphic>
      </p:graphicFrame>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42751496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981200" y="274638"/>
            <a:ext cx="8229600" cy="639762"/>
          </a:xfrm>
        </p:spPr>
        <p:txBody>
          <a:bodyPr/>
          <a:lstStyle/>
          <a:p>
            <a:pPr algn="l"/>
            <a:r>
              <a:rPr lang="en-US" sz="3600" dirty="0"/>
              <a:t>Birthday Example</a:t>
            </a:r>
          </a:p>
        </p:txBody>
      </p:sp>
      <p:sp>
        <p:nvSpPr>
          <p:cNvPr id="44035" name="Rectangle 3"/>
          <p:cNvSpPr>
            <a:spLocks noGrp="1" noChangeArrowheads="1"/>
          </p:cNvSpPr>
          <p:nvPr>
            <p:ph type="body" idx="1"/>
          </p:nvPr>
        </p:nvSpPr>
        <p:spPr>
          <a:xfrm>
            <a:off x="1752600" y="876300"/>
            <a:ext cx="8686800" cy="5334000"/>
          </a:xfrm>
        </p:spPr>
        <p:txBody>
          <a:bodyPr/>
          <a:lstStyle/>
          <a:p>
            <a:pPr marL="0" indent="0">
              <a:buNone/>
            </a:pPr>
            <a:r>
              <a:rPr lang="en-US" sz="2400" dirty="0"/>
              <a:t>What’s the chance that we (everybody in this classroom, say 39) all have different birthdays?</a:t>
            </a:r>
          </a:p>
          <a:p>
            <a:pPr lvl="1">
              <a:lnSpc>
                <a:spcPct val="150000"/>
              </a:lnSpc>
            </a:pPr>
            <a:r>
              <a:rPr lang="en-US" sz="2400" dirty="0"/>
              <a:t>number of possible ways to have different days</a:t>
            </a:r>
          </a:p>
          <a:p>
            <a:pPr marL="914400" lvl="2" indent="0">
              <a:lnSpc>
                <a:spcPct val="150000"/>
              </a:lnSpc>
              <a:buNone/>
            </a:pPr>
            <a:endParaRPr lang="en-US" dirty="0"/>
          </a:p>
          <a:p>
            <a:pPr lvl="1">
              <a:lnSpc>
                <a:spcPct val="150000"/>
              </a:lnSpc>
            </a:pPr>
            <a:r>
              <a:rPr lang="en-US" sz="2400" dirty="0"/>
              <a:t>total number of possibilities for our birthdays</a:t>
            </a:r>
          </a:p>
          <a:p>
            <a:pPr lvl="2">
              <a:lnSpc>
                <a:spcPct val="150000"/>
              </a:lnSpc>
              <a:buNone/>
            </a:pPr>
            <a:r>
              <a:rPr lang="en-US" dirty="0"/>
              <a:t> </a:t>
            </a:r>
          </a:p>
          <a:p>
            <a:pPr lvl="2">
              <a:lnSpc>
                <a:spcPct val="150000"/>
              </a:lnSpc>
              <a:buNone/>
            </a:pPr>
            <a:endParaRPr lang="en-US" dirty="0"/>
          </a:p>
          <a:p>
            <a:pPr lvl="1"/>
            <a:r>
              <a:rPr lang="en-US" sz="2400" b="1" dirty="0"/>
              <a:t>probability they’re all different</a:t>
            </a:r>
          </a:p>
          <a:p>
            <a:pPr lvl="2"/>
            <a:endParaRPr lang="en-US" sz="2000" dirty="0"/>
          </a:p>
          <a:p>
            <a:pPr lvl="1"/>
            <a:endParaRPr lang="en-US" sz="2000" dirty="0"/>
          </a:p>
        </p:txBody>
      </p:sp>
      <p:sp>
        <p:nvSpPr>
          <p:cNvPr id="2" name="Date Placeholder 1"/>
          <p:cNvSpPr>
            <a:spLocks noGrp="1"/>
          </p:cNvSpPr>
          <p:nvPr>
            <p:ph type="dt" sz="half" idx="10"/>
          </p:nvPr>
        </p:nvSpPr>
        <p:spPr/>
        <p:txBody>
          <a:bodyPr/>
          <a:lstStyle/>
          <a:p>
            <a:pPr>
              <a:defRPr/>
            </a:pPr>
            <a:endParaRPr lang="it-IT"/>
          </a:p>
        </p:txBody>
      </p:sp>
      <p:sp>
        <p:nvSpPr>
          <p:cNvPr id="3" name="Slide Number Placeholder 2"/>
          <p:cNvSpPr>
            <a:spLocks noGrp="1"/>
          </p:cNvSpPr>
          <p:nvPr>
            <p:ph type="sldNum" sz="quarter" idx="12"/>
          </p:nvPr>
        </p:nvSpPr>
        <p:spPr/>
        <p:txBody>
          <a:bodyPr/>
          <a:lstStyle/>
          <a:p>
            <a:pPr>
              <a:defRPr/>
            </a:pPr>
            <a:fld id="{17999C3B-878A-40EE-AB40-ACC04F59CADA}" type="slidenum">
              <a:rPr lang="it-IT" smtClean="0"/>
              <a:pPr>
                <a:defRPr/>
              </a:pPr>
              <a:t>52</a:t>
            </a:fld>
            <a:endParaRPr lang="it-IT"/>
          </a:p>
        </p:txBody>
      </p:sp>
    </p:spTree>
    <p:extLst>
      <p:ext uri="{BB962C8B-B14F-4D97-AF65-F5344CB8AC3E}">
        <p14:creationId xmlns:p14="http://schemas.microsoft.com/office/powerpoint/2010/main" val="935115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sz="3600" dirty="0">
                <a:cs typeface="Arial" charset="0"/>
              </a:rPr>
              <a:t>Determining Probability Systematically</a:t>
            </a:r>
          </a:p>
        </p:txBody>
      </p:sp>
      <p:sp>
        <p:nvSpPr>
          <p:cNvPr id="3" name="Content Placeholder 2"/>
          <p:cNvSpPr>
            <a:spLocks noGrp="1"/>
          </p:cNvSpPr>
          <p:nvPr>
            <p:ph idx="1"/>
          </p:nvPr>
        </p:nvSpPr>
        <p:spPr>
          <a:xfrm>
            <a:off x="1981200" y="1219201"/>
            <a:ext cx="8458200" cy="4906963"/>
          </a:xfrm>
        </p:spPr>
        <p:txBody>
          <a:bodyPr>
            <a:normAutofit/>
          </a:bodyPr>
          <a:lstStyle/>
          <a:p>
            <a:pPr marL="0" indent="0" eaLnBrk="1" hangingPunct="1">
              <a:buNone/>
              <a:tabLst>
                <a:tab pos="457200" algn="l"/>
                <a:tab pos="1371600" algn="l"/>
                <a:tab pos="1547813" algn="l"/>
              </a:tabLst>
              <a:defRPr/>
            </a:pPr>
            <a:r>
              <a:rPr lang="en-US" sz="2400" dirty="0"/>
              <a:t>A commuter train has five cars. A commuter is twice as likely to select the middle car (#3) as to select either adjacent car (#2 or #4), and is twice as likely to select either adjacent car as to select either end car (#1 or #5).</a:t>
            </a:r>
          </a:p>
          <a:p>
            <a:pPr marL="0" indent="0" eaLnBrk="1" hangingPunct="1">
              <a:buNone/>
              <a:tabLst>
                <a:tab pos="457200" algn="l"/>
                <a:tab pos="1371600" algn="l"/>
                <a:tab pos="1547813" algn="l"/>
              </a:tabLst>
              <a:defRPr/>
            </a:pPr>
            <a:endParaRPr lang="en-US" sz="2400" dirty="0"/>
          </a:p>
        </p:txBody>
      </p:sp>
      <p:sp>
        <p:nvSpPr>
          <p:cNvPr id="4" name="Slide Number Placeholder 3"/>
          <p:cNvSpPr>
            <a:spLocks noGrp="1"/>
          </p:cNvSpPr>
          <p:nvPr>
            <p:ph type="sldNum" sz="quarter" idx="12"/>
          </p:nvPr>
        </p:nvSpPr>
        <p:spPr/>
        <p:txBody>
          <a:bodyPr/>
          <a:lstStyle/>
          <a:p>
            <a:pPr>
              <a:defRPr/>
            </a:pPr>
            <a:fld id="{B44F494F-AA9D-400B-BEBC-8EEF324D3BC9}" type="slidenum">
              <a:rPr lang="it-IT" smtClean="0"/>
              <a:pPr>
                <a:defRPr/>
              </a:pPr>
              <a:t>53</a:t>
            </a:fld>
            <a:endParaRPr lang="it-IT"/>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2336065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2"/>
          <p:cNvSpPr>
            <a:spLocks noGrp="1"/>
          </p:cNvSpPr>
          <p:nvPr>
            <p:ph type="sldNum" sz="quarter" idx="12"/>
          </p:nvPr>
        </p:nvSpPr>
        <p:spPr bwMode="auto">
          <a:ln>
            <a:miter lim="800000"/>
            <a:headEnd/>
            <a:tailEnd/>
          </a:ln>
        </p:spPr>
        <p:txBody>
          <a:bodyPr ancho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17A55E-E9D1-4382-821C-CC4E38EC2BF3}" type="slidenum">
              <a:rPr lang="it-IT" altLang="en-US">
                <a:solidFill>
                  <a:srgbClr val="898989"/>
                </a:solidFill>
              </a:rPr>
              <a:pPr eaLnBrk="1" hangingPunct="1"/>
              <a:t>54</a:t>
            </a:fld>
            <a:endParaRPr lang="it-IT" altLang="en-US">
              <a:solidFill>
                <a:srgbClr val="898989"/>
              </a:solidFill>
            </a:endParaRPr>
          </a:p>
        </p:txBody>
      </p:sp>
      <p:sp>
        <p:nvSpPr>
          <p:cNvPr id="21506" name="Text Box 2"/>
          <p:cNvSpPr txBox="1">
            <a:spLocks noChangeArrowheads="1"/>
          </p:cNvSpPr>
          <p:nvPr/>
        </p:nvSpPr>
        <p:spPr bwMode="auto">
          <a:xfrm>
            <a:off x="1752600" y="38101"/>
            <a:ext cx="8458200" cy="5262979"/>
          </a:xfrm>
          <a:prstGeom prst="rect">
            <a:avLst/>
          </a:prstGeom>
          <a:noFill/>
          <a:ln w="9525">
            <a:noFill/>
            <a:miter lim="800000"/>
            <a:headEnd/>
            <a:tailEnd/>
          </a:ln>
          <a:effectLst/>
        </p:spPr>
        <p:txBody>
          <a:bodyPr>
            <a:spAutoFit/>
          </a:bodyPr>
          <a:lstStyle/>
          <a:p>
            <a:pPr marL="457200" indent="-457200" algn="ctr">
              <a:spcBef>
                <a:spcPct val="50000"/>
              </a:spcBef>
              <a:defRPr/>
            </a:pPr>
            <a:r>
              <a:rPr lang="en-US" sz="3600" dirty="0">
                <a:latin typeface="+mj-lt"/>
                <a:ea typeface="Tahoma" pitchFamily="34" charset="0"/>
                <a:cs typeface="Tahoma" pitchFamily="34" charset="0"/>
              </a:rPr>
              <a:t>Example</a:t>
            </a:r>
          </a:p>
          <a:p>
            <a:pPr marL="457200" indent="-457200">
              <a:spcBef>
                <a:spcPct val="50000"/>
              </a:spcBef>
              <a:defRPr/>
            </a:pPr>
            <a:r>
              <a:rPr lang="en-US" sz="2000" dirty="0">
                <a:latin typeface="Tahoma" pitchFamily="34" charset="0"/>
                <a:ea typeface="Tahoma" pitchFamily="34" charset="0"/>
                <a:cs typeface="Tahoma" pitchFamily="34" charset="0"/>
              </a:rPr>
              <a:t>1.	</a:t>
            </a:r>
            <a:r>
              <a:rPr lang="en-US" sz="2000" dirty="0">
                <a:latin typeface="+mn-lt"/>
                <a:ea typeface="Tahoma" pitchFamily="34" charset="0"/>
                <a:cs typeface="Tahoma" pitchFamily="34" charset="0"/>
              </a:rPr>
              <a:t>A real estate agent is showing homes to a prospective buyer.  There are ten homes in the desired price range listed in the area.  The buyer has time to visit only three of them.</a:t>
            </a:r>
          </a:p>
          <a:p>
            <a:pPr marL="457200" indent="-457200">
              <a:spcBef>
                <a:spcPct val="50000"/>
              </a:spcBef>
              <a:buFontTx/>
              <a:buAutoNum type="alphaLcPeriod"/>
              <a:defRPr/>
            </a:pPr>
            <a:r>
              <a:rPr lang="en-US" sz="2000" dirty="0">
                <a:latin typeface="+mn-lt"/>
                <a:ea typeface="Tahoma" pitchFamily="34" charset="0"/>
                <a:cs typeface="Tahoma" pitchFamily="34" charset="0"/>
              </a:rPr>
              <a:t>In how many ways could the three homes be chosen if the order of visiting is considered?</a:t>
            </a:r>
          </a:p>
          <a:p>
            <a:pPr marL="457200" indent="-457200">
              <a:spcBef>
                <a:spcPct val="50000"/>
              </a:spcBef>
              <a:buFontTx/>
              <a:buAutoNum type="alphaLcPeriod"/>
              <a:defRPr/>
            </a:pPr>
            <a:endParaRPr lang="en-US" sz="2000" dirty="0">
              <a:latin typeface="+mn-lt"/>
              <a:ea typeface="Tahoma" pitchFamily="34" charset="0"/>
              <a:cs typeface="Tahoma" pitchFamily="34" charset="0"/>
            </a:endParaRPr>
          </a:p>
          <a:p>
            <a:pPr marL="457200" indent="-457200">
              <a:spcBef>
                <a:spcPct val="50000"/>
              </a:spcBef>
              <a:buFontTx/>
              <a:buAutoNum type="alphaLcPeriod"/>
              <a:defRPr/>
            </a:pPr>
            <a:r>
              <a:rPr lang="en-US" sz="2000" dirty="0">
                <a:latin typeface="+mn-lt"/>
                <a:ea typeface="Tahoma" pitchFamily="34" charset="0"/>
                <a:cs typeface="Tahoma" pitchFamily="34" charset="0"/>
              </a:rPr>
              <a:t>In how many ways could the three homes be chosen if the order is disregarded?</a:t>
            </a:r>
          </a:p>
          <a:p>
            <a:pPr>
              <a:spcBef>
                <a:spcPct val="50000"/>
              </a:spcBef>
              <a:defRPr/>
            </a:pPr>
            <a:endParaRPr lang="en-US" sz="2000" dirty="0">
              <a:latin typeface="+mn-lt"/>
              <a:ea typeface="Tahoma" pitchFamily="34" charset="0"/>
              <a:cs typeface="Tahoma" pitchFamily="34" charset="0"/>
            </a:endParaRPr>
          </a:p>
          <a:p>
            <a:pPr marL="457200" indent="-457200">
              <a:spcBef>
                <a:spcPct val="50000"/>
              </a:spcBef>
              <a:buFontTx/>
              <a:buAutoNum type="alphaLcPeriod"/>
              <a:defRPr/>
            </a:pPr>
            <a:r>
              <a:rPr lang="en-US" sz="2000" dirty="0">
                <a:latin typeface="+mn-lt"/>
                <a:ea typeface="Tahoma" pitchFamily="34" charset="0"/>
                <a:cs typeface="Tahoma" pitchFamily="34" charset="0"/>
              </a:rPr>
              <a:t>If four of the homes are new and six have previously been occupied and if the three homes to visit are randomly chosen, what is the probability that all three are new (order is not considered)?</a:t>
            </a:r>
          </a:p>
        </p:txBody>
      </p:sp>
      <p:sp>
        <p:nvSpPr>
          <p:cNvPr id="2" name="Date Placeholder 1"/>
          <p:cNvSpPr>
            <a:spLocks noGrp="1"/>
          </p:cNvSpPr>
          <p:nvPr>
            <p:ph type="dt" sz="half" idx="10"/>
          </p:nvPr>
        </p:nvSpPr>
        <p:spPr/>
        <p:txBody>
          <a:bodyPr/>
          <a:lstStyle/>
          <a:p>
            <a:pPr>
              <a:defRPr/>
            </a:pPr>
            <a:endParaRPr lang="it-IT"/>
          </a:p>
        </p:txBody>
      </p:sp>
    </p:spTree>
    <p:extLst>
      <p:ext uri="{BB962C8B-B14F-4D97-AF65-F5344CB8AC3E}">
        <p14:creationId xmlns:p14="http://schemas.microsoft.com/office/powerpoint/2010/main" val="34589776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z="3600" dirty="0"/>
              <a:t>Learning Objectives</a:t>
            </a:r>
          </a:p>
        </p:txBody>
      </p:sp>
      <p:sp>
        <p:nvSpPr>
          <p:cNvPr id="3" name="Content Placeholder 2"/>
          <p:cNvSpPr>
            <a:spLocks noGrp="1"/>
          </p:cNvSpPr>
          <p:nvPr>
            <p:ph idx="1"/>
          </p:nvPr>
        </p:nvSpPr>
        <p:spPr>
          <a:xfrm>
            <a:off x="1828800" y="1260476"/>
            <a:ext cx="8229600" cy="5059363"/>
          </a:xfrm>
        </p:spPr>
        <p:txBody>
          <a:bodyPr/>
          <a:lstStyle/>
          <a:p>
            <a:pPr>
              <a:defRPr/>
            </a:pPr>
            <a:r>
              <a:rPr lang="en-US" dirty="0">
                <a:solidFill>
                  <a:schemeClr val="bg1">
                    <a:lumMod val="65000"/>
                  </a:schemeClr>
                </a:solidFill>
              </a:rPr>
              <a:t>Sample Space</a:t>
            </a:r>
          </a:p>
          <a:p>
            <a:pPr>
              <a:defRPr/>
            </a:pPr>
            <a:r>
              <a:rPr lang="en-US" dirty="0">
                <a:solidFill>
                  <a:schemeClr val="bg1">
                    <a:lumMod val="65000"/>
                  </a:schemeClr>
                </a:solidFill>
              </a:rPr>
              <a:t>Events</a:t>
            </a:r>
          </a:p>
          <a:p>
            <a:pPr>
              <a:defRPr/>
            </a:pPr>
            <a:r>
              <a:rPr lang="en-US" dirty="0">
                <a:solidFill>
                  <a:schemeClr val="bg1">
                    <a:lumMod val="65000"/>
                  </a:schemeClr>
                </a:solidFill>
              </a:rPr>
              <a:t>Counting Sample Points</a:t>
            </a:r>
          </a:p>
          <a:p>
            <a:pPr>
              <a:defRPr/>
            </a:pPr>
            <a:r>
              <a:rPr lang="en-US" dirty="0">
                <a:solidFill>
                  <a:schemeClr val="bg1">
                    <a:lumMod val="65000"/>
                  </a:schemeClr>
                </a:solidFill>
              </a:rPr>
              <a:t>Probability of an Event</a:t>
            </a:r>
          </a:p>
          <a:p>
            <a:pPr>
              <a:defRPr/>
            </a:pPr>
            <a:r>
              <a:rPr lang="en-US" dirty="0">
                <a:solidFill>
                  <a:schemeClr val="bg1">
                    <a:lumMod val="65000"/>
                  </a:schemeClr>
                </a:solidFill>
              </a:rPr>
              <a:t>Additive Rules</a:t>
            </a:r>
          </a:p>
          <a:p>
            <a:pPr>
              <a:defRPr/>
            </a:pPr>
            <a:r>
              <a:rPr lang="en-US" altLang="en-US" dirty="0"/>
              <a:t>Conditional Probability, Independence, and the Product Rule</a:t>
            </a:r>
          </a:p>
          <a:p>
            <a:pPr>
              <a:defRPr/>
            </a:pPr>
            <a:r>
              <a:rPr lang="en-US" altLang="en-US" dirty="0"/>
              <a:t>Bayes’ Rule</a:t>
            </a:r>
          </a:p>
          <a:p>
            <a:pPr marL="0" indent="0">
              <a:buNone/>
              <a:defRPr/>
            </a:pPr>
            <a:endParaRPr lang="en-US" altLang="en-US" dirty="0">
              <a:solidFill>
                <a:srgbClr val="191718"/>
              </a:solidFill>
            </a:endParaRPr>
          </a:p>
          <a:p>
            <a:pPr>
              <a:defRPr/>
            </a:pPr>
            <a:endParaRPr lang="en-US" dirty="0"/>
          </a:p>
        </p:txBody>
      </p:sp>
      <p:sp>
        <p:nvSpPr>
          <p:cNvPr id="51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9ECFC72-9084-4A55-B995-B8D8E6B9D48D}" type="slidenum">
              <a:rPr lang="it-IT" altLang="en-US" sz="1200">
                <a:solidFill>
                  <a:srgbClr val="898989"/>
                </a:solidFill>
                <a:latin typeface="Arial" panose="020B0604020202020204" pitchFamily="34" charset="0"/>
              </a:rPr>
              <a:pPr>
                <a:spcBef>
                  <a:spcPct val="0"/>
                </a:spcBef>
                <a:buFontTx/>
                <a:buNone/>
              </a:pPr>
              <a:t>55</a:t>
            </a:fld>
            <a:endParaRPr lang="it-IT" altLang="en-US" sz="1200">
              <a:solidFill>
                <a:srgbClr val="898989"/>
              </a:solidFill>
              <a:latin typeface="Arial" panose="020B0604020202020204" pitchFamily="34" charset="0"/>
            </a:endParaRPr>
          </a:p>
        </p:txBody>
      </p:sp>
    </p:spTree>
    <p:extLst>
      <p:ext uri="{BB962C8B-B14F-4D97-AF65-F5344CB8AC3E}">
        <p14:creationId xmlns:p14="http://schemas.microsoft.com/office/powerpoint/2010/main" val="21663495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Conditional Probability</a:t>
            </a:r>
            <a:endParaRPr lang="en-US" sz="3600" dirty="0"/>
          </a:p>
        </p:txBody>
      </p:sp>
      <p:sp>
        <p:nvSpPr>
          <p:cNvPr id="3" name="Slide Number Placeholder 2"/>
          <p:cNvSpPr>
            <a:spLocks noGrp="1"/>
          </p:cNvSpPr>
          <p:nvPr>
            <p:ph type="sldNum" sz="quarter" idx="12"/>
          </p:nvPr>
        </p:nvSpPr>
        <p:spPr/>
        <p:txBody>
          <a:bodyPr/>
          <a:lstStyle/>
          <a:p>
            <a:fld id="{C17A4BB5-F5F6-4DB8-BE2D-D1CF9FC8F599}" type="slidenum">
              <a:rPr lang="en-US" smtClean="0"/>
              <a:pPr/>
              <a:t>56</a:t>
            </a:fld>
            <a:endParaRPr lang="en-US"/>
          </a:p>
        </p:txBody>
      </p:sp>
      <p:sp>
        <p:nvSpPr>
          <p:cNvPr id="4" name="Content Placeholder 3"/>
          <p:cNvSpPr>
            <a:spLocks noGrp="1"/>
          </p:cNvSpPr>
          <p:nvPr>
            <p:ph sz="quarter" idx="1"/>
          </p:nvPr>
        </p:nvSpPr>
        <p:spPr>
          <a:xfrm>
            <a:off x="1981200" y="1417639"/>
            <a:ext cx="8229600" cy="4708525"/>
          </a:xfrm>
        </p:spPr>
        <p:txBody>
          <a:bodyPr/>
          <a:lstStyle/>
          <a:p>
            <a:r>
              <a:rPr lang="en-US" sz="2400" dirty="0">
                <a:cs typeface="Times New Roman" pitchFamily="18" charset="0"/>
              </a:rPr>
              <a:t>Returning to the die tossing experiment for example, let </a:t>
            </a:r>
            <a:br>
              <a:rPr lang="en-US" sz="2400" dirty="0">
                <a:cs typeface="Times New Roman" pitchFamily="18" charset="0"/>
              </a:rPr>
            </a:br>
            <a:r>
              <a:rPr lang="en-US" sz="2400" dirty="0">
                <a:cs typeface="Times New Roman" pitchFamily="18" charset="0"/>
              </a:rPr>
              <a:t>Event </a:t>
            </a:r>
            <a:r>
              <a:rPr lang="en-US" sz="2400" i="1" dirty="0">
                <a:cs typeface="Times New Roman" pitchFamily="18" charset="0"/>
              </a:rPr>
              <a:t>A</a:t>
            </a:r>
            <a:r>
              <a:rPr lang="en-US" sz="2400" dirty="0">
                <a:cs typeface="Times New Roman" pitchFamily="18" charset="0"/>
              </a:rPr>
              <a:t>: toss an odd number, and</a:t>
            </a:r>
            <a:br>
              <a:rPr lang="en-US" sz="2400" dirty="0">
                <a:cs typeface="Times New Roman" pitchFamily="18" charset="0"/>
              </a:rPr>
            </a:br>
            <a:r>
              <a:rPr lang="en-US" sz="2400" dirty="0">
                <a:cs typeface="Times New Roman" pitchFamily="18" charset="0"/>
              </a:rPr>
              <a:t>Event </a:t>
            </a:r>
            <a:r>
              <a:rPr lang="en-US" sz="2400" i="1" dirty="0">
                <a:cs typeface="Times New Roman" pitchFamily="18" charset="0"/>
              </a:rPr>
              <a:t>B</a:t>
            </a:r>
            <a:r>
              <a:rPr lang="en-US" sz="2400" dirty="0">
                <a:cs typeface="Times New Roman" pitchFamily="18" charset="0"/>
              </a:rPr>
              <a:t>: toss a number greater than or equal to four.</a:t>
            </a:r>
            <a:br>
              <a:rPr lang="en-US" sz="2400" dirty="0">
                <a:cs typeface="Times New Roman" pitchFamily="18" charset="0"/>
              </a:rPr>
            </a:br>
            <a:r>
              <a:rPr lang="en-US" sz="2400" dirty="0">
                <a:cs typeface="Times New Roman" pitchFamily="18" charset="0"/>
              </a:rPr>
              <a:t>What is </a:t>
            </a:r>
            <a:r>
              <a:rPr lang="en-US" sz="2400" i="1" dirty="0">
                <a:cs typeface="Times New Roman" pitchFamily="18" charset="0"/>
              </a:rPr>
              <a:t>P</a:t>
            </a:r>
            <a:r>
              <a:rPr lang="en-US" sz="2400" dirty="0">
                <a:cs typeface="Times New Roman" pitchFamily="18" charset="0"/>
              </a:rPr>
              <a:t>(</a:t>
            </a:r>
            <a:r>
              <a:rPr lang="en-US" sz="2400" i="1" dirty="0">
                <a:cs typeface="Times New Roman" pitchFamily="18" charset="0"/>
              </a:rPr>
              <a:t>A</a:t>
            </a:r>
            <a:r>
              <a:rPr lang="en-US" sz="2400" dirty="0">
                <a:cs typeface="Times New Roman" pitchFamily="18" charset="0"/>
              </a:rPr>
              <a:t> given that </a:t>
            </a:r>
            <a:r>
              <a:rPr lang="en-US" sz="2400" i="1" dirty="0">
                <a:cs typeface="Times New Roman" pitchFamily="18" charset="0"/>
              </a:rPr>
              <a:t>B </a:t>
            </a:r>
            <a:r>
              <a:rPr lang="en-US" sz="2400" dirty="0">
                <a:cs typeface="Times New Roman" pitchFamily="18" charset="0"/>
              </a:rPr>
              <a:t>has already occurred)?</a:t>
            </a:r>
          </a:p>
        </p:txBody>
      </p:sp>
    </p:spTree>
    <p:extLst>
      <p:ext uri="{BB962C8B-B14F-4D97-AF65-F5344CB8AC3E}">
        <p14:creationId xmlns:p14="http://schemas.microsoft.com/office/powerpoint/2010/main" val="2251683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Conditional Probability</a:t>
            </a:r>
          </a:p>
        </p:txBody>
      </p:sp>
      <p:sp>
        <p:nvSpPr>
          <p:cNvPr id="4" name="Slide Number Placeholder 3"/>
          <p:cNvSpPr>
            <a:spLocks noGrp="1"/>
          </p:cNvSpPr>
          <p:nvPr>
            <p:ph type="sldNum" sz="quarter" idx="12"/>
          </p:nvPr>
        </p:nvSpPr>
        <p:spPr/>
        <p:txBody>
          <a:bodyPr/>
          <a:lstStyle/>
          <a:p>
            <a:fld id="{C17A4BB5-F5F6-4DB8-BE2D-D1CF9FC8F599}" type="slidenum">
              <a:rPr lang="en-US" smtClean="0"/>
              <a:pPr/>
              <a:t>57</a:t>
            </a:fld>
            <a:endParaRPr lang="en-US"/>
          </a:p>
        </p:txBody>
      </p:sp>
      <p:sp>
        <p:nvSpPr>
          <p:cNvPr id="3" name="Content Placeholder 2"/>
          <p:cNvSpPr>
            <a:spLocks noGrp="1"/>
          </p:cNvSpPr>
          <p:nvPr>
            <p:ph sz="quarter" idx="1"/>
          </p:nvPr>
        </p:nvSpPr>
        <p:spPr/>
        <p:txBody>
          <a:bodyPr>
            <a:normAutofit fontScale="92500" lnSpcReduction="20000"/>
          </a:bodyPr>
          <a:lstStyle/>
          <a:p>
            <a:pPr algn="just"/>
            <a:r>
              <a:rPr lang="en-US" sz="2800" dirty="0">
                <a:cs typeface="Times New Roman" pitchFamily="18" charset="0"/>
              </a:rPr>
              <a:t>The probabilities assigned to certain events often depend on what is known about the experimental situation when the assignment is made.</a:t>
            </a:r>
          </a:p>
          <a:p>
            <a:pPr algn="just"/>
            <a:endParaRPr lang="en-US" sz="2800" dirty="0">
              <a:cs typeface="Times New Roman" pitchFamily="18" charset="0"/>
            </a:endParaRPr>
          </a:p>
          <a:p>
            <a:pPr algn="just"/>
            <a:r>
              <a:rPr lang="en-US" sz="2800" dirty="0">
                <a:cs typeface="Times New Roman" pitchFamily="18" charset="0"/>
              </a:rPr>
              <a:t>Sometimes, the probability of an event will change if another event has already occurred or we have some extra information about the sample space. </a:t>
            </a:r>
          </a:p>
          <a:p>
            <a:pPr algn="just">
              <a:buNone/>
            </a:pPr>
            <a:r>
              <a:rPr lang="en-US" sz="2800" dirty="0">
                <a:cs typeface="Times New Roman" pitchFamily="18" charset="0"/>
              </a:rPr>
              <a:t>	For example: In manufacturing plant, the probability of a part being defective at one stage of the process may be dependent on whether it was produced on a particular production line or whether the raw material used was more likely to be defective itself.  </a:t>
            </a:r>
          </a:p>
          <a:p>
            <a:pPr algn="just"/>
            <a:endParaRPr lang="en-US" sz="2800" dirty="0">
              <a:cs typeface="Times New Roman" pitchFamily="18" charset="0"/>
            </a:endParaRPr>
          </a:p>
          <a:p>
            <a:pPr algn="just"/>
            <a:r>
              <a:rPr lang="en-US" sz="2800" dirty="0">
                <a:cs typeface="Times New Roman" pitchFamily="18" charset="0"/>
              </a:rPr>
              <a:t>The conditional probability of </a:t>
            </a:r>
            <a:r>
              <a:rPr lang="en-US" sz="2800" i="1" dirty="0">
                <a:cs typeface="Times New Roman" pitchFamily="18" charset="0"/>
              </a:rPr>
              <a:t>A</a:t>
            </a:r>
            <a:r>
              <a:rPr lang="en-US" sz="2800" dirty="0">
                <a:cs typeface="Times New Roman" pitchFamily="18" charset="0"/>
              </a:rPr>
              <a:t>, given that </a:t>
            </a:r>
            <a:r>
              <a:rPr lang="en-US" sz="2800" i="1" dirty="0">
                <a:cs typeface="Times New Roman" pitchFamily="18" charset="0"/>
              </a:rPr>
              <a:t>B</a:t>
            </a:r>
            <a:r>
              <a:rPr lang="en-US" sz="2800" dirty="0">
                <a:cs typeface="Times New Roman" pitchFamily="18" charset="0"/>
              </a:rPr>
              <a:t> has already occurred, is denoted as </a:t>
            </a:r>
            <a:r>
              <a:rPr lang="en-US" sz="2800" i="1" dirty="0">
                <a:cs typeface="Times New Roman" pitchFamily="18" charset="0"/>
              </a:rPr>
              <a:t>P</a:t>
            </a:r>
            <a:r>
              <a:rPr lang="en-US" sz="2800" dirty="0">
                <a:cs typeface="Times New Roman" pitchFamily="18" charset="0"/>
              </a:rPr>
              <a:t>(</a:t>
            </a:r>
            <a:r>
              <a:rPr lang="en-US" sz="2800" i="1" dirty="0">
                <a:cs typeface="Times New Roman" pitchFamily="18" charset="0"/>
              </a:rPr>
              <a:t>A</a:t>
            </a:r>
            <a:r>
              <a:rPr lang="en-US" sz="2800" dirty="0">
                <a:cs typeface="Times New Roman" pitchFamily="18" charset="0"/>
              </a:rPr>
              <a:t>|</a:t>
            </a:r>
            <a:r>
              <a:rPr lang="en-US" sz="2800" i="1" dirty="0">
                <a:cs typeface="Times New Roman" pitchFamily="18" charset="0"/>
              </a:rPr>
              <a:t>B</a:t>
            </a:r>
            <a:r>
              <a:rPr lang="en-US" sz="2800" dirty="0">
                <a:cs typeface="Times New Roman" pitchFamily="18" charset="0"/>
              </a:rPr>
              <a:t>). </a:t>
            </a:r>
          </a:p>
          <a:p>
            <a:endParaRPr lang="en-US" dirty="0"/>
          </a:p>
        </p:txBody>
      </p:sp>
    </p:spTree>
    <p:extLst>
      <p:ext uri="{BB962C8B-B14F-4D97-AF65-F5344CB8AC3E}">
        <p14:creationId xmlns:p14="http://schemas.microsoft.com/office/powerpoint/2010/main" val="343170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Conditional Probability</a:t>
            </a:r>
            <a:endParaRPr lang="en-US" sz="3600" dirty="0"/>
          </a:p>
        </p:txBody>
      </p:sp>
      <p:sp>
        <p:nvSpPr>
          <p:cNvPr id="3" name="Slide Number Placeholder 2"/>
          <p:cNvSpPr>
            <a:spLocks noGrp="1"/>
          </p:cNvSpPr>
          <p:nvPr>
            <p:ph type="sldNum" sz="quarter" idx="12"/>
          </p:nvPr>
        </p:nvSpPr>
        <p:spPr/>
        <p:txBody>
          <a:bodyPr/>
          <a:lstStyle/>
          <a:p>
            <a:fld id="{C17A4BB5-F5F6-4DB8-BE2D-D1CF9FC8F599}" type="slidenum">
              <a:rPr lang="en-US" smtClean="0"/>
              <a:pPr/>
              <a:t>58</a:t>
            </a:fld>
            <a:endParaRPr lang="en-US"/>
          </a:p>
        </p:txBody>
      </p:sp>
      <p:sp>
        <p:nvSpPr>
          <p:cNvPr id="9" name="TextBox 8"/>
          <p:cNvSpPr txBox="1"/>
          <p:nvPr/>
        </p:nvSpPr>
        <p:spPr>
          <a:xfrm>
            <a:off x="2209800" y="3733801"/>
            <a:ext cx="3505200" cy="646331"/>
          </a:xfrm>
          <a:prstGeom prst="rect">
            <a:avLst/>
          </a:prstGeom>
          <a:noFill/>
        </p:spPr>
        <p:txBody>
          <a:bodyPr wrap="square" rtlCol="0">
            <a:spAutoFit/>
          </a:bodyPr>
          <a:lstStyle/>
          <a:p>
            <a:r>
              <a:rPr lang="en-US" i="1" dirty="0">
                <a:latin typeface="+mn-lt"/>
                <a:cs typeface="Times New Roman" pitchFamily="18" charset="0"/>
              </a:rPr>
              <a:t>P</a:t>
            </a:r>
            <a:r>
              <a:rPr lang="en-US" dirty="0">
                <a:latin typeface="+mn-lt"/>
                <a:cs typeface="Times New Roman" pitchFamily="18" charset="0"/>
              </a:rPr>
              <a:t>(</a:t>
            </a:r>
            <a:r>
              <a:rPr lang="en-US" i="1" dirty="0">
                <a:latin typeface="+mn-lt"/>
                <a:cs typeface="Times New Roman" pitchFamily="18" charset="0"/>
              </a:rPr>
              <a:t>A</a:t>
            </a:r>
            <a:r>
              <a:rPr lang="en-US" dirty="0">
                <a:latin typeface="+mn-lt"/>
                <a:cs typeface="Times New Roman" pitchFamily="18" charset="0"/>
              </a:rPr>
              <a:t>) is a number associated to the event </a:t>
            </a:r>
            <a:r>
              <a:rPr lang="en-US" i="1" dirty="0">
                <a:latin typeface="+mn-lt"/>
                <a:cs typeface="Times New Roman" pitchFamily="18" charset="0"/>
              </a:rPr>
              <a:t>A </a:t>
            </a:r>
            <a:r>
              <a:rPr lang="en-US" dirty="0">
                <a:latin typeface="+mn-lt"/>
                <a:cs typeface="Times New Roman" pitchFamily="18" charset="0"/>
              </a:rPr>
              <a:t>in a sample space, say </a:t>
            </a:r>
            <a:r>
              <a:rPr lang="en-US" i="1" dirty="0">
                <a:latin typeface="+mn-lt"/>
                <a:cs typeface="Times New Roman" pitchFamily="18" charset="0"/>
              </a:rPr>
              <a:t>S.</a:t>
            </a:r>
          </a:p>
        </p:txBody>
      </p:sp>
      <p:sp>
        <p:nvSpPr>
          <p:cNvPr id="18" name="TextBox 17"/>
          <p:cNvSpPr txBox="1"/>
          <p:nvPr/>
        </p:nvSpPr>
        <p:spPr>
          <a:xfrm>
            <a:off x="6477000" y="3733800"/>
            <a:ext cx="3505200" cy="923330"/>
          </a:xfrm>
          <a:prstGeom prst="rect">
            <a:avLst/>
          </a:prstGeom>
          <a:noFill/>
        </p:spPr>
        <p:txBody>
          <a:bodyPr wrap="square" rtlCol="0">
            <a:spAutoFit/>
          </a:bodyPr>
          <a:lstStyle/>
          <a:p>
            <a:r>
              <a:rPr lang="en-US" i="1" dirty="0">
                <a:latin typeface="+mn-lt"/>
                <a:cs typeface="Times New Roman" pitchFamily="18" charset="0"/>
              </a:rPr>
              <a:t>P</a:t>
            </a:r>
            <a:r>
              <a:rPr lang="en-US" dirty="0">
                <a:latin typeface="+mn-lt"/>
                <a:cs typeface="Times New Roman" pitchFamily="18" charset="0"/>
              </a:rPr>
              <a:t>(</a:t>
            </a:r>
            <a:r>
              <a:rPr lang="en-US" i="1" dirty="0">
                <a:latin typeface="+mn-lt"/>
                <a:cs typeface="Times New Roman" pitchFamily="18" charset="0"/>
              </a:rPr>
              <a:t>A</a:t>
            </a:r>
            <a:r>
              <a:rPr lang="en-US" dirty="0">
                <a:latin typeface="+mn-lt"/>
                <a:cs typeface="Times New Roman" pitchFamily="18" charset="0"/>
                <a:sym typeface="Symbol"/>
              </a:rPr>
              <a:t>  </a:t>
            </a:r>
            <a:r>
              <a:rPr lang="en-US" i="1" dirty="0">
                <a:latin typeface="+mn-lt"/>
                <a:cs typeface="Times New Roman" pitchFamily="18" charset="0"/>
              </a:rPr>
              <a:t>B</a:t>
            </a:r>
            <a:r>
              <a:rPr lang="en-US" dirty="0">
                <a:latin typeface="+mn-lt"/>
                <a:cs typeface="Times New Roman" pitchFamily="18" charset="0"/>
              </a:rPr>
              <a:t>) is a number associated to the event </a:t>
            </a:r>
            <a:r>
              <a:rPr lang="en-US" i="1" dirty="0">
                <a:latin typeface="+mn-lt"/>
                <a:cs typeface="Times New Roman" pitchFamily="18" charset="0"/>
              </a:rPr>
              <a:t>A</a:t>
            </a:r>
            <a:r>
              <a:rPr lang="en-US" dirty="0">
                <a:latin typeface="+mn-lt"/>
                <a:cs typeface="Times New Roman" pitchFamily="18" charset="0"/>
                <a:sym typeface="Symbol"/>
              </a:rPr>
              <a:t>  </a:t>
            </a:r>
            <a:r>
              <a:rPr lang="en-US" i="1" dirty="0">
                <a:latin typeface="+mn-lt"/>
                <a:cs typeface="Times New Roman" pitchFamily="18" charset="0"/>
              </a:rPr>
              <a:t>B </a:t>
            </a:r>
            <a:r>
              <a:rPr lang="en-US" dirty="0">
                <a:latin typeface="+mn-lt"/>
                <a:cs typeface="Times New Roman" pitchFamily="18" charset="0"/>
              </a:rPr>
              <a:t>in the same sample space, </a:t>
            </a:r>
            <a:r>
              <a:rPr lang="en-US" i="1" dirty="0">
                <a:latin typeface="+mn-lt"/>
                <a:cs typeface="Times New Roman" pitchFamily="18" charset="0"/>
              </a:rPr>
              <a:t>S</a:t>
            </a:r>
            <a:r>
              <a:rPr lang="en-US" dirty="0">
                <a:latin typeface="+mn-lt"/>
                <a:cs typeface="Times New Roman" pitchFamily="18" charset="0"/>
              </a:rPr>
              <a:t>.</a:t>
            </a:r>
            <a:endParaRPr lang="en-US" i="1" dirty="0">
              <a:latin typeface="+mn-lt"/>
              <a:cs typeface="Times New Roman" pitchFamily="18" charset="0"/>
            </a:endParaRPr>
          </a:p>
        </p:txBody>
      </p:sp>
      <p:grpSp>
        <p:nvGrpSpPr>
          <p:cNvPr id="47" name="Group 46"/>
          <p:cNvGrpSpPr/>
          <p:nvPr/>
        </p:nvGrpSpPr>
        <p:grpSpPr>
          <a:xfrm>
            <a:off x="7304312" y="1948542"/>
            <a:ext cx="762000" cy="804672"/>
            <a:chOff x="5780312" y="1948542"/>
            <a:chExt cx="762000" cy="804672"/>
          </a:xfrm>
        </p:grpSpPr>
        <p:sp>
          <p:nvSpPr>
            <p:cNvPr id="29" name="Rectangle 28"/>
            <p:cNvSpPr/>
            <p:nvPr/>
          </p:nvSpPr>
          <p:spPr>
            <a:xfrm>
              <a:off x="5867400" y="1948542"/>
              <a:ext cx="457200" cy="804672"/>
            </a:xfrm>
            <a:prstGeom prst="rect">
              <a:avLst/>
            </a:prstGeom>
            <a:solidFill>
              <a:schemeClr val="accent4"/>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dk1"/>
                </a:solidFill>
              </a:endParaRPr>
            </a:p>
          </p:txBody>
        </p:sp>
        <p:sp>
          <p:nvSpPr>
            <p:cNvPr id="30" name="TextBox 29"/>
            <p:cNvSpPr txBox="1"/>
            <p:nvPr/>
          </p:nvSpPr>
          <p:spPr>
            <a:xfrm>
              <a:off x="5780312" y="2024742"/>
              <a:ext cx="762000" cy="369332"/>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dirty="0">
                  <a:latin typeface="Times New Roman" pitchFamily="18" charset="0"/>
                  <a:cs typeface="Times New Roman" pitchFamily="18" charset="0"/>
                  <a:sym typeface="Symbol"/>
                </a:rPr>
                <a:t></a:t>
              </a:r>
              <a:r>
                <a:rPr lang="en-US" i="1" dirty="0">
                  <a:latin typeface="Times New Roman" pitchFamily="18" charset="0"/>
                  <a:cs typeface="Times New Roman" pitchFamily="18" charset="0"/>
                </a:rPr>
                <a:t>B</a:t>
              </a:r>
            </a:p>
          </p:txBody>
        </p:sp>
      </p:grpSp>
      <p:grpSp>
        <p:nvGrpSpPr>
          <p:cNvPr id="49" name="Group 48"/>
          <p:cNvGrpSpPr/>
          <p:nvPr/>
        </p:nvGrpSpPr>
        <p:grpSpPr>
          <a:xfrm>
            <a:off x="7391400" y="1915884"/>
            <a:ext cx="2362200" cy="837330"/>
            <a:chOff x="5867400" y="1915884"/>
            <a:chExt cx="2362200" cy="837330"/>
          </a:xfrm>
        </p:grpSpPr>
        <p:sp>
          <p:nvSpPr>
            <p:cNvPr id="28" name="Rectangle 27"/>
            <p:cNvSpPr/>
            <p:nvPr/>
          </p:nvSpPr>
          <p:spPr>
            <a:xfrm>
              <a:off x="5867400" y="1948542"/>
              <a:ext cx="1905000" cy="8046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dk1"/>
                </a:solidFill>
              </a:endParaRPr>
            </a:p>
          </p:txBody>
        </p:sp>
        <p:sp>
          <p:nvSpPr>
            <p:cNvPr id="31" name="TextBox 30"/>
            <p:cNvSpPr txBox="1"/>
            <p:nvPr/>
          </p:nvSpPr>
          <p:spPr>
            <a:xfrm>
              <a:off x="7467600" y="1915884"/>
              <a:ext cx="762000" cy="369332"/>
            </a:xfrm>
            <a:prstGeom prst="rect">
              <a:avLst/>
            </a:prstGeom>
            <a:noFill/>
          </p:spPr>
          <p:txBody>
            <a:bodyPr wrap="square" rtlCol="0">
              <a:spAutoFit/>
            </a:bodyPr>
            <a:lstStyle/>
            <a:p>
              <a:r>
                <a:rPr lang="en-US" i="1" dirty="0">
                  <a:latin typeface="Times New Roman" pitchFamily="18" charset="0"/>
                  <a:cs typeface="Times New Roman" pitchFamily="18" charset="0"/>
                </a:rPr>
                <a:t>B</a:t>
              </a:r>
            </a:p>
          </p:txBody>
        </p:sp>
      </p:grpSp>
      <p:grpSp>
        <p:nvGrpSpPr>
          <p:cNvPr id="51" name="Group 50"/>
          <p:cNvGrpSpPr/>
          <p:nvPr/>
        </p:nvGrpSpPr>
        <p:grpSpPr>
          <a:xfrm>
            <a:off x="6477000" y="1523998"/>
            <a:ext cx="3352800" cy="2209806"/>
            <a:chOff x="4953000" y="1523998"/>
            <a:chExt cx="3352800" cy="2209806"/>
          </a:xfrm>
        </p:grpSpPr>
        <p:sp>
          <p:nvSpPr>
            <p:cNvPr id="24" name="Rectangle 23"/>
            <p:cNvSpPr/>
            <p:nvPr/>
          </p:nvSpPr>
          <p:spPr>
            <a:xfrm>
              <a:off x="4953000" y="1524004"/>
              <a:ext cx="3352800" cy="22098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TextBox 24"/>
            <p:cNvSpPr txBox="1"/>
            <p:nvPr/>
          </p:nvSpPr>
          <p:spPr>
            <a:xfrm>
              <a:off x="4953000" y="1523998"/>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27" name="Rectangle 26"/>
            <p:cNvSpPr/>
            <p:nvPr/>
          </p:nvSpPr>
          <p:spPr>
            <a:xfrm>
              <a:off x="5867400" y="1948542"/>
              <a:ext cx="457200" cy="16002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dk1"/>
                </a:solidFill>
              </a:endParaRPr>
            </a:p>
          </p:txBody>
        </p:sp>
        <p:sp>
          <p:nvSpPr>
            <p:cNvPr id="26" name="TextBox 25"/>
            <p:cNvSpPr txBox="1"/>
            <p:nvPr/>
          </p:nvSpPr>
          <p:spPr>
            <a:xfrm>
              <a:off x="5867400" y="3167742"/>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p>
          </p:txBody>
        </p:sp>
      </p:grpSp>
      <p:grpSp>
        <p:nvGrpSpPr>
          <p:cNvPr id="43" name="Group 42"/>
          <p:cNvGrpSpPr/>
          <p:nvPr/>
        </p:nvGrpSpPr>
        <p:grpSpPr>
          <a:xfrm>
            <a:off x="2318658" y="5029200"/>
            <a:ext cx="2079168" cy="848216"/>
            <a:chOff x="794658" y="5029200"/>
            <a:chExt cx="2079168" cy="848216"/>
          </a:xfrm>
        </p:grpSpPr>
        <p:sp>
          <p:nvSpPr>
            <p:cNvPr id="36" name="Rectangle 35"/>
            <p:cNvSpPr/>
            <p:nvPr/>
          </p:nvSpPr>
          <p:spPr>
            <a:xfrm>
              <a:off x="794658" y="5072744"/>
              <a:ext cx="1905000" cy="80467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dk1"/>
                </a:solidFill>
              </a:endParaRPr>
            </a:p>
          </p:txBody>
        </p:sp>
        <p:sp>
          <p:nvSpPr>
            <p:cNvPr id="39" name="TextBox 38"/>
            <p:cNvSpPr txBox="1"/>
            <p:nvPr/>
          </p:nvSpPr>
          <p:spPr>
            <a:xfrm>
              <a:off x="1905000" y="5029200"/>
              <a:ext cx="968826" cy="369332"/>
            </a:xfrm>
            <a:prstGeom prst="rect">
              <a:avLst/>
            </a:prstGeom>
            <a:noFill/>
          </p:spPr>
          <p:txBody>
            <a:bodyPr wrap="square" rtlCol="0">
              <a:spAutoFit/>
            </a:bodyPr>
            <a:lstStyle/>
            <a:p>
              <a:r>
                <a:rPr lang="en-US" i="1" dirty="0">
                  <a:latin typeface="Times New Roman" pitchFamily="18" charset="0"/>
                  <a:cs typeface="Times New Roman" pitchFamily="18" charset="0"/>
                </a:rPr>
                <a:t>B = NS</a:t>
              </a:r>
              <a:endParaRPr lang="en-US" i="1" baseline="30000" dirty="0">
                <a:latin typeface="Times New Roman" pitchFamily="18" charset="0"/>
                <a:cs typeface="Times New Roman" pitchFamily="18" charset="0"/>
              </a:endParaRPr>
            </a:p>
          </p:txBody>
        </p:sp>
      </p:grpSp>
      <p:sp>
        <p:nvSpPr>
          <p:cNvPr id="41" name="TextBox 40"/>
          <p:cNvSpPr txBox="1"/>
          <p:nvPr/>
        </p:nvSpPr>
        <p:spPr>
          <a:xfrm>
            <a:off x="4419600" y="4971872"/>
            <a:ext cx="5715000" cy="1200329"/>
          </a:xfrm>
          <a:prstGeom prst="rect">
            <a:avLst/>
          </a:prstGeom>
          <a:noFill/>
        </p:spPr>
        <p:txBody>
          <a:bodyPr wrap="square" rtlCol="0">
            <a:spAutoFit/>
          </a:bodyPr>
          <a:lstStyle/>
          <a:p>
            <a:r>
              <a:rPr lang="en-US" i="1" dirty="0">
                <a:latin typeface="+mn-lt"/>
                <a:cs typeface="Times New Roman" pitchFamily="18" charset="0"/>
              </a:rPr>
              <a:t>P</a:t>
            </a:r>
            <a:r>
              <a:rPr lang="en-US" dirty="0">
                <a:latin typeface="+mn-lt"/>
                <a:cs typeface="Times New Roman" pitchFamily="18" charset="0"/>
              </a:rPr>
              <a:t>(</a:t>
            </a:r>
            <a:r>
              <a:rPr lang="en-US" i="1" dirty="0">
                <a:latin typeface="+mn-lt"/>
                <a:cs typeface="Times New Roman" pitchFamily="18" charset="0"/>
              </a:rPr>
              <a:t>A</a:t>
            </a:r>
            <a:r>
              <a:rPr lang="en-US" dirty="0">
                <a:latin typeface="+mn-lt"/>
                <a:cs typeface="Times New Roman" pitchFamily="18" charset="0"/>
              </a:rPr>
              <a:t>|</a:t>
            </a:r>
            <a:r>
              <a:rPr lang="en-US" i="1" dirty="0">
                <a:latin typeface="+mn-lt"/>
                <a:cs typeface="Times New Roman" pitchFamily="18" charset="0"/>
              </a:rPr>
              <a:t>B</a:t>
            </a:r>
            <a:r>
              <a:rPr lang="en-US" dirty="0">
                <a:latin typeface="+mn-lt"/>
                <a:cs typeface="Times New Roman" pitchFamily="18" charset="0"/>
              </a:rPr>
              <a:t>) is a number associated to the event </a:t>
            </a:r>
            <a:r>
              <a:rPr lang="en-US" i="1" dirty="0">
                <a:latin typeface="+mn-lt"/>
                <a:cs typeface="Times New Roman" pitchFamily="18" charset="0"/>
              </a:rPr>
              <a:t>A</a:t>
            </a:r>
            <a:r>
              <a:rPr lang="en-US" dirty="0">
                <a:latin typeface="+mn-lt"/>
                <a:cs typeface="Times New Roman" pitchFamily="18" charset="0"/>
              </a:rPr>
              <a:t>, given that event </a:t>
            </a:r>
            <a:r>
              <a:rPr lang="en-US" i="1" dirty="0">
                <a:latin typeface="+mn-lt"/>
                <a:cs typeface="Times New Roman" pitchFamily="18" charset="0"/>
              </a:rPr>
              <a:t>B</a:t>
            </a:r>
            <a:r>
              <a:rPr lang="en-US" dirty="0">
                <a:latin typeface="+mn-lt"/>
                <a:cs typeface="Times New Roman" pitchFamily="18" charset="0"/>
              </a:rPr>
              <a:t> has already occurred. Therefore, </a:t>
            </a:r>
            <a:r>
              <a:rPr lang="en-US" i="1" dirty="0">
                <a:latin typeface="+mn-lt"/>
                <a:cs typeface="Times New Roman" pitchFamily="18" charset="0"/>
              </a:rPr>
              <a:t>P</a:t>
            </a:r>
            <a:r>
              <a:rPr lang="en-US" dirty="0">
                <a:latin typeface="+mn-lt"/>
                <a:cs typeface="Times New Roman" pitchFamily="18" charset="0"/>
              </a:rPr>
              <a:t>(</a:t>
            </a:r>
            <a:r>
              <a:rPr lang="en-US" i="1" dirty="0">
                <a:latin typeface="+mn-lt"/>
                <a:cs typeface="Times New Roman" pitchFamily="18" charset="0"/>
              </a:rPr>
              <a:t>A</a:t>
            </a:r>
            <a:r>
              <a:rPr lang="en-US" dirty="0">
                <a:latin typeface="+mn-lt"/>
                <a:cs typeface="Times New Roman" pitchFamily="18" charset="0"/>
              </a:rPr>
              <a:t>|</a:t>
            </a:r>
            <a:r>
              <a:rPr lang="en-US" i="1" dirty="0">
                <a:latin typeface="+mn-lt"/>
                <a:cs typeface="Times New Roman" pitchFamily="18" charset="0"/>
              </a:rPr>
              <a:t>B</a:t>
            </a:r>
            <a:r>
              <a:rPr lang="en-US" dirty="0">
                <a:latin typeface="+mn-lt"/>
                <a:cs typeface="Times New Roman" pitchFamily="18" charset="0"/>
              </a:rPr>
              <a:t>) is obtained by calculating the probability of the event </a:t>
            </a:r>
            <a:r>
              <a:rPr lang="en-US" i="1" dirty="0">
                <a:latin typeface="+mn-lt"/>
                <a:cs typeface="Times New Roman" pitchFamily="18" charset="0"/>
              </a:rPr>
              <a:t>A</a:t>
            </a:r>
            <a:r>
              <a:rPr lang="en-US" dirty="0">
                <a:latin typeface="+mn-lt"/>
                <a:cs typeface="Times New Roman" pitchFamily="18" charset="0"/>
                <a:sym typeface="Symbol"/>
              </a:rPr>
              <a:t>  </a:t>
            </a:r>
            <a:r>
              <a:rPr lang="en-US" i="1" dirty="0">
                <a:latin typeface="+mn-lt"/>
                <a:cs typeface="Times New Roman" pitchFamily="18" charset="0"/>
              </a:rPr>
              <a:t>B</a:t>
            </a:r>
            <a:r>
              <a:rPr lang="en-US" dirty="0">
                <a:latin typeface="+mn-lt"/>
                <a:cs typeface="Times New Roman" pitchFamily="18" charset="0"/>
              </a:rPr>
              <a:t> given that the event </a:t>
            </a:r>
            <a:r>
              <a:rPr lang="en-US" i="1" dirty="0">
                <a:latin typeface="+mn-lt"/>
                <a:cs typeface="Times New Roman" pitchFamily="18" charset="0"/>
              </a:rPr>
              <a:t>B</a:t>
            </a:r>
            <a:r>
              <a:rPr lang="en-US" dirty="0">
                <a:latin typeface="+mn-lt"/>
                <a:cs typeface="Times New Roman" pitchFamily="18" charset="0"/>
              </a:rPr>
              <a:t> makes the new sample space, say </a:t>
            </a:r>
            <a:r>
              <a:rPr lang="en-US" i="1" dirty="0">
                <a:latin typeface="+mn-lt"/>
                <a:cs typeface="Times New Roman" pitchFamily="18" charset="0"/>
              </a:rPr>
              <a:t>NS. </a:t>
            </a:r>
          </a:p>
        </p:txBody>
      </p:sp>
      <p:grpSp>
        <p:nvGrpSpPr>
          <p:cNvPr id="46" name="Group 45"/>
          <p:cNvGrpSpPr/>
          <p:nvPr/>
        </p:nvGrpSpPr>
        <p:grpSpPr>
          <a:xfrm>
            <a:off x="2220684" y="5072744"/>
            <a:ext cx="762000" cy="804672"/>
            <a:chOff x="696684" y="5072744"/>
            <a:chExt cx="762000" cy="804672"/>
          </a:xfrm>
        </p:grpSpPr>
        <p:sp>
          <p:nvSpPr>
            <p:cNvPr id="44" name="Rectangle 43"/>
            <p:cNvSpPr/>
            <p:nvPr/>
          </p:nvSpPr>
          <p:spPr>
            <a:xfrm>
              <a:off x="794658" y="5072744"/>
              <a:ext cx="457200" cy="804672"/>
            </a:xfrm>
            <a:prstGeom prst="rect">
              <a:avLst/>
            </a:prstGeom>
            <a:solidFill>
              <a:schemeClr val="accent4"/>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dk1"/>
                </a:solidFill>
              </a:endParaRPr>
            </a:p>
          </p:txBody>
        </p:sp>
        <p:sp>
          <p:nvSpPr>
            <p:cNvPr id="45" name="TextBox 44"/>
            <p:cNvSpPr txBox="1"/>
            <p:nvPr/>
          </p:nvSpPr>
          <p:spPr>
            <a:xfrm>
              <a:off x="696684" y="5159830"/>
              <a:ext cx="762000" cy="369332"/>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dirty="0">
                  <a:latin typeface="Times New Roman" pitchFamily="18" charset="0"/>
                  <a:cs typeface="Times New Roman" pitchFamily="18" charset="0"/>
                  <a:sym typeface="Symbol"/>
                </a:rPr>
                <a:t></a:t>
              </a:r>
              <a:r>
                <a:rPr lang="en-US" i="1" dirty="0">
                  <a:latin typeface="Times New Roman" pitchFamily="18" charset="0"/>
                  <a:cs typeface="Times New Roman" pitchFamily="18" charset="0"/>
                </a:rPr>
                <a:t>B</a:t>
              </a:r>
            </a:p>
          </p:txBody>
        </p:sp>
      </p:grpSp>
      <p:grpSp>
        <p:nvGrpSpPr>
          <p:cNvPr id="54" name="Group 53"/>
          <p:cNvGrpSpPr/>
          <p:nvPr/>
        </p:nvGrpSpPr>
        <p:grpSpPr>
          <a:xfrm>
            <a:off x="2209800" y="1502224"/>
            <a:ext cx="3352800" cy="2220692"/>
            <a:chOff x="685800" y="1502224"/>
            <a:chExt cx="3352800" cy="2220692"/>
          </a:xfrm>
        </p:grpSpPr>
        <p:grpSp>
          <p:nvGrpSpPr>
            <p:cNvPr id="53" name="Group 52"/>
            <p:cNvGrpSpPr/>
            <p:nvPr/>
          </p:nvGrpSpPr>
          <p:grpSpPr>
            <a:xfrm>
              <a:off x="685800" y="1502224"/>
              <a:ext cx="3352800" cy="2220692"/>
              <a:chOff x="685800" y="1502224"/>
              <a:chExt cx="3352800" cy="2220692"/>
            </a:xfrm>
          </p:grpSpPr>
          <p:sp>
            <p:nvSpPr>
              <p:cNvPr id="33" name="Rectangle 32"/>
              <p:cNvSpPr/>
              <p:nvPr/>
            </p:nvSpPr>
            <p:spPr>
              <a:xfrm>
                <a:off x="685800" y="1513116"/>
                <a:ext cx="3352800" cy="22098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4" name="TextBox 33"/>
              <p:cNvSpPr txBox="1"/>
              <p:nvPr/>
            </p:nvSpPr>
            <p:spPr>
              <a:xfrm>
                <a:off x="685800" y="1502224"/>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20" name="TextBox 19"/>
              <p:cNvSpPr txBox="1"/>
              <p:nvPr/>
            </p:nvSpPr>
            <p:spPr>
              <a:xfrm>
                <a:off x="1600200" y="3124202"/>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p>
            </p:txBody>
          </p:sp>
        </p:grpSp>
        <p:sp>
          <p:nvSpPr>
            <p:cNvPr id="52" name="Rectangle 51"/>
            <p:cNvSpPr/>
            <p:nvPr/>
          </p:nvSpPr>
          <p:spPr>
            <a:xfrm>
              <a:off x="1600200" y="1905000"/>
              <a:ext cx="457200" cy="16002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dk1"/>
                </a:solidFill>
              </a:endParaRPr>
            </a:p>
          </p:txBody>
        </p:sp>
      </p:grpSp>
      <p:grpSp>
        <p:nvGrpSpPr>
          <p:cNvPr id="56" name="Group 55"/>
          <p:cNvGrpSpPr/>
          <p:nvPr/>
        </p:nvGrpSpPr>
        <p:grpSpPr>
          <a:xfrm>
            <a:off x="3124200" y="1905000"/>
            <a:ext cx="457200" cy="1600200"/>
            <a:chOff x="2362200" y="1905000"/>
            <a:chExt cx="457200" cy="1600200"/>
          </a:xfrm>
        </p:grpSpPr>
        <p:sp>
          <p:nvSpPr>
            <p:cNvPr id="21" name="Rectangle 20"/>
            <p:cNvSpPr/>
            <p:nvPr/>
          </p:nvSpPr>
          <p:spPr>
            <a:xfrm>
              <a:off x="2362200" y="1905000"/>
              <a:ext cx="457200" cy="1600200"/>
            </a:xfrm>
            <a:prstGeom prst="rect">
              <a:avLst/>
            </a:prstGeom>
            <a:solidFill>
              <a:schemeClr val="accent4"/>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dk1"/>
                </a:solidFill>
              </a:endParaRPr>
            </a:p>
          </p:txBody>
        </p:sp>
        <p:sp>
          <p:nvSpPr>
            <p:cNvPr id="55" name="TextBox 54"/>
            <p:cNvSpPr txBox="1"/>
            <p:nvPr/>
          </p:nvSpPr>
          <p:spPr>
            <a:xfrm>
              <a:off x="2362200" y="31242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p>
          </p:txBody>
        </p:sp>
      </p:grpSp>
    </p:spTree>
    <p:extLst>
      <p:ext uri="{BB962C8B-B14F-4D97-AF65-F5344CB8AC3E}">
        <p14:creationId xmlns:p14="http://schemas.microsoft.com/office/powerpoint/2010/main" val="114813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Conditional Probability</a:t>
            </a:r>
            <a:endParaRPr lang="en-US" sz="3600" dirty="0"/>
          </a:p>
        </p:txBody>
      </p:sp>
      <p:sp>
        <p:nvSpPr>
          <p:cNvPr id="7" name="Slide Number Placeholder 6"/>
          <p:cNvSpPr>
            <a:spLocks noGrp="1"/>
          </p:cNvSpPr>
          <p:nvPr>
            <p:ph type="sldNum" sz="quarter" idx="12"/>
          </p:nvPr>
        </p:nvSpPr>
        <p:spPr/>
        <p:txBody>
          <a:bodyPr/>
          <a:lstStyle/>
          <a:p>
            <a:fld id="{C17A4BB5-F5F6-4DB8-BE2D-D1CF9FC8F599}" type="slidenum">
              <a:rPr lang="en-US" smtClean="0"/>
              <a:pPr/>
              <a:t>59</a:t>
            </a:fld>
            <a:endParaRPr lang="en-US"/>
          </a:p>
        </p:txBody>
      </p:sp>
      <p:sp>
        <p:nvSpPr>
          <p:cNvPr id="3" name="Content Placeholder 2"/>
          <p:cNvSpPr>
            <a:spLocks noGrp="1"/>
          </p:cNvSpPr>
          <p:nvPr>
            <p:ph sz="quarter" idx="1"/>
          </p:nvPr>
        </p:nvSpPr>
        <p:spPr>
          <a:xfrm>
            <a:off x="1981200" y="1219201"/>
            <a:ext cx="8229600" cy="4906963"/>
          </a:xfrm>
        </p:spPr>
        <p:txBody>
          <a:bodyPr>
            <a:normAutofit/>
          </a:bodyPr>
          <a:lstStyle/>
          <a:p>
            <a:pPr>
              <a:spcBef>
                <a:spcPct val="50000"/>
              </a:spcBef>
            </a:pPr>
            <a:r>
              <a:rPr lang="en-US" sz="2400" dirty="0">
                <a:cs typeface="Times New Roman" pitchFamily="18" charset="0"/>
              </a:rPr>
              <a:t>Rather than listing the simple events (as we did in the last example) we can calculate conditional probability as follows if the </a:t>
            </a:r>
            <a:r>
              <a:rPr lang="en-US" sz="2400" i="1" dirty="0">
                <a:cs typeface="Times New Roman" pitchFamily="18" charset="0"/>
              </a:rPr>
              <a:t>P</a:t>
            </a:r>
            <a:r>
              <a:rPr lang="en-US" sz="2400" dirty="0">
                <a:cs typeface="Times New Roman" pitchFamily="18" charset="0"/>
              </a:rPr>
              <a:t>(</a:t>
            </a:r>
            <a:r>
              <a:rPr lang="en-US" sz="2400" i="1" dirty="0">
                <a:cs typeface="Times New Roman" pitchFamily="18" charset="0"/>
              </a:rPr>
              <a:t>B</a:t>
            </a:r>
            <a:r>
              <a:rPr lang="en-US" sz="2400" dirty="0">
                <a:cs typeface="Times New Roman" pitchFamily="18" charset="0"/>
              </a:rPr>
              <a:t>) &gt; 0:</a:t>
            </a:r>
          </a:p>
          <a:p>
            <a:pPr>
              <a:spcBef>
                <a:spcPct val="50000"/>
              </a:spcBef>
              <a:buNone/>
            </a:pPr>
            <a:r>
              <a:rPr lang="en-US" sz="2800" dirty="0">
                <a:cs typeface="Times New Roman" pitchFamily="18" charset="0"/>
              </a:rPr>
              <a:t>		  </a:t>
            </a:r>
          </a:p>
          <a:p>
            <a:pPr marL="0" indent="0">
              <a:spcBef>
                <a:spcPct val="50000"/>
              </a:spcBef>
              <a:buNone/>
            </a:pPr>
            <a:endParaRPr lang="en-US" sz="2800" dirty="0">
              <a:cs typeface="Times New Roman" pitchFamily="18" charset="0"/>
            </a:endParaRPr>
          </a:p>
          <a:p>
            <a:pPr>
              <a:spcBef>
                <a:spcPct val="50000"/>
              </a:spcBef>
            </a:pPr>
            <a:r>
              <a:rPr lang="en-US" sz="2400" dirty="0">
                <a:cs typeface="Times New Roman" pitchFamily="18" charset="0"/>
              </a:rPr>
              <a:t>Die tossing example: </a:t>
            </a:r>
          </a:p>
          <a:p>
            <a:pPr lvl="1">
              <a:spcBef>
                <a:spcPct val="50000"/>
              </a:spcBef>
            </a:pPr>
            <a:endParaRPr lang="en-US" sz="2100" dirty="0">
              <a:cs typeface="Times New Roman" pitchFamily="18" charset="0"/>
            </a:endParaRPr>
          </a:p>
        </p:txBody>
      </p:sp>
      <p:graphicFrame>
        <p:nvGraphicFramePr>
          <p:cNvPr id="16386" name="Object 3"/>
          <p:cNvGraphicFramePr>
            <a:graphicFrameLocks noChangeAspect="1"/>
          </p:cNvGraphicFramePr>
          <p:nvPr/>
        </p:nvGraphicFramePr>
        <p:xfrm>
          <a:off x="4572001" y="2533650"/>
          <a:ext cx="2589213" cy="838200"/>
        </p:xfrm>
        <a:graphic>
          <a:graphicData uri="http://schemas.openxmlformats.org/presentationml/2006/ole">
            <mc:AlternateContent xmlns:mc="http://schemas.openxmlformats.org/markup-compatibility/2006">
              <mc:Choice xmlns:v="urn:schemas-microsoft-com:vml" Requires="v">
                <p:oleObj name="Equation" r:id="rId3" imgW="1295280" imgH="419040" progId="Equation.3">
                  <p:embed/>
                </p:oleObj>
              </mc:Choice>
              <mc:Fallback>
                <p:oleObj name="Equation" r:id="rId3" imgW="1295280" imgH="419040" progId="Equation.3">
                  <p:embed/>
                  <p:pic>
                    <p:nvPicPr>
                      <p:cNvPr id="1638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1" y="2533650"/>
                        <a:ext cx="2589213"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452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0250" y="0"/>
            <a:ext cx="8229600" cy="609600"/>
          </a:xfrm>
        </p:spPr>
        <p:txBody>
          <a:bodyPr/>
          <a:lstStyle/>
          <a:p>
            <a:r>
              <a:rPr lang="en-US" sz="3600" dirty="0">
                <a:cs typeface="Times New Roman" pitchFamily="18" charset="0"/>
              </a:rPr>
              <a:t>Example</a:t>
            </a:r>
          </a:p>
        </p:txBody>
      </p:sp>
      <p:sp>
        <p:nvSpPr>
          <p:cNvPr id="4" name="Slide Number Placeholder 3"/>
          <p:cNvSpPr>
            <a:spLocks noGrp="1"/>
          </p:cNvSpPr>
          <p:nvPr>
            <p:ph type="sldNum" sz="quarter" idx="12"/>
          </p:nvPr>
        </p:nvSpPr>
        <p:spPr/>
        <p:txBody>
          <a:bodyPr/>
          <a:lstStyle/>
          <a:p>
            <a:fld id="{C17A4BB5-F5F6-4DB8-BE2D-D1CF9FC8F599}" type="slidenum">
              <a:rPr lang="en-US" smtClean="0"/>
              <a:pPr/>
              <a:t>60</a:t>
            </a:fld>
            <a:endParaRPr lang="en-US" dirty="0"/>
          </a:p>
        </p:txBody>
      </p:sp>
      <p:sp>
        <p:nvSpPr>
          <p:cNvPr id="3" name="Content Placeholder 2"/>
          <p:cNvSpPr>
            <a:spLocks noGrp="1"/>
          </p:cNvSpPr>
          <p:nvPr>
            <p:ph sz="quarter" idx="1"/>
          </p:nvPr>
        </p:nvSpPr>
        <p:spPr>
          <a:xfrm>
            <a:off x="1695450" y="579438"/>
            <a:ext cx="8743950" cy="5959475"/>
          </a:xfrm>
        </p:spPr>
        <p:txBody>
          <a:bodyPr>
            <a:noAutofit/>
          </a:bodyPr>
          <a:lstStyle/>
          <a:p>
            <a:pPr marL="0" indent="0">
              <a:buNone/>
              <a:defRPr/>
            </a:pPr>
            <a:r>
              <a:rPr lang="en-US" sz="2000" dirty="0">
                <a:cs typeface="Times New Roman" pitchFamily="18" charset="0"/>
              </a:rPr>
              <a:t>Let </a:t>
            </a:r>
            <a:r>
              <a:rPr lang="en-US" sz="2000" i="1" dirty="0">
                <a:cs typeface="Times New Roman" pitchFamily="18" charset="0"/>
              </a:rPr>
              <a:t>F</a:t>
            </a:r>
            <a:r>
              <a:rPr lang="en-US" sz="2000" dirty="0">
                <a:cs typeface="Times New Roman" pitchFamily="18" charset="0"/>
              </a:rPr>
              <a:t> be the event that a randomly selected person watches </a:t>
            </a:r>
            <a:r>
              <a:rPr lang="en-US" sz="2000" i="1" dirty="0">
                <a:cs typeface="Times New Roman" pitchFamily="18" charset="0"/>
              </a:rPr>
              <a:t>Food Network </a:t>
            </a:r>
            <a:r>
              <a:rPr lang="en-US" sz="2000" dirty="0">
                <a:cs typeface="Times New Roman" pitchFamily="18" charset="0"/>
              </a:rPr>
              <a:t>from 10 to 11 pm on a Sunday night, and let </a:t>
            </a:r>
            <a:r>
              <a:rPr lang="en-US" sz="2000" i="1" dirty="0">
                <a:cs typeface="Times New Roman" pitchFamily="18" charset="0"/>
              </a:rPr>
              <a:t>C</a:t>
            </a:r>
            <a:r>
              <a:rPr lang="en-US" sz="2000" dirty="0">
                <a:cs typeface="Times New Roman" pitchFamily="18" charset="0"/>
              </a:rPr>
              <a:t> be the event that a randomly selected person watches </a:t>
            </a:r>
            <a:r>
              <a:rPr lang="en-US" sz="2000" i="1" dirty="0">
                <a:cs typeface="Times New Roman" pitchFamily="18" charset="0"/>
              </a:rPr>
              <a:t>Comedy Central </a:t>
            </a:r>
            <a:r>
              <a:rPr lang="en-US" sz="2000" dirty="0">
                <a:cs typeface="Times New Roman" pitchFamily="18" charset="0"/>
              </a:rPr>
              <a:t>on that night.  Since many homes have DVRs, it is possible to record one of the shows on either of the channels and therefore, watch both shows eventually.  Suppose  the probabilities of the events are as follows:  </a:t>
            </a:r>
          </a:p>
          <a:p>
            <a:pPr>
              <a:buNone/>
              <a:defRPr/>
            </a:pPr>
            <a:r>
              <a:rPr lang="en-US" sz="2000" dirty="0">
                <a:cs typeface="Times New Roman" pitchFamily="18" charset="0"/>
              </a:rPr>
              <a:t>		</a:t>
            </a:r>
            <a:r>
              <a:rPr lang="en-US" sz="2000" i="1" dirty="0">
                <a:cs typeface="Times New Roman" pitchFamily="18" charset="0"/>
              </a:rPr>
              <a:t>P</a:t>
            </a:r>
            <a:r>
              <a:rPr lang="en-US" sz="2000" dirty="0">
                <a:cs typeface="Times New Roman" pitchFamily="18" charset="0"/>
              </a:rPr>
              <a:t>(</a:t>
            </a:r>
            <a:r>
              <a:rPr lang="en-US" sz="2000" i="1" dirty="0">
                <a:cs typeface="Times New Roman" pitchFamily="18" charset="0"/>
              </a:rPr>
              <a:t>F</a:t>
            </a:r>
            <a:r>
              <a:rPr lang="en-US" sz="2000" dirty="0">
                <a:cs typeface="Times New Roman" pitchFamily="18" charset="0"/>
              </a:rPr>
              <a:t>) = .25,  </a:t>
            </a:r>
            <a:r>
              <a:rPr lang="en-US" sz="2000" i="1" dirty="0">
                <a:cs typeface="Times New Roman" pitchFamily="18" charset="0"/>
              </a:rPr>
              <a:t>P</a:t>
            </a:r>
            <a:r>
              <a:rPr lang="en-US" sz="2000" dirty="0">
                <a:cs typeface="Times New Roman" pitchFamily="18" charset="0"/>
              </a:rPr>
              <a:t>(</a:t>
            </a:r>
            <a:r>
              <a:rPr lang="en-US" sz="2000" i="1" dirty="0">
                <a:cs typeface="Times New Roman" pitchFamily="18" charset="0"/>
              </a:rPr>
              <a:t>C</a:t>
            </a:r>
            <a:r>
              <a:rPr lang="en-US" sz="2000" dirty="0">
                <a:cs typeface="Times New Roman" pitchFamily="18" charset="0"/>
              </a:rPr>
              <a:t>) = .25, and </a:t>
            </a:r>
            <a:r>
              <a:rPr lang="en-US" sz="2000" i="1" dirty="0">
                <a:cs typeface="Times New Roman" pitchFamily="18" charset="0"/>
              </a:rPr>
              <a:t>P</a:t>
            </a:r>
            <a:r>
              <a:rPr lang="en-US" sz="2000" dirty="0">
                <a:cs typeface="Times New Roman" pitchFamily="18" charset="0"/>
              </a:rPr>
              <a:t>(</a:t>
            </a:r>
            <a:r>
              <a:rPr lang="en-US" sz="2000" i="1" dirty="0">
                <a:cs typeface="Times New Roman" pitchFamily="18" charset="0"/>
              </a:rPr>
              <a:t>F</a:t>
            </a:r>
            <a:r>
              <a:rPr lang="en-US" sz="2000" dirty="0">
                <a:cs typeface="Times New Roman" pitchFamily="18" charset="0"/>
              </a:rPr>
              <a:t> </a:t>
            </a:r>
            <a:r>
              <a:rPr lang="en-US" sz="2000" dirty="0">
                <a:cs typeface="Times New Roman" pitchFamily="18" charset="0"/>
                <a:sym typeface="Symbol" pitchFamily="18" charset="2"/>
              </a:rPr>
              <a:t></a:t>
            </a:r>
            <a:r>
              <a:rPr lang="en-US" sz="2000" dirty="0">
                <a:cs typeface="Times New Roman" pitchFamily="18" charset="0"/>
              </a:rPr>
              <a:t> </a:t>
            </a:r>
            <a:r>
              <a:rPr lang="en-US" sz="2000" i="1" dirty="0">
                <a:cs typeface="Times New Roman" pitchFamily="18" charset="0"/>
              </a:rPr>
              <a:t>C</a:t>
            </a:r>
            <a:r>
              <a:rPr lang="en-US" sz="2000" dirty="0">
                <a:cs typeface="Times New Roman" pitchFamily="18" charset="0"/>
              </a:rPr>
              <a:t>) = .05</a:t>
            </a:r>
          </a:p>
          <a:p>
            <a:pPr marL="514350" indent="-514350">
              <a:buFont typeface="+mj-lt"/>
              <a:buAutoNum type="alphaLcPeriod"/>
              <a:defRPr/>
            </a:pPr>
            <a:r>
              <a:rPr lang="en-US" sz="2000" dirty="0">
                <a:cs typeface="Times New Roman" pitchFamily="18" charset="0"/>
              </a:rPr>
              <a:t>Are events </a:t>
            </a:r>
            <a:r>
              <a:rPr lang="en-US" sz="2000" i="1" dirty="0">
                <a:cs typeface="Times New Roman" pitchFamily="18" charset="0"/>
              </a:rPr>
              <a:t>F</a:t>
            </a:r>
            <a:r>
              <a:rPr lang="en-US" sz="2000" dirty="0">
                <a:cs typeface="Times New Roman" pitchFamily="18" charset="0"/>
              </a:rPr>
              <a:t> and </a:t>
            </a:r>
            <a:r>
              <a:rPr lang="en-US" sz="2000" i="1" dirty="0">
                <a:cs typeface="Times New Roman" pitchFamily="18" charset="0"/>
              </a:rPr>
              <a:t>C</a:t>
            </a:r>
            <a:r>
              <a:rPr lang="en-US" sz="2000" dirty="0">
                <a:cs typeface="Times New Roman" pitchFamily="18" charset="0"/>
              </a:rPr>
              <a:t> mutually exclusive?</a:t>
            </a:r>
          </a:p>
          <a:p>
            <a:pPr marL="514350" indent="-514350">
              <a:buFont typeface="+mj-lt"/>
              <a:buAutoNum type="alphaLcPeriod"/>
              <a:defRPr/>
            </a:pPr>
            <a:endParaRPr lang="en-US" sz="2000" dirty="0">
              <a:cs typeface="Times New Roman" pitchFamily="18" charset="0"/>
            </a:endParaRPr>
          </a:p>
          <a:p>
            <a:pPr marL="514350" indent="-514350">
              <a:buFont typeface="+mj-lt"/>
              <a:buAutoNum type="alphaLcPeriod"/>
              <a:defRPr/>
            </a:pPr>
            <a:endParaRPr lang="en-US" sz="2000" dirty="0">
              <a:cs typeface="Times New Roman" pitchFamily="18" charset="0"/>
            </a:endParaRPr>
          </a:p>
          <a:p>
            <a:pPr marL="514350" indent="-514350">
              <a:buFont typeface="+mj-lt"/>
              <a:buAutoNum type="alphaLcPeriod"/>
              <a:defRPr/>
            </a:pPr>
            <a:r>
              <a:rPr lang="en-US" sz="2000" dirty="0">
                <a:cs typeface="Times New Roman" pitchFamily="18" charset="0"/>
              </a:rPr>
              <a:t>If a randomly selected person says that she watches </a:t>
            </a:r>
            <a:r>
              <a:rPr lang="en-US" sz="2000" i="1" dirty="0">
                <a:cs typeface="Times New Roman" pitchFamily="18" charset="0"/>
              </a:rPr>
              <a:t>Comedy Central</a:t>
            </a:r>
            <a:r>
              <a:rPr lang="en-US" sz="2000" dirty="0">
                <a:cs typeface="Times New Roman" pitchFamily="18" charset="0"/>
              </a:rPr>
              <a:t>, what is the probability that she also watches the recorded show of </a:t>
            </a:r>
            <a:r>
              <a:rPr lang="en-US" sz="2000" i="1" dirty="0">
                <a:cs typeface="Times New Roman" pitchFamily="18" charset="0"/>
              </a:rPr>
              <a:t>Food Network </a:t>
            </a:r>
            <a:r>
              <a:rPr lang="en-US" sz="2000" dirty="0">
                <a:cs typeface="Times New Roman" pitchFamily="18" charset="0"/>
              </a:rPr>
              <a:t>later?</a:t>
            </a:r>
          </a:p>
          <a:p>
            <a:pPr marL="514350" indent="-514350">
              <a:buNone/>
              <a:defRPr/>
            </a:pPr>
            <a:endParaRPr lang="en-US" sz="2400" dirty="0"/>
          </a:p>
          <a:p>
            <a:pPr marL="514350" indent="-514350">
              <a:buNone/>
              <a:defRPr/>
            </a:pPr>
            <a:r>
              <a:rPr lang="en-US" sz="2400" dirty="0"/>
              <a:t> </a:t>
            </a:r>
          </a:p>
        </p:txBody>
      </p:sp>
    </p:spTree>
    <p:extLst>
      <p:ext uri="{BB962C8B-B14F-4D97-AF65-F5344CB8AC3E}">
        <p14:creationId xmlns:p14="http://schemas.microsoft.com/office/powerpoint/2010/main" val="315482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981200" y="0"/>
            <a:ext cx="8229600" cy="609600"/>
          </a:xfrm>
        </p:spPr>
        <p:txBody>
          <a:bodyPr/>
          <a:lstStyle/>
          <a:p>
            <a:br>
              <a:rPr lang="en-US" altLang="en-US" sz="3600" dirty="0">
                <a:latin typeface="+mn-lt"/>
                <a:cs typeface="Arial" charset="0"/>
              </a:rPr>
            </a:br>
            <a:r>
              <a:rPr lang="en-US" altLang="en-US" sz="3600" dirty="0">
                <a:latin typeface="+mn-lt"/>
                <a:cs typeface="Arial" charset="0"/>
              </a:rPr>
              <a:t>Example </a:t>
            </a:r>
            <a:br>
              <a:rPr lang="en-US" altLang="en-US" sz="3600" dirty="0">
                <a:latin typeface="+mn-lt"/>
                <a:cs typeface="Arial" charset="0"/>
              </a:rPr>
            </a:br>
            <a:endParaRPr lang="en-US" altLang="en-US" sz="2400" dirty="0">
              <a:latin typeface="+mn-lt"/>
              <a:cs typeface="Arial" charset="0"/>
            </a:endParaRPr>
          </a:p>
        </p:txBody>
      </p:sp>
      <p:sp>
        <p:nvSpPr>
          <p:cNvPr id="4" name="Slide Number Placeholder 3"/>
          <p:cNvSpPr>
            <a:spLocks noGrp="1"/>
          </p:cNvSpPr>
          <p:nvPr>
            <p:ph type="sldNum" sz="quarter" idx="12"/>
          </p:nvPr>
        </p:nvSpPr>
        <p:spPr/>
        <p:txBody>
          <a:bodyPr/>
          <a:lstStyle/>
          <a:p>
            <a:pPr>
              <a:defRPr/>
            </a:pPr>
            <a:fld id="{759EC327-2248-49A2-A48D-B08F57921374}" type="slidenum">
              <a:rPr lang="it-IT" smtClean="0"/>
              <a:pPr>
                <a:defRPr/>
              </a:pPr>
              <a:t>61</a:t>
            </a:fld>
            <a:endParaRPr lang="it-IT"/>
          </a:p>
        </p:txBody>
      </p:sp>
      <p:sp>
        <p:nvSpPr>
          <p:cNvPr id="3" name="Content Placeholder 2"/>
          <p:cNvSpPr>
            <a:spLocks noGrp="1"/>
          </p:cNvSpPr>
          <p:nvPr>
            <p:ph idx="1"/>
          </p:nvPr>
        </p:nvSpPr>
        <p:spPr>
          <a:xfrm>
            <a:off x="1960418" y="838200"/>
            <a:ext cx="8229600" cy="5715000"/>
          </a:xfrm>
        </p:spPr>
        <p:txBody>
          <a:bodyPr>
            <a:normAutofit/>
          </a:bodyPr>
          <a:lstStyle/>
          <a:p>
            <a:pPr marL="0" indent="0">
              <a:buNone/>
            </a:pPr>
            <a:r>
              <a:rPr lang="en-US" sz="2000" dirty="0"/>
              <a:t>A news magazine published three columns “Art” (A), “Books” (B), and “Cinema” (C). Reading habits of a randomly selected reader with respect to these  columns are P(A) = .14; P(B)=.23, P(C)=.37, P(A∩B) = .08, P(A∩C) = .09, P(B∩C)=.13, P(A ∩ B ∩ C)=.05.  Calculate:</a:t>
            </a:r>
          </a:p>
          <a:p>
            <a:r>
              <a:rPr lang="en-US" sz="2000" dirty="0"/>
              <a:t>P(A|B)</a:t>
            </a:r>
          </a:p>
          <a:p>
            <a:endParaRPr lang="en-US" sz="2000" dirty="0"/>
          </a:p>
          <a:p>
            <a:endParaRPr lang="en-US" sz="2000" dirty="0"/>
          </a:p>
          <a:p>
            <a:endParaRPr lang="en-US" sz="2000" dirty="0"/>
          </a:p>
          <a:p>
            <a:r>
              <a:rPr lang="en-US" sz="2000" dirty="0"/>
              <a:t>P(A|B U C)</a:t>
            </a:r>
          </a:p>
          <a:p>
            <a:endParaRPr lang="en-US" sz="2000" dirty="0"/>
          </a:p>
          <a:p>
            <a:endParaRPr lang="en-US" sz="2000" dirty="0"/>
          </a:p>
          <a:p>
            <a:endParaRPr lang="en-US" sz="2000" dirty="0"/>
          </a:p>
          <a:p>
            <a:r>
              <a:rPr lang="en-US" sz="2000" dirty="0"/>
              <a:t>P(A| reads at least one)</a:t>
            </a:r>
          </a:p>
          <a:p>
            <a:pPr marL="0" indent="0">
              <a:buNone/>
            </a:pPr>
            <a:endParaRPr lang="en-US" sz="2000" dirty="0"/>
          </a:p>
        </p:txBody>
      </p:sp>
    </p:spTree>
    <p:extLst>
      <p:ext uri="{BB962C8B-B14F-4D97-AF65-F5344CB8AC3E}">
        <p14:creationId xmlns:p14="http://schemas.microsoft.com/office/powerpoint/2010/main" val="8324255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9050"/>
            <a:ext cx="8229600" cy="1143000"/>
          </a:xfrm>
        </p:spPr>
        <p:txBody>
          <a:bodyPr/>
          <a:lstStyle/>
          <a:p>
            <a:r>
              <a:rPr lang="en-US" sz="3600" dirty="0">
                <a:latin typeface="+mn-lt"/>
                <a:cs typeface="Times New Roman" pitchFamily="18" charset="0"/>
              </a:rPr>
              <a:t>Mutually Exclusive and Exhaustive Events </a:t>
            </a:r>
            <a:endParaRPr lang="en-US" sz="3600" dirty="0">
              <a:latin typeface="+mn-lt"/>
            </a:endParaRPr>
          </a:p>
        </p:txBody>
      </p:sp>
      <p:sp>
        <p:nvSpPr>
          <p:cNvPr id="4" name="Slide Number Placeholder 3"/>
          <p:cNvSpPr>
            <a:spLocks noGrp="1"/>
          </p:cNvSpPr>
          <p:nvPr>
            <p:ph type="sldNum" sz="quarter" idx="12"/>
          </p:nvPr>
        </p:nvSpPr>
        <p:spPr/>
        <p:txBody>
          <a:bodyPr/>
          <a:lstStyle/>
          <a:p>
            <a:fld id="{C17A4BB5-F5F6-4DB8-BE2D-D1CF9FC8F599}" type="slidenum">
              <a:rPr lang="en-US" smtClean="0"/>
              <a:pPr/>
              <a:t>62</a:t>
            </a:fld>
            <a:endParaRPr lang="en-US"/>
          </a:p>
        </p:txBody>
      </p:sp>
      <p:sp>
        <p:nvSpPr>
          <p:cNvPr id="3" name="Content Placeholder 2"/>
          <p:cNvSpPr>
            <a:spLocks noGrp="1"/>
          </p:cNvSpPr>
          <p:nvPr>
            <p:ph sz="quarter" idx="1"/>
          </p:nvPr>
        </p:nvSpPr>
        <p:spPr>
          <a:xfrm>
            <a:off x="1885950" y="914400"/>
            <a:ext cx="8305800" cy="4937760"/>
          </a:xfrm>
        </p:spPr>
        <p:txBody>
          <a:bodyPr>
            <a:normAutofit/>
          </a:bodyPr>
          <a:lstStyle/>
          <a:p>
            <a:pPr>
              <a:defRPr/>
            </a:pPr>
            <a:r>
              <a:rPr lang="en-US" sz="2400" dirty="0">
                <a:cs typeface="Times New Roman" pitchFamily="18" charset="0"/>
              </a:rPr>
              <a:t>In a Venn diagram, show a set of mutually exclusive and exhaustive events </a:t>
            </a:r>
            <a:r>
              <a:rPr lang="en-US" sz="2400" i="1" dirty="0">
                <a:cs typeface="Times New Roman" pitchFamily="18" charset="0"/>
              </a:rPr>
              <a:t>A</a:t>
            </a:r>
            <a:r>
              <a:rPr lang="en-US" sz="2400" baseline="-30000" dirty="0">
                <a:cs typeface="Times New Roman" pitchFamily="18" charset="0"/>
              </a:rPr>
              <a:t>1</a:t>
            </a:r>
            <a:r>
              <a:rPr lang="en-US" sz="2400" dirty="0">
                <a:cs typeface="Times New Roman" pitchFamily="18" charset="0"/>
              </a:rPr>
              <a:t>, ..., </a:t>
            </a:r>
            <a:r>
              <a:rPr lang="en-US" sz="2400" i="1" dirty="0">
                <a:cs typeface="Times New Roman" pitchFamily="18" charset="0"/>
              </a:rPr>
              <a:t>A</a:t>
            </a:r>
            <a:r>
              <a:rPr lang="en-US" sz="2400" i="1" baseline="-30000" dirty="0">
                <a:cs typeface="Times New Roman" pitchFamily="18" charset="0"/>
              </a:rPr>
              <a:t>4</a:t>
            </a:r>
            <a:r>
              <a:rPr lang="en-US" sz="2400" dirty="0">
                <a:cs typeface="Times New Roman" pitchFamily="18" charset="0"/>
              </a:rPr>
              <a:t> in the sample space, </a:t>
            </a:r>
            <a:r>
              <a:rPr lang="en-US" sz="2400" i="1" dirty="0">
                <a:cs typeface="Times New Roman" pitchFamily="18" charset="0"/>
              </a:rPr>
              <a:t>S</a:t>
            </a:r>
            <a:r>
              <a:rPr lang="en-US" sz="2400" dirty="0">
                <a:cs typeface="Times New Roman" pitchFamily="18" charset="0"/>
              </a:rPr>
              <a:t>. </a:t>
            </a:r>
          </a:p>
          <a:p>
            <a:pPr lvl="1">
              <a:defRPr/>
            </a:pPr>
            <a:r>
              <a:rPr lang="en-US" sz="2400" b="1" dirty="0">
                <a:cs typeface="Times New Roman" pitchFamily="18" charset="0"/>
              </a:rPr>
              <a:t>Mutually exclusive </a:t>
            </a:r>
            <a:r>
              <a:rPr lang="en-US" sz="2400" dirty="0">
                <a:cs typeface="Times New Roman" pitchFamily="18" charset="0"/>
              </a:rPr>
              <a:t>events cannot occur at the same time, so have no common outcomes. </a:t>
            </a:r>
          </a:p>
          <a:p>
            <a:pPr lvl="2">
              <a:defRPr/>
            </a:pPr>
            <a:r>
              <a:rPr lang="en-US" dirty="0">
                <a:cs typeface="Times New Roman" pitchFamily="18" charset="0"/>
              </a:rPr>
              <a:t>e.g., observing a head or a tail (but not both) after tossing a coin</a:t>
            </a:r>
          </a:p>
          <a:p>
            <a:pPr lvl="2">
              <a:defRPr/>
            </a:pPr>
            <a:endParaRPr lang="en-US" dirty="0">
              <a:cs typeface="Times New Roman" pitchFamily="18" charset="0"/>
            </a:endParaRPr>
          </a:p>
          <a:p>
            <a:pPr lvl="2">
              <a:defRPr/>
            </a:pPr>
            <a:endParaRPr lang="en-US" dirty="0">
              <a:cs typeface="Times New Roman" pitchFamily="18" charset="0"/>
            </a:endParaRPr>
          </a:p>
          <a:p>
            <a:pPr lvl="1">
              <a:defRPr/>
            </a:pPr>
            <a:r>
              <a:rPr lang="en-US" sz="2400" b="1" dirty="0">
                <a:cs typeface="Times New Roman" pitchFamily="18" charset="0"/>
              </a:rPr>
              <a:t>Exhaustive</a:t>
            </a:r>
            <a:r>
              <a:rPr lang="en-US" sz="2400" dirty="0">
                <a:cs typeface="Times New Roman" pitchFamily="18" charset="0"/>
              </a:rPr>
              <a:t> events encompass the whole sample space, and hence, at least one of the events must occur.</a:t>
            </a:r>
          </a:p>
          <a:p>
            <a:pPr lvl="2">
              <a:defRPr/>
            </a:pPr>
            <a:r>
              <a:rPr lang="en-US" dirty="0">
                <a:cs typeface="Times New Roman" pitchFamily="18" charset="0"/>
              </a:rPr>
              <a:t>e.g., observing an even number, a prime number, or a number smaller than 3 after rolling a die</a:t>
            </a:r>
          </a:p>
          <a:p>
            <a:pPr>
              <a:defRPr/>
            </a:pPr>
            <a:endParaRPr lang="en-US" sz="2800" dirty="0">
              <a:latin typeface="Times New Roman" pitchFamily="18" charset="0"/>
              <a:cs typeface="Times New Roman" pitchFamily="18" charset="0"/>
            </a:endParaRPr>
          </a:p>
          <a:p>
            <a:pPr>
              <a:buNone/>
              <a:defRPr/>
            </a:pPr>
            <a:endParaRPr lang="en-US" sz="2800" dirty="0">
              <a:latin typeface="Times New Roman" pitchFamily="18" charset="0"/>
              <a:cs typeface="Times New Roman" pitchFamily="18" charset="0"/>
            </a:endParaRPr>
          </a:p>
          <a:p>
            <a:pPr>
              <a:buNone/>
            </a:pPr>
            <a:endParaRPr lang="en-US" dirty="0"/>
          </a:p>
        </p:txBody>
      </p:sp>
    </p:spTree>
    <p:extLst>
      <p:ext uri="{BB962C8B-B14F-4D97-AF65-F5344CB8AC3E}">
        <p14:creationId xmlns:p14="http://schemas.microsoft.com/office/powerpoint/2010/main" val="469872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69228"/>
            <a:ext cx="8229600" cy="745172"/>
          </a:xfrm>
        </p:spPr>
        <p:txBody>
          <a:bodyPr/>
          <a:lstStyle/>
          <a:p>
            <a:r>
              <a:rPr lang="en-US" sz="3600" dirty="0">
                <a:cs typeface="Times New Roman" pitchFamily="18" charset="0"/>
              </a:rPr>
              <a:t>Mutually Exclusive and Exhaustive Events </a:t>
            </a:r>
            <a:r>
              <a:rPr lang="en-US" sz="3600" dirty="0">
                <a:latin typeface="+mn-lt"/>
                <a:cs typeface="Times New Roman" pitchFamily="18" charset="0"/>
              </a:rPr>
              <a:t> </a:t>
            </a:r>
            <a:endParaRPr lang="en-US" sz="3600" dirty="0">
              <a:latin typeface="+mn-lt"/>
            </a:endParaRPr>
          </a:p>
        </p:txBody>
      </p:sp>
      <p:sp>
        <p:nvSpPr>
          <p:cNvPr id="4" name="Slide Number Placeholder 3"/>
          <p:cNvSpPr>
            <a:spLocks noGrp="1"/>
          </p:cNvSpPr>
          <p:nvPr>
            <p:ph type="sldNum" sz="quarter" idx="12"/>
          </p:nvPr>
        </p:nvSpPr>
        <p:spPr/>
        <p:txBody>
          <a:bodyPr/>
          <a:lstStyle/>
          <a:p>
            <a:fld id="{C17A4BB5-F5F6-4DB8-BE2D-D1CF9FC8F599}" type="slidenum">
              <a:rPr lang="en-US" smtClean="0"/>
              <a:pPr/>
              <a:t>63</a:t>
            </a:fld>
            <a:endParaRPr lang="en-US"/>
          </a:p>
        </p:txBody>
      </p:sp>
      <p:sp>
        <p:nvSpPr>
          <p:cNvPr id="3" name="Content Placeholder 2"/>
          <p:cNvSpPr>
            <a:spLocks noGrp="1"/>
          </p:cNvSpPr>
          <p:nvPr>
            <p:ph sz="quarter" idx="1"/>
          </p:nvPr>
        </p:nvSpPr>
        <p:spPr>
          <a:xfrm>
            <a:off x="1981200" y="1219200"/>
            <a:ext cx="8305800" cy="4937760"/>
          </a:xfrm>
        </p:spPr>
        <p:txBody>
          <a:bodyPr>
            <a:normAutofit/>
          </a:bodyPr>
          <a:lstStyle/>
          <a:p>
            <a:pPr>
              <a:defRPr/>
            </a:pPr>
            <a:r>
              <a:rPr lang="en-US" sz="2400" dirty="0">
                <a:cs typeface="Times New Roman" pitchFamily="18" charset="0"/>
              </a:rPr>
              <a:t>In a Venn diagram, show a set of mutually exclusive and exhaustive events </a:t>
            </a:r>
            <a:r>
              <a:rPr lang="en-US" sz="2400" i="1" dirty="0">
                <a:cs typeface="Times New Roman" pitchFamily="18" charset="0"/>
              </a:rPr>
              <a:t>A</a:t>
            </a:r>
            <a:r>
              <a:rPr lang="en-US" sz="2400" baseline="-30000" dirty="0">
                <a:cs typeface="Times New Roman" pitchFamily="18" charset="0"/>
              </a:rPr>
              <a:t>1</a:t>
            </a:r>
            <a:r>
              <a:rPr lang="en-US" sz="2400" dirty="0">
                <a:cs typeface="Times New Roman" pitchFamily="18" charset="0"/>
              </a:rPr>
              <a:t>, ..., </a:t>
            </a:r>
            <a:r>
              <a:rPr lang="en-US" sz="2400" i="1" dirty="0">
                <a:cs typeface="Times New Roman" pitchFamily="18" charset="0"/>
              </a:rPr>
              <a:t>A</a:t>
            </a:r>
            <a:r>
              <a:rPr lang="en-US" sz="2400" i="1" baseline="-30000" dirty="0">
                <a:cs typeface="Times New Roman" pitchFamily="18" charset="0"/>
              </a:rPr>
              <a:t>4</a:t>
            </a:r>
            <a:r>
              <a:rPr lang="en-US" sz="2400" dirty="0">
                <a:cs typeface="Times New Roman" pitchFamily="18" charset="0"/>
              </a:rPr>
              <a:t> in the sample space </a:t>
            </a:r>
            <a:r>
              <a:rPr lang="en-US" sz="2400" i="1" dirty="0">
                <a:cs typeface="Times New Roman" pitchFamily="18" charset="0"/>
              </a:rPr>
              <a:t>S</a:t>
            </a:r>
            <a:r>
              <a:rPr lang="en-US" sz="2400" dirty="0">
                <a:cs typeface="Times New Roman" pitchFamily="18" charset="0"/>
              </a:rPr>
              <a:t>. </a:t>
            </a:r>
          </a:p>
          <a:p>
            <a:pPr>
              <a:defRPr/>
            </a:pPr>
            <a:endParaRPr lang="en-US" sz="2400" dirty="0">
              <a:cs typeface="Times New Roman" pitchFamily="18" charset="0"/>
            </a:endParaRPr>
          </a:p>
          <a:p>
            <a:pPr>
              <a:buNone/>
              <a:defRPr/>
            </a:pPr>
            <a:r>
              <a:rPr lang="en-US" sz="2400" dirty="0">
                <a:cs typeface="Times New Roman" pitchFamily="18" charset="0"/>
              </a:rPr>
              <a:t>	One possible answer:</a:t>
            </a:r>
          </a:p>
          <a:p>
            <a:pPr>
              <a:buNone/>
              <a:defRPr/>
            </a:pPr>
            <a:endParaRPr lang="en-US" sz="2800" dirty="0">
              <a:latin typeface="Times New Roman" pitchFamily="18" charset="0"/>
              <a:cs typeface="Times New Roman" pitchFamily="18" charset="0"/>
            </a:endParaRPr>
          </a:p>
          <a:p>
            <a:pPr>
              <a:buNone/>
            </a:pPr>
            <a:endParaRPr lang="en-US" dirty="0"/>
          </a:p>
        </p:txBody>
      </p:sp>
      <p:grpSp>
        <p:nvGrpSpPr>
          <p:cNvPr id="14" name="Group 13"/>
          <p:cNvGrpSpPr/>
          <p:nvPr/>
        </p:nvGrpSpPr>
        <p:grpSpPr>
          <a:xfrm>
            <a:off x="4071260" y="3276600"/>
            <a:ext cx="3624940" cy="2209800"/>
            <a:chOff x="2547260" y="3276600"/>
            <a:chExt cx="3624940" cy="2209800"/>
          </a:xfrm>
        </p:grpSpPr>
        <p:sp>
          <p:nvSpPr>
            <p:cNvPr id="5" name="Rectangle 4"/>
            <p:cNvSpPr/>
            <p:nvPr/>
          </p:nvSpPr>
          <p:spPr>
            <a:xfrm>
              <a:off x="2819400" y="3276600"/>
              <a:ext cx="3352800" cy="2209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TextBox 6"/>
            <p:cNvSpPr txBox="1"/>
            <p:nvPr/>
          </p:nvSpPr>
          <p:spPr>
            <a:xfrm>
              <a:off x="2547260" y="32766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8" name="TextBox 7"/>
            <p:cNvSpPr txBox="1"/>
            <p:nvPr/>
          </p:nvSpPr>
          <p:spPr>
            <a:xfrm>
              <a:off x="3200400" y="35052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1</a:t>
              </a:r>
            </a:p>
          </p:txBody>
        </p:sp>
        <p:sp>
          <p:nvSpPr>
            <p:cNvPr id="9" name="Arc 8"/>
            <p:cNvSpPr/>
            <p:nvPr/>
          </p:nvSpPr>
          <p:spPr>
            <a:xfrm>
              <a:off x="2819400" y="3276600"/>
              <a:ext cx="914400" cy="914400"/>
            </a:xfrm>
            <a:prstGeom prst="arc">
              <a:avLst>
                <a:gd name="adj1" fmla="val 16200000"/>
                <a:gd name="adj2" fmla="val 10445839"/>
              </a:avLst>
            </a:pr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Freeform 9"/>
            <p:cNvSpPr/>
            <p:nvPr/>
          </p:nvSpPr>
          <p:spPr>
            <a:xfrm>
              <a:off x="4724400" y="3276600"/>
              <a:ext cx="1121229" cy="2188029"/>
            </a:xfrm>
            <a:custGeom>
              <a:avLst/>
              <a:gdLst>
                <a:gd name="connsiteX0" fmla="*/ 664029 w 1121229"/>
                <a:gd name="connsiteY0" fmla="*/ 0 h 2188029"/>
                <a:gd name="connsiteX1" fmla="*/ 76200 w 1121229"/>
                <a:gd name="connsiteY1" fmla="*/ 1208315 h 2188029"/>
                <a:gd name="connsiteX2" fmla="*/ 1121229 w 1121229"/>
                <a:gd name="connsiteY2" fmla="*/ 2188029 h 2188029"/>
              </a:gdLst>
              <a:ahLst/>
              <a:cxnLst>
                <a:cxn ang="0">
                  <a:pos x="connsiteX0" y="connsiteY0"/>
                </a:cxn>
                <a:cxn ang="0">
                  <a:pos x="connsiteX1" y="connsiteY1"/>
                </a:cxn>
                <a:cxn ang="0">
                  <a:pos x="connsiteX2" y="connsiteY2"/>
                </a:cxn>
              </a:cxnLst>
              <a:rect l="l" t="t" r="r" b="b"/>
              <a:pathLst>
                <a:path w="1121229" h="2188029">
                  <a:moveTo>
                    <a:pt x="664029" y="0"/>
                  </a:moveTo>
                  <a:cubicBezTo>
                    <a:pt x="332014" y="421822"/>
                    <a:pt x="0" y="843644"/>
                    <a:pt x="76200" y="1208315"/>
                  </a:cubicBezTo>
                  <a:cubicBezTo>
                    <a:pt x="152400" y="1572986"/>
                    <a:pt x="930729" y="2064658"/>
                    <a:pt x="1121229" y="2188029"/>
                  </a:cubicBezTo>
                </a:path>
              </a:pathLst>
            </a:cu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334000" y="38862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4</a:t>
              </a:r>
            </a:p>
          </p:txBody>
        </p:sp>
        <p:cxnSp>
          <p:nvCxnSpPr>
            <p:cNvPr id="13" name="Straight Connector 12"/>
            <p:cNvCxnSpPr/>
            <p:nvPr/>
          </p:nvCxnSpPr>
          <p:spPr>
            <a:xfrm>
              <a:off x="2819400" y="4299858"/>
              <a:ext cx="2438400" cy="76200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38600" y="41148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2</a:t>
              </a:r>
            </a:p>
          </p:txBody>
        </p:sp>
        <p:sp>
          <p:nvSpPr>
            <p:cNvPr id="18" name="TextBox 17"/>
            <p:cNvSpPr txBox="1"/>
            <p:nvPr/>
          </p:nvSpPr>
          <p:spPr>
            <a:xfrm>
              <a:off x="3124200" y="48768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3</a:t>
              </a:r>
            </a:p>
          </p:txBody>
        </p:sp>
      </p:grpSp>
    </p:spTree>
    <p:extLst>
      <p:ext uri="{BB962C8B-B14F-4D97-AF65-F5344CB8AC3E}">
        <p14:creationId xmlns:p14="http://schemas.microsoft.com/office/powerpoint/2010/main" val="306444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The Law of Total Probability</a:t>
            </a:r>
            <a:endParaRPr lang="en-US" sz="3600" dirty="0"/>
          </a:p>
        </p:txBody>
      </p:sp>
      <p:sp>
        <p:nvSpPr>
          <p:cNvPr id="3" name="Slide Number Placeholder 2"/>
          <p:cNvSpPr>
            <a:spLocks noGrp="1"/>
          </p:cNvSpPr>
          <p:nvPr>
            <p:ph type="sldNum" sz="quarter" idx="12"/>
          </p:nvPr>
        </p:nvSpPr>
        <p:spPr/>
        <p:txBody>
          <a:bodyPr/>
          <a:lstStyle/>
          <a:p>
            <a:fld id="{C17A4BB5-F5F6-4DB8-BE2D-D1CF9FC8F599}" type="slidenum">
              <a:rPr lang="en-US" smtClean="0"/>
              <a:pPr/>
              <a:t>64</a:t>
            </a:fld>
            <a:endParaRPr lang="en-US"/>
          </a:p>
        </p:txBody>
      </p:sp>
      <p:sp>
        <p:nvSpPr>
          <p:cNvPr id="4" name="Content Placeholder 3"/>
          <p:cNvSpPr>
            <a:spLocks noGrp="1"/>
          </p:cNvSpPr>
          <p:nvPr>
            <p:ph sz="quarter" idx="1"/>
          </p:nvPr>
        </p:nvSpPr>
        <p:spPr>
          <a:xfrm>
            <a:off x="1981200" y="1219200"/>
            <a:ext cx="8001000" cy="4937760"/>
          </a:xfrm>
        </p:spPr>
        <p:txBody>
          <a:bodyPr>
            <a:normAutofit/>
          </a:bodyPr>
          <a:lstStyle/>
          <a:p>
            <a:r>
              <a:rPr lang="en-US" sz="2400" dirty="0">
                <a:cs typeface="Times New Roman" pitchFamily="18" charset="0"/>
              </a:rPr>
              <a:t>Consider the last example and let </a:t>
            </a:r>
            <a:r>
              <a:rPr lang="en-US" sz="2400" i="1" dirty="0">
                <a:cs typeface="Times New Roman" pitchFamily="18" charset="0"/>
              </a:rPr>
              <a:t>B</a:t>
            </a:r>
            <a:r>
              <a:rPr lang="en-US" sz="2400" dirty="0">
                <a:cs typeface="Times New Roman" pitchFamily="18" charset="0"/>
              </a:rPr>
              <a:t> be an event in the same sample space. Can we calculate the probability of the event B if we only know the probability of </a:t>
            </a:r>
            <a:r>
              <a:rPr lang="en-US" sz="2400" i="1" dirty="0">
                <a:cs typeface="Times New Roman" pitchFamily="18" charset="0"/>
              </a:rPr>
              <a:t>A</a:t>
            </a:r>
            <a:r>
              <a:rPr lang="en-US" sz="2400" i="1" baseline="-30000" dirty="0">
                <a:cs typeface="Times New Roman" pitchFamily="18" charset="0"/>
              </a:rPr>
              <a:t>i</a:t>
            </a:r>
            <a:r>
              <a:rPr lang="en-US" sz="2400" baseline="-30000" dirty="0">
                <a:cs typeface="Times New Roman" pitchFamily="18" charset="0"/>
              </a:rPr>
              <a:t> </a:t>
            </a:r>
            <a:r>
              <a:rPr lang="en-US" sz="2400" dirty="0">
                <a:cs typeface="Times New Roman" pitchFamily="18" charset="0"/>
                <a:sym typeface="Symbol"/>
              </a:rPr>
              <a:t> </a:t>
            </a:r>
            <a:r>
              <a:rPr lang="en-US" sz="2400" i="1" dirty="0">
                <a:cs typeface="Times New Roman" pitchFamily="18" charset="0"/>
                <a:sym typeface="Symbol"/>
              </a:rPr>
              <a:t>B</a:t>
            </a:r>
            <a:r>
              <a:rPr lang="en-US" sz="2400" dirty="0">
                <a:cs typeface="Times New Roman" pitchFamily="18" charset="0"/>
                <a:sym typeface="Symbol"/>
              </a:rPr>
              <a:t> for </a:t>
            </a:r>
            <a:r>
              <a:rPr lang="en-US" sz="2400" i="1" dirty="0" err="1">
                <a:cs typeface="Times New Roman" pitchFamily="18" charset="0"/>
                <a:sym typeface="Symbol"/>
              </a:rPr>
              <a:t>i</a:t>
            </a:r>
            <a:r>
              <a:rPr lang="en-US" sz="2400" dirty="0">
                <a:cs typeface="Times New Roman" pitchFamily="18" charset="0"/>
                <a:sym typeface="Symbol"/>
              </a:rPr>
              <a:t> = 1,</a:t>
            </a:r>
            <a:r>
              <a:rPr lang="en-US" sz="2400" dirty="0">
                <a:cs typeface="Times New Roman" pitchFamily="18" charset="0"/>
              </a:rPr>
              <a:t> ..., 4? </a:t>
            </a: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a:p>
            <a:endParaRPr lang="en-US" sz="2400" dirty="0">
              <a:cs typeface="Times New Roman" pitchFamily="18" charset="0"/>
            </a:endParaRPr>
          </a:p>
          <a:p>
            <a:r>
              <a:rPr lang="en-US" sz="2400" dirty="0">
                <a:cs typeface="Times New Roman" pitchFamily="18" charset="0"/>
              </a:rPr>
              <a:t>What do we know about </a:t>
            </a:r>
            <a:r>
              <a:rPr lang="en-US" sz="2400" i="1" dirty="0">
                <a:cs typeface="Times New Roman" pitchFamily="18" charset="0"/>
              </a:rPr>
              <a:t>A</a:t>
            </a:r>
            <a:r>
              <a:rPr lang="en-US" sz="2400" baseline="-30000" dirty="0">
                <a:cs typeface="Times New Roman" pitchFamily="18" charset="0"/>
              </a:rPr>
              <a:t>1 </a:t>
            </a:r>
            <a:r>
              <a:rPr lang="en-US" sz="2400" dirty="0">
                <a:cs typeface="Times New Roman" pitchFamily="18" charset="0"/>
                <a:sym typeface="Symbol"/>
              </a:rPr>
              <a:t> </a:t>
            </a:r>
            <a:r>
              <a:rPr lang="en-US" sz="2400" i="1" dirty="0">
                <a:cs typeface="Times New Roman" pitchFamily="18" charset="0"/>
                <a:sym typeface="Symbol"/>
              </a:rPr>
              <a:t>B, </a:t>
            </a:r>
            <a:r>
              <a:rPr lang="en-US" sz="2400" i="1" dirty="0">
                <a:cs typeface="Times New Roman" pitchFamily="18" charset="0"/>
              </a:rPr>
              <a:t>A</a:t>
            </a:r>
            <a:r>
              <a:rPr lang="en-US" sz="2400" baseline="-30000" dirty="0">
                <a:cs typeface="Times New Roman" pitchFamily="18" charset="0"/>
              </a:rPr>
              <a:t>2 </a:t>
            </a:r>
            <a:r>
              <a:rPr lang="en-US" sz="2400" dirty="0">
                <a:cs typeface="Times New Roman" pitchFamily="18" charset="0"/>
                <a:sym typeface="Symbol"/>
              </a:rPr>
              <a:t> </a:t>
            </a:r>
            <a:r>
              <a:rPr lang="en-US" sz="2400" i="1" dirty="0">
                <a:cs typeface="Times New Roman" pitchFamily="18" charset="0"/>
                <a:sym typeface="Symbol"/>
              </a:rPr>
              <a:t>B, </a:t>
            </a:r>
            <a:r>
              <a:rPr lang="en-US" sz="2400" i="1" dirty="0">
                <a:cs typeface="Times New Roman" pitchFamily="18" charset="0"/>
              </a:rPr>
              <a:t>A</a:t>
            </a:r>
            <a:r>
              <a:rPr lang="en-US" sz="2400" baseline="-30000" dirty="0">
                <a:cs typeface="Times New Roman" pitchFamily="18" charset="0"/>
              </a:rPr>
              <a:t>3 </a:t>
            </a:r>
            <a:r>
              <a:rPr lang="en-US" sz="2400" dirty="0">
                <a:cs typeface="Times New Roman" pitchFamily="18" charset="0"/>
                <a:sym typeface="Symbol"/>
              </a:rPr>
              <a:t> </a:t>
            </a:r>
            <a:r>
              <a:rPr lang="en-US" sz="2400" i="1" dirty="0">
                <a:cs typeface="Times New Roman" pitchFamily="18" charset="0"/>
                <a:sym typeface="Symbol"/>
              </a:rPr>
              <a:t>B,</a:t>
            </a:r>
            <a:r>
              <a:rPr lang="en-US" sz="2400" dirty="0">
                <a:cs typeface="Times New Roman" pitchFamily="18" charset="0"/>
                <a:sym typeface="Symbol"/>
              </a:rPr>
              <a:t> and</a:t>
            </a:r>
            <a:r>
              <a:rPr lang="en-US" sz="2400" i="1" dirty="0">
                <a:cs typeface="Times New Roman" pitchFamily="18" charset="0"/>
                <a:sym typeface="Symbol"/>
              </a:rPr>
              <a:t> </a:t>
            </a:r>
            <a:r>
              <a:rPr lang="en-US" sz="2400" i="1" dirty="0">
                <a:cs typeface="Times New Roman" pitchFamily="18" charset="0"/>
              </a:rPr>
              <a:t>A</a:t>
            </a:r>
            <a:r>
              <a:rPr lang="en-US" sz="2400" baseline="-30000" dirty="0">
                <a:cs typeface="Times New Roman" pitchFamily="18" charset="0"/>
              </a:rPr>
              <a:t>4 </a:t>
            </a:r>
            <a:r>
              <a:rPr lang="en-US" sz="2400" dirty="0">
                <a:cs typeface="Times New Roman" pitchFamily="18" charset="0"/>
                <a:sym typeface="Symbol"/>
              </a:rPr>
              <a:t> </a:t>
            </a:r>
            <a:r>
              <a:rPr lang="en-US" sz="2400" i="1" dirty="0">
                <a:cs typeface="Times New Roman" pitchFamily="18" charset="0"/>
                <a:sym typeface="Symbol"/>
              </a:rPr>
              <a:t>B?</a:t>
            </a:r>
            <a:endParaRPr lang="en-US" sz="2400" dirty="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dirty="0"/>
          </a:p>
        </p:txBody>
      </p:sp>
      <p:grpSp>
        <p:nvGrpSpPr>
          <p:cNvPr id="16" name="Group 15"/>
          <p:cNvGrpSpPr/>
          <p:nvPr/>
        </p:nvGrpSpPr>
        <p:grpSpPr>
          <a:xfrm>
            <a:off x="3962400" y="2819400"/>
            <a:ext cx="3624940" cy="2286000"/>
            <a:chOff x="2318660" y="4038600"/>
            <a:chExt cx="3624940" cy="2286000"/>
          </a:xfrm>
        </p:grpSpPr>
        <p:sp>
          <p:nvSpPr>
            <p:cNvPr id="14" name="Rectangle 13"/>
            <p:cNvSpPr/>
            <p:nvPr/>
          </p:nvSpPr>
          <p:spPr>
            <a:xfrm>
              <a:off x="3352800" y="4572000"/>
              <a:ext cx="1676400" cy="12192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latin typeface="Times New Roman" pitchFamily="18" charset="0"/>
                  <a:cs typeface="Times New Roman" pitchFamily="18" charset="0"/>
                </a:rPr>
                <a:t>B</a:t>
              </a:r>
            </a:p>
          </p:txBody>
        </p:sp>
        <p:sp>
          <p:nvSpPr>
            <p:cNvPr id="10" name="TextBox 9"/>
            <p:cNvSpPr txBox="1"/>
            <p:nvPr/>
          </p:nvSpPr>
          <p:spPr>
            <a:xfrm>
              <a:off x="5105400" y="47244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4</a:t>
              </a:r>
            </a:p>
          </p:txBody>
        </p:sp>
        <p:grpSp>
          <p:nvGrpSpPr>
            <p:cNvPr id="15" name="Group 14"/>
            <p:cNvGrpSpPr/>
            <p:nvPr/>
          </p:nvGrpSpPr>
          <p:grpSpPr>
            <a:xfrm>
              <a:off x="2318660" y="4038600"/>
              <a:ext cx="3624940" cy="2286000"/>
              <a:chOff x="2318660" y="4038600"/>
              <a:chExt cx="3624940" cy="2286000"/>
            </a:xfrm>
          </p:grpSpPr>
          <p:sp>
            <p:nvSpPr>
              <p:cNvPr id="5" name="Rectangle 4"/>
              <p:cNvSpPr/>
              <p:nvPr/>
            </p:nvSpPr>
            <p:spPr>
              <a:xfrm>
                <a:off x="2590800" y="4114800"/>
                <a:ext cx="3352800" cy="22098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2318660" y="41148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7" name="TextBox 6"/>
              <p:cNvSpPr txBox="1"/>
              <p:nvPr/>
            </p:nvSpPr>
            <p:spPr>
              <a:xfrm>
                <a:off x="2971800" y="43434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1</a:t>
                </a:r>
              </a:p>
            </p:txBody>
          </p:sp>
          <p:sp>
            <p:nvSpPr>
              <p:cNvPr id="8" name="Arc 7"/>
              <p:cNvSpPr/>
              <p:nvPr/>
            </p:nvSpPr>
            <p:spPr>
              <a:xfrm>
                <a:off x="2590800" y="4114800"/>
                <a:ext cx="914400" cy="914400"/>
              </a:xfrm>
              <a:prstGeom prst="arc">
                <a:avLst>
                  <a:gd name="adj1" fmla="val 16200000"/>
                  <a:gd name="adj2" fmla="val 10445839"/>
                </a:avLst>
              </a:pr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Freeform 8"/>
              <p:cNvSpPr/>
              <p:nvPr/>
            </p:nvSpPr>
            <p:spPr>
              <a:xfrm>
                <a:off x="4495800" y="4114800"/>
                <a:ext cx="1121229" cy="2188029"/>
              </a:xfrm>
              <a:custGeom>
                <a:avLst/>
                <a:gdLst>
                  <a:gd name="connsiteX0" fmla="*/ 664029 w 1121229"/>
                  <a:gd name="connsiteY0" fmla="*/ 0 h 2188029"/>
                  <a:gd name="connsiteX1" fmla="*/ 76200 w 1121229"/>
                  <a:gd name="connsiteY1" fmla="*/ 1208315 h 2188029"/>
                  <a:gd name="connsiteX2" fmla="*/ 1121229 w 1121229"/>
                  <a:gd name="connsiteY2" fmla="*/ 2188029 h 2188029"/>
                </a:gdLst>
                <a:ahLst/>
                <a:cxnLst>
                  <a:cxn ang="0">
                    <a:pos x="connsiteX0" y="connsiteY0"/>
                  </a:cxn>
                  <a:cxn ang="0">
                    <a:pos x="connsiteX1" y="connsiteY1"/>
                  </a:cxn>
                  <a:cxn ang="0">
                    <a:pos x="connsiteX2" y="connsiteY2"/>
                  </a:cxn>
                </a:cxnLst>
                <a:rect l="l" t="t" r="r" b="b"/>
                <a:pathLst>
                  <a:path w="1121229" h="2188029">
                    <a:moveTo>
                      <a:pt x="664029" y="0"/>
                    </a:moveTo>
                    <a:cubicBezTo>
                      <a:pt x="332014" y="421822"/>
                      <a:pt x="0" y="843644"/>
                      <a:pt x="76200" y="1208315"/>
                    </a:cubicBezTo>
                    <a:cubicBezTo>
                      <a:pt x="152400" y="1572986"/>
                      <a:pt x="930729" y="2064658"/>
                      <a:pt x="1121229" y="2188029"/>
                    </a:cubicBezTo>
                  </a:path>
                </a:pathLst>
              </a:cu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Connector 10"/>
              <p:cNvCxnSpPr/>
              <p:nvPr/>
            </p:nvCxnSpPr>
            <p:spPr>
              <a:xfrm>
                <a:off x="2590800" y="5138058"/>
                <a:ext cx="2438400" cy="76200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81400" y="40386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2</a:t>
                </a:r>
              </a:p>
            </p:txBody>
          </p:sp>
          <p:sp>
            <p:nvSpPr>
              <p:cNvPr id="13" name="TextBox 12"/>
              <p:cNvSpPr txBox="1"/>
              <p:nvPr/>
            </p:nvSpPr>
            <p:spPr>
              <a:xfrm>
                <a:off x="2895600" y="57150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3</a:t>
                </a:r>
              </a:p>
            </p:txBody>
          </p:sp>
        </p:grpSp>
      </p:grpSp>
    </p:spTree>
    <p:extLst>
      <p:ext uri="{BB962C8B-B14F-4D97-AF65-F5344CB8AC3E}">
        <p14:creationId xmlns:p14="http://schemas.microsoft.com/office/powerpoint/2010/main" val="278590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n-lt"/>
                <a:cs typeface="Times New Roman" pitchFamily="18" charset="0"/>
              </a:rPr>
              <a:t>The Law of Total Probability</a:t>
            </a:r>
            <a:endParaRPr lang="en-US" sz="3600" dirty="0">
              <a:latin typeface="+mn-lt"/>
            </a:endParaRPr>
          </a:p>
        </p:txBody>
      </p:sp>
      <p:sp>
        <p:nvSpPr>
          <p:cNvPr id="3" name="Slide Number Placeholder 2"/>
          <p:cNvSpPr>
            <a:spLocks noGrp="1"/>
          </p:cNvSpPr>
          <p:nvPr>
            <p:ph type="sldNum" sz="quarter" idx="12"/>
          </p:nvPr>
        </p:nvSpPr>
        <p:spPr/>
        <p:txBody>
          <a:bodyPr/>
          <a:lstStyle/>
          <a:p>
            <a:fld id="{C17A4BB5-F5F6-4DB8-BE2D-D1CF9FC8F599}" type="slidenum">
              <a:rPr lang="en-US" smtClean="0"/>
              <a:pPr/>
              <a:t>65</a:t>
            </a:fld>
            <a:endParaRPr lang="en-US"/>
          </a:p>
        </p:txBody>
      </p:sp>
      <p:sp>
        <p:nvSpPr>
          <p:cNvPr id="4" name="Content Placeholder 3"/>
          <p:cNvSpPr>
            <a:spLocks noGrp="1"/>
          </p:cNvSpPr>
          <p:nvPr>
            <p:ph sz="quarter" idx="1"/>
          </p:nvPr>
        </p:nvSpPr>
        <p:spPr>
          <a:xfrm>
            <a:off x="1981200" y="1219200"/>
            <a:ext cx="8305800" cy="4937760"/>
          </a:xfrm>
        </p:spPr>
        <p:txBody>
          <a:bodyPr>
            <a:normAutofit/>
          </a:bodyPr>
          <a:lstStyle/>
          <a:p>
            <a:r>
              <a:rPr lang="en-US" sz="2400" dirty="0">
                <a:cs typeface="Times New Roman" pitchFamily="18" charset="0"/>
              </a:rPr>
              <a:t>Remember the 3</a:t>
            </a:r>
            <a:r>
              <a:rPr lang="en-US" sz="2400" baseline="30000" dirty="0">
                <a:cs typeface="Times New Roman" pitchFamily="18" charset="0"/>
              </a:rPr>
              <a:t>rd</a:t>
            </a:r>
            <a:r>
              <a:rPr lang="en-US" sz="2400" dirty="0">
                <a:cs typeface="Times New Roman" pitchFamily="18" charset="0"/>
              </a:rPr>
              <a:t> basic axiom of probability.</a:t>
            </a:r>
          </a:p>
          <a:p>
            <a:r>
              <a:rPr lang="en-US" sz="2400" dirty="0">
                <a:cs typeface="Times New Roman" pitchFamily="18" charset="0"/>
              </a:rPr>
              <a:t>Note that </a:t>
            </a:r>
            <a:r>
              <a:rPr lang="en-US" sz="2400" i="1" dirty="0">
                <a:cs typeface="Times New Roman" pitchFamily="18" charset="0"/>
              </a:rPr>
              <a:t>A</a:t>
            </a:r>
            <a:r>
              <a:rPr lang="en-US" sz="2400" baseline="-30000" dirty="0">
                <a:cs typeface="Times New Roman" pitchFamily="18" charset="0"/>
              </a:rPr>
              <a:t>1 </a:t>
            </a:r>
            <a:r>
              <a:rPr lang="en-US" sz="2400" dirty="0">
                <a:cs typeface="Times New Roman" pitchFamily="18" charset="0"/>
                <a:sym typeface="Symbol"/>
              </a:rPr>
              <a:t> </a:t>
            </a:r>
            <a:r>
              <a:rPr lang="en-US" sz="2400" i="1" dirty="0">
                <a:cs typeface="Times New Roman" pitchFamily="18" charset="0"/>
                <a:sym typeface="Symbol"/>
              </a:rPr>
              <a:t>B, </a:t>
            </a:r>
            <a:r>
              <a:rPr lang="en-US" sz="2400" i="1" dirty="0">
                <a:cs typeface="Times New Roman" pitchFamily="18" charset="0"/>
              </a:rPr>
              <a:t>A</a:t>
            </a:r>
            <a:r>
              <a:rPr lang="en-US" sz="2400" baseline="-30000" dirty="0">
                <a:cs typeface="Times New Roman" pitchFamily="18" charset="0"/>
              </a:rPr>
              <a:t>2 </a:t>
            </a:r>
            <a:r>
              <a:rPr lang="en-US" sz="2400" dirty="0">
                <a:cs typeface="Times New Roman" pitchFamily="18" charset="0"/>
                <a:sym typeface="Symbol"/>
              </a:rPr>
              <a:t> </a:t>
            </a:r>
            <a:r>
              <a:rPr lang="en-US" sz="2400" i="1" dirty="0">
                <a:cs typeface="Times New Roman" pitchFamily="18" charset="0"/>
                <a:sym typeface="Symbol"/>
              </a:rPr>
              <a:t>B, </a:t>
            </a:r>
            <a:r>
              <a:rPr lang="en-US" sz="2400" i="1" dirty="0">
                <a:cs typeface="Times New Roman" pitchFamily="18" charset="0"/>
              </a:rPr>
              <a:t>A</a:t>
            </a:r>
            <a:r>
              <a:rPr lang="en-US" sz="2400" baseline="-30000" dirty="0">
                <a:cs typeface="Times New Roman" pitchFamily="18" charset="0"/>
              </a:rPr>
              <a:t>3 </a:t>
            </a:r>
            <a:r>
              <a:rPr lang="en-US" sz="2400" dirty="0">
                <a:cs typeface="Times New Roman" pitchFamily="18" charset="0"/>
                <a:sym typeface="Symbol"/>
              </a:rPr>
              <a:t> </a:t>
            </a:r>
            <a:r>
              <a:rPr lang="en-US" sz="2400" i="1" dirty="0">
                <a:cs typeface="Times New Roman" pitchFamily="18" charset="0"/>
                <a:sym typeface="Symbol"/>
              </a:rPr>
              <a:t>B,</a:t>
            </a:r>
            <a:r>
              <a:rPr lang="en-US" sz="2400" dirty="0">
                <a:cs typeface="Times New Roman" pitchFamily="18" charset="0"/>
                <a:sym typeface="Symbol"/>
              </a:rPr>
              <a:t> and</a:t>
            </a:r>
            <a:r>
              <a:rPr lang="en-US" sz="2400" i="1" dirty="0">
                <a:cs typeface="Times New Roman" pitchFamily="18" charset="0"/>
                <a:sym typeface="Symbol"/>
              </a:rPr>
              <a:t> </a:t>
            </a:r>
            <a:r>
              <a:rPr lang="en-US" sz="2400" i="1" dirty="0">
                <a:cs typeface="Times New Roman" pitchFamily="18" charset="0"/>
              </a:rPr>
              <a:t>A</a:t>
            </a:r>
            <a:r>
              <a:rPr lang="en-US" sz="2400" baseline="-30000" dirty="0">
                <a:cs typeface="Times New Roman" pitchFamily="18" charset="0"/>
              </a:rPr>
              <a:t>4 </a:t>
            </a:r>
            <a:r>
              <a:rPr lang="en-US" sz="2400" dirty="0">
                <a:cs typeface="Times New Roman" pitchFamily="18" charset="0"/>
                <a:sym typeface="Symbol"/>
              </a:rPr>
              <a:t> </a:t>
            </a:r>
            <a:r>
              <a:rPr lang="en-US" sz="2400" i="1" dirty="0">
                <a:cs typeface="Times New Roman" pitchFamily="18" charset="0"/>
                <a:sym typeface="Symbol"/>
              </a:rPr>
              <a:t>B </a:t>
            </a:r>
            <a:r>
              <a:rPr lang="en-US" sz="2400" dirty="0">
                <a:cs typeface="Times New Roman" pitchFamily="18" charset="0"/>
                <a:sym typeface="Symbol"/>
              </a:rPr>
              <a:t>are mutually exclusive. </a:t>
            </a:r>
          </a:p>
          <a:p>
            <a:pPr>
              <a:buNone/>
            </a:pPr>
            <a:r>
              <a:rPr lang="en-US" sz="2400" i="1" dirty="0">
                <a:cs typeface="Times New Roman" pitchFamily="18" charset="0"/>
              </a:rPr>
              <a:t>	 P</a:t>
            </a:r>
            <a:r>
              <a:rPr lang="en-US" sz="2400" dirty="0">
                <a:cs typeface="Times New Roman" pitchFamily="18" charset="0"/>
              </a:rPr>
              <a:t>(</a:t>
            </a:r>
            <a:r>
              <a:rPr lang="en-US" sz="2400" i="1" dirty="0">
                <a:cs typeface="Times New Roman" pitchFamily="18" charset="0"/>
                <a:sym typeface="Symbol"/>
              </a:rPr>
              <a:t>B</a:t>
            </a:r>
            <a:r>
              <a:rPr lang="en-US" sz="2400" dirty="0">
                <a:cs typeface="Times New Roman" pitchFamily="18" charset="0"/>
                <a:sym typeface="Symbol"/>
              </a:rPr>
              <a:t>) </a:t>
            </a:r>
            <a:r>
              <a:rPr lang="en-US" sz="2400" dirty="0"/>
              <a:t>=  </a:t>
            </a:r>
          </a:p>
          <a:p>
            <a:pPr>
              <a:buNone/>
            </a:pPr>
            <a:endParaRPr lang="en-US" sz="2400" dirty="0">
              <a:cs typeface="Times New Roman" pitchFamily="18" charset="0"/>
              <a:sym typeface="Symbol"/>
            </a:endParaRPr>
          </a:p>
          <a:p>
            <a:pPr marL="0" indent="0">
              <a:buNone/>
            </a:pPr>
            <a:endParaRPr lang="en-US" sz="2400" dirty="0">
              <a:cs typeface="Times New Roman" pitchFamily="18" charset="0"/>
            </a:endParaRPr>
          </a:p>
          <a:p>
            <a:pPr marL="0" indent="0">
              <a:buNone/>
            </a:pPr>
            <a:endParaRPr lang="en-US" sz="2400" dirty="0">
              <a:cs typeface="Times New Roman" pitchFamily="18" charset="0"/>
            </a:endParaRPr>
          </a:p>
          <a:p>
            <a:pPr lvl="1">
              <a:defRPr/>
            </a:pPr>
            <a:endParaRPr lang="en-US" sz="2500" dirty="0"/>
          </a:p>
          <a:p>
            <a:pPr lvl="1">
              <a:defRPr/>
            </a:pPr>
            <a:r>
              <a:rPr lang="en-US" sz="2500" dirty="0"/>
              <a:t>Remember that </a:t>
            </a:r>
          </a:p>
          <a:p>
            <a:pPr marL="0" indent="0">
              <a:buNone/>
            </a:pPr>
            <a:endParaRPr lang="en-US" sz="2400" dirty="0">
              <a:cs typeface="Times New Roman" pitchFamily="18" charset="0"/>
            </a:endParaRPr>
          </a:p>
          <a:p>
            <a:endParaRPr lang="en-US" dirty="0"/>
          </a:p>
        </p:txBody>
      </p:sp>
      <p:grpSp>
        <p:nvGrpSpPr>
          <p:cNvPr id="15" name="Group 15"/>
          <p:cNvGrpSpPr/>
          <p:nvPr/>
        </p:nvGrpSpPr>
        <p:grpSpPr>
          <a:xfrm>
            <a:off x="6477000" y="3962400"/>
            <a:ext cx="3624940" cy="2286000"/>
            <a:chOff x="2318660" y="4038600"/>
            <a:chExt cx="3624940" cy="2286000"/>
          </a:xfrm>
        </p:grpSpPr>
        <p:sp>
          <p:nvSpPr>
            <p:cNvPr id="14" name="Rectangle 13"/>
            <p:cNvSpPr/>
            <p:nvPr/>
          </p:nvSpPr>
          <p:spPr>
            <a:xfrm>
              <a:off x="3352800" y="4572000"/>
              <a:ext cx="1676400" cy="12192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latin typeface="Times New Roman" pitchFamily="18" charset="0"/>
                  <a:cs typeface="Times New Roman" pitchFamily="18" charset="0"/>
                </a:rPr>
                <a:t>B</a:t>
              </a:r>
            </a:p>
          </p:txBody>
        </p:sp>
        <p:sp>
          <p:nvSpPr>
            <p:cNvPr id="10" name="TextBox 9"/>
            <p:cNvSpPr txBox="1"/>
            <p:nvPr/>
          </p:nvSpPr>
          <p:spPr>
            <a:xfrm>
              <a:off x="5105400" y="47244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4</a:t>
              </a:r>
            </a:p>
          </p:txBody>
        </p:sp>
        <p:grpSp>
          <p:nvGrpSpPr>
            <p:cNvPr id="16" name="Group 14"/>
            <p:cNvGrpSpPr/>
            <p:nvPr/>
          </p:nvGrpSpPr>
          <p:grpSpPr>
            <a:xfrm>
              <a:off x="2318660" y="4038600"/>
              <a:ext cx="3624940" cy="2286000"/>
              <a:chOff x="2318660" y="4038600"/>
              <a:chExt cx="3624940" cy="2286000"/>
            </a:xfrm>
          </p:grpSpPr>
          <p:sp>
            <p:nvSpPr>
              <p:cNvPr id="5" name="Rectangle 4"/>
              <p:cNvSpPr/>
              <p:nvPr/>
            </p:nvSpPr>
            <p:spPr>
              <a:xfrm>
                <a:off x="2590800" y="4114800"/>
                <a:ext cx="3352800" cy="22098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2318660" y="41148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S</a:t>
                </a:r>
              </a:p>
            </p:txBody>
          </p:sp>
          <p:sp>
            <p:nvSpPr>
              <p:cNvPr id="7" name="TextBox 6"/>
              <p:cNvSpPr txBox="1"/>
              <p:nvPr/>
            </p:nvSpPr>
            <p:spPr>
              <a:xfrm>
                <a:off x="2971800" y="43434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1</a:t>
                </a:r>
              </a:p>
            </p:txBody>
          </p:sp>
          <p:sp>
            <p:nvSpPr>
              <p:cNvPr id="8" name="Arc 7"/>
              <p:cNvSpPr/>
              <p:nvPr/>
            </p:nvSpPr>
            <p:spPr>
              <a:xfrm>
                <a:off x="2590800" y="4114800"/>
                <a:ext cx="914400" cy="914400"/>
              </a:xfrm>
              <a:prstGeom prst="arc">
                <a:avLst>
                  <a:gd name="adj1" fmla="val 16200000"/>
                  <a:gd name="adj2" fmla="val 10445839"/>
                </a:avLst>
              </a:pr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Freeform 8"/>
              <p:cNvSpPr/>
              <p:nvPr/>
            </p:nvSpPr>
            <p:spPr>
              <a:xfrm>
                <a:off x="4495800" y="4114800"/>
                <a:ext cx="1121229" cy="2188029"/>
              </a:xfrm>
              <a:custGeom>
                <a:avLst/>
                <a:gdLst>
                  <a:gd name="connsiteX0" fmla="*/ 664029 w 1121229"/>
                  <a:gd name="connsiteY0" fmla="*/ 0 h 2188029"/>
                  <a:gd name="connsiteX1" fmla="*/ 76200 w 1121229"/>
                  <a:gd name="connsiteY1" fmla="*/ 1208315 h 2188029"/>
                  <a:gd name="connsiteX2" fmla="*/ 1121229 w 1121229"/>
                  <a:gd name="connsiteY2" fmla="*/ 2188029 h 2188029"/>
                </a:gdLst>
                <a:ahLst/>
                <a:cxnLst>
                  <a:cxn ang="0">
                    <a:pos x="connsiteX0" y="connsiteY0"/>
                  </a:cxn>
                  <a:cxn ang="0">
                    <a:pos x="connsiteX1" y="connsiteY1"/>
                  </a:cxn>
                  <a:cxn ang="0">
                    <a:pos x="connsiteX2" y="connsiteY2"/>
                  </a:cxn>
                </a:cxnLst>
                <a:rect l="l" t="t" r="r" b="b"/>
                <a:pathLst>
                  <a:path w="1121229" h="2188029">
                    <a:moveTo>
                      <a:pt x="664029" y="0"/>
                    </a:moveTo>
                    <a:cubicBezTo>
                      <a:pt x="332014" y="421822"/>
                      <a:pt x="0" y="843644"/>
                      <a:pt x="76200" y="1208315"/>
                    </a:cubicBezTo>
                    <a:cubicBezTo>
                      <a:pt x="152400" y="1572986"/>
                      <a:pt x="930729" y="2064658"/>
                      <a:pt x="1121229" y="2188029"/>
                    </a:cubicBezTo>
                  </a:path>
                </a:pathLst>
              </a:cu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Connector 10"/>
              <p:cNvCxnSpPr/>
              <p:nvPr/>
            </p:nvCxnSpPr>
            <p:spPr>
              <a:xfrm>
                <a:off x="2590800" y="5138058"/>
                <a:ext cx="2438400" cy="76200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81400" y="40386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2</a:t>
                </a:r>
              </a:p>
            </p:txBody>
          </p:sp>
          <p:sp>
            <p:nvSpPr>
              <p:cNvPr id="13" name="TextBox 12"/>
              <p:cNvSpPr txBox="1"/>
              <p:nvPr/>
            </p:nvSpPr>
            <p:spPr>
              <a:xfrm>
                <a:off x="2895600" y="5715000"/>
                <a:ext cx="457200" cy="381000"/>
              </a:xfrm>
              <a:prstGeom prst="rect">
                <a:avLst/>
              </a:prstGeom>
              <a:noFill/>
            </p:spPr>
            <p:txBody>
              <a:bodyPr wrap="square" rtlCol="0">
                <a:spAutoFit/>
              </a:bodyPr>
              <a:lstStyle/>
              <a:p>
                <a:r>
                  <a:rPr lang="en-US" i="1" dirty="0">
                    <a:latin typeface="Times New Roman" pitchFamily="18" charset="0"/>
                    <a:cs typeface="Times New Roman" pitchFamily="18" charset="0"/>
                  </a:rPr>
                  <a:t>A</a:t>
                </a:r>
                <a:r>
                  <a:rPr lang="en-US" baseline="-25000" dirty="0">
                    <a:latin typeface="Times New Roman" pitchFamily="18" charset="0"/>
                    <a:cs typeface="Times New Roman" pitchFamily="18" charset="0"/>
                  </a:rPr>
                  <a:t>3</a:t>
                </a:r>
              </a:p>
            </p:txBody>
          </p:sp>
        </p:grpSp>
      </p:grpSp>
      <p:graphicFrame>
        <p:nvGraphicFramePr>
          <p:cNvPr id="18" name="Object 17"/>
          <p:cNvGraphicFramePr>
            <a:graphicFrameLocks noChangeAspect="1"/>
          </p:cNvGraphicFramePr>
          <p:nvPr/>
        </p:nvGraphicFramePr>
        <p:xfrm>
          <a:off x="3581401" y="5219700"/>
          <a:ext cx="2593975" cy="838200"/>
        </p:xfrm>
        <a:graphic>
          <a:graphicData uri="http://schemas.openxmlformats.org/presentationml/2006/ole">
            <mc:AlternateContent xmlns:mc="http://schemas.openxmlformats.org/markup-compatibility/2006">
              <mc:Choice xmlns:v="urn:schemas-microsoft-com:vml" Requires="v">
                <p:oleObj name="Equation" r:id="rId3" imgW="1295400" imgH="419100" progId="Equation.3">
                  <p:embed/>
                </p:oleObj>
              </mc:Choice>
              <mc:Fallback>
                <p:oleObj name="Equation" r:id="rId3" imgW="1295400" imgH="419100" progId="Equation.3">
                  <p:embed/>
                  <p:pic>
                    <p:nvPicPr>
                      <p:cNvPr id="18"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1" y="5219700"/>
                        <a:ext cx="259397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8426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2150" y="-19050"/>
            <a:ext cx="8229600" cy="1143000"/>
          </a:xfrm>
        </p:spPr>
        <p:txBody>
          <a:bodyPr/>
          <a:lstStyle/>
          <a:p>
            <a:r>
              <a:rPr lang="en-US" sz="3600" dirty="0">
                <a:latin typeface="+mn-lt"/>
                <a:cs typeface="Times New Roman" pitchFamily="18" charset="0"/>
              </a:rPr>
              <a:t>The Law of Total Probability</a:t>
            </a:r>
            <a:endParaRPr lang="en-US" sz="3600" dirty="0">
              <a:latin typeface="+mn-lt"/>
            </a:endParaRPr>
          </a:p>
        </p:txBody>
      </p:sp>
      <p:sp>
        <p:nvSpPr>
          <p:cNvPr id="4" name="Slide Number Placeholder 3"/>
          <p:cNvSpPr>
            <a:spLocks noGrp="1"/>
          </p:cNvSpPr>
          <p:nvPr>
            <p:ph type="sldNum" sz="quarter" idx="12"/>
          </p:nvPr>
        </p:nvSpPr>
        <p:spPr/>
        <p:txBody>
          <a:bodyPr/>
          <a:lstStyle/>
          <a:p>
            <a:fld id="{C17A4BB5-F5F6-4DB8-BE2D-D1CF9FC8F599}" type="slidenum">
              <a:rPr lang="en-US" smtClean="0"/>
              <a:pPr/>
              <a:t>66</a:t>
            </a:fld>
            <a:endParaRPr lang="en-US"/>
          </a:p>
        </p:txBody>
      </p:sp>
      <p:sp>
        <p:nvSpPr>
          <p:cNvPr id="3" name="Content Placeholder 2"/>
          <p:cNvSpPr>
            <a:spLocks noGrp="1"/>
          </p:cNvSpPr>
          <p:nvPr>
            <p:ph sz="quarter" idx="1"/>
          </p:nvPr>
        </p:nvSpPr>
        <p:spPr>
          <a:xfrm>
            <a:off x="1981200" y="1219200"/>
            <a:ext cx="8305800" cy="4937760"/>
          </a:xfrm>
        </p:spPr>
        <p:txBody>
          <a:bodyPr>
            <a:normAutofit/>
          </a:bodyPr>
          <a:lstStyle/>
          <a:p>
            <a:pPr marL="0" indent="0">
              <a:buNone/>
              <a:defRPr/>
            </a:pPr>
            <a:r>
              <a:rPr lang="en-US" sz="3000" dirty="0">
                <a:cs typeface="Times New Roman" pitchFamily="18" charset="0"/>
              </a:rPr>
              <a:t>If </a:t>
            </a:r>
            <a:r>
              <a:rPr lang="en-US" sz="3000" i="1" dirty="0">
                <a:cs typeface="Times New Roman" pitchFamily="18" charset="0"/>
              </a:rPr>
              <a:t>A</a:t>
            </a:r>
            <a:r>
              <a:rPr lang="en-US" sz="3000" baseline="-30000" dirty="0">
                <a:cs typeface="Times New Roman" pitchFamily="18" charset="0"/>
              </a:rPr>
              <a:t>1</a:t>
            </a:r>
            <a:r>
              <a:rPr lang="en-US" sz="3000" dirty="0">
                <a:cs typeface="Times New Roman" pitchFamily="18" charset="0"/>
              </a:rPr>
              <a:t>, ..., </a:t>
            </a:r>
            <a:r>
              <a:rPr lang="en-US" sz="3000" i="1" dirty="0">
                <a:cs typeface="Times New Roman" pitchFamily="18" charset="0"/>
              </a:rPr>
              <a:t>A</a:t>
            </a:r>
            <a:r>
              <a:rPr lang="en-US" sz="3000" i="1" baseline="-30000" dirty="0">
                <a:cs typeface="Times New Roman" pitchFamily="18" charset="0"/>
              </a:rPr>
              <a:t>n</a:t>
            </a:r>
            <a:r>
              <a:rPr lang="en-US" sz="3000" dirty="0">
                <a:cs typeface="Times New Roman" pitchFamily="18" charset="0"/>
              </a:rPr>
              <a:t> are a set of mutually exclusive and exhaustive events, then for any other event </a:t>
            </a:r>
            <a:r>
              <a:rPr lang="en-US" sz="3000" i="1" dirty="0">
                <a:cs typeface="Times New Roman" pitchFamily="18" charset="0"/>
              </a:rPr>
              <a:t>B</a:t>
            </a:r>
            <a:r>
              <a:rPr lang="en-US" sz="3000" dirty="0">
                <a:cs typeface="Times New Roman" pitchFamily="18" charset="0"/>
              </a:rPr>
              <a:t>,</a:t>
            </a:r>
          </a:p>
          <a:p>
            <a:pPr>
              <a:buNone/>
              <a:defRPr/>
            </a:pPr>
            <a:r>
              <a:rPr lang="en-US" sz="2800" dirty="0">
                <a:cs typeface="Times New Roman" pitchFamily="18" charset="0"/>
              </a:rPr>
              <a:t>		</a:t>
            </a:r>
            <a:r>
              <a:rPr lang="en-US" sz="2800" i="1" dirty="0">
                <a:cs typeface="Times New Roman" pitchFamily="18" charset="0"/>
              </a:rPr>
              <a:t>P</a:t>
            </a:r>
            <a:r>
              <a:rPr lang="en-US" sz="2800" dirty="0">
                <a:cs typeface="Times New Roman" pitchFamily="18" charset="0"/>
              </a:rPr>
              <a:t>(</a:t>
            </a:r>
            <a:r>
              <a:rPr lang="en-US" sz="2800" i="1" dirty="0">
                <a:cs typeface="Times New Roman" pitchFamily="18" charset="0"/>
              </a:rPr>
              <a:t>B</a:t>
            </a:r>
            <a:r>
              <a:rPr lang="en-US" sz="2800" dirty="0">
                <a:cs typeface="Times New Roman" pitchFamily="18" charset="0"/>
              </a:rPr>
              <a:t>) = </a:t>
            </a:r>
            <a:r>
              <a:rPr lang="en-US" sz="2800" i="1" dirty="0">
                <a:cs typeface="Times New Roman" pitchFamily="18" charset="0"/>
              </a:rPr>
              <a:t>P</a:t>
            </a:r>
            <a:r>
              <a:rPr lang="en-US" sz="2800" dirty="0">
                <a:cs typeface="Times New Roman" pitchFamily="18" charset="0"/>
              </a:rPr>
              <a:t>(</a:t>
            </a:r>
            <a:r>
              <a:rPr lang="en-US" sz="2800" i="1" dirty="0">
                <a:cs typeface="Times New Roman" pitchFamily="18" charset="0"/>
              </a:rPr>
              <a:t>B</a:t>
            </a:r>
            <a:r>
              <a:rPr lang="en-US" sz="2800" dirty="0">
                <a:cs typeface="Times New Roman" pitchFamily="18" charset="0"/>
              </a:rPr>
              <a:t>|</a:t>
            </a:r>
            <a:r>
              <a:rPr lang="en-US" sz="2800" i="1" dirty="0">
                <a:cs typeface="Times New Roman" pitchFamily="18" charset="0"/>
              </a:rPr>
              <a:t>A</a:t>
            </a:r>
            <a:r>
              <a:rPr lang="en-US" sz="2800" baseline="-30000" dirty="0">
                <a:cs typeface="Times New Roman" pitchFamily="18" charset="0"/>
              </a:rPr>
              <a:t>1</a:t>
            </a:r>
            <a:r>
              <a:rPr lang="en-US" sz="2800" dirty="0">
                <a:cs typeface="Times New Roman" pitchFamily="18" charset="0"/>
              </a:rPr>
              <a:t>) </a:t>
            </a:r>
            <a:r>
              <a:rPr lang="en-US" sz="2800" dirty="0">
                <a:cs typeface="Times New Roman" pitchFamily="18" charset="0"/>
                <a:sym typeface="Symbol"/>
              </a:rPr>
              <a:t> </a:t>
            </a:r>
            <a:r>
              <a:rPr lang="en-US" sz="2800" i="1" dirty="0">
                <a:cs typeface="Times New Roman" pitchFamily="18" charset="0"/>
              </a:rPr>
              <a:t>P</a:t>
            </a:r>
            <a:r>
              <a:rPr lang="en-US" sz="2800" dirty="0">
                <a:cs typeface="Times New Roman" pitchFamily="18" charset="0"/>
              </a:rPr>
              <a:t>(</a:t>
            </a:r>
            <a:r>
              <a:rPr lang="en-US" sz="2800" i="1" dirty="0">
                <a:cs typeface="Times New Roman" pitchFamily="18" charset="0"/>
              </a:rPr>
              <a:t>A</a:t>
            </a:r>
            <a:r>
              <a:rPr lang="en-US" sz="2800" baseline="-30000" dirty="0">
                <a:cs typeface="Times New Roman" pitchFamily="18" charset="0"/>
              </a:rPr>
              <a:t>1</a:t>
            </a:r>
            <a:r>
              <a:rPr lang="en-US" sz="2800" dirty="0">
                <a:cs typeface="Times New Roman" pitchFamily="18" charset="0"/>
              </a:rPr>
              <a:t>) + ... + </a:t>
            </a:r>
            <a:r>
              <a:rPr lang="en-US" sz="2800" i="1" dirty="0">
                <a:cs typeface="Times New Roman" pitchFamily="18" charset="0"/>
              </a:rPr>
              <a:t>P</a:t>
            </a:r>
            <a:r>
              <a:rPr lang="en-US" sz="2800" dirty="0">
                <a:cs typeface="Times New Roman" pitchFamily="18" charset="0"/>
              </a:rPr>
              <a:t>(</a:t>
            </a:r>
            <a:r>
              <a:rPr lang="en-US" sz="2800" i="1" dirty="0" err="1">
                <a:cs typeface="Times New Roman" pitchFamily="18" charset="0"/>
              </a:rPr>
              <a:t>B</a:t>
            </a:r>
            <a:r>
              <a:rPr lang="en-US" sz="2800" dirty="0" err="1">
                <a:cs typeface="Times New Roman" pitchFamily="18" charset="0"/>
              </a:rPr>
              <a:t>|</a:t>
            </a:r>
            <a:r>
              <a:rPr lang="en-US" sz="2800" i="1" dirty="0" err="1">
                <a:cs typeface="Times New Roman" pitchFamily="18" charset="0"/>
              </a:rPr>
              <a:t>A</a:t>
            </a:r>
            <a:r>
              <a:rPr lang="en-US" sz="2800" i="1" baseline="-30000" dirty="0" err="1">
                <a:cs typeface="Times New Roman" pitchFamily="18" charset="0"/>
              </a:rPr>
              <a:t>n</a:t>
            </a:r>
            <a:r>
              <a:rPr lang="en-US" sz="2800" dirty="0">
                <a:cs typeface="Times New Roman" pitchFamily="18" charset="0"/>
              </a:rPr>
              <a:t>)</a:t>
            </a:r>
            <a:r>
              <a:rPr lang="en-US" sz="2800" dirty="0">
                <a:cs typeface="Times New Roman" pitchFamily="18" charset="0"/>
                <a:sym typeface="Symbol"/>
              </a:rPr>
              <a:t>  </a:t>
            </a:r>
            <a:r>
              <a:rPr lang="en-US" sz="2800" i="1" dirty="0">
                <a:cs typeface="Times New Roman" pitchFamily="18" charset="0"/>
              </a:rPr>
              <a:t>P</a:t>
            </a:r>
            <a:r>
              <a:rPr lang="en-US" sz="2800" dirty="0">
                <a:cs typeface="Times New Roman" pitchFamily="18" charset="0"/>
              </a:rPr>
              <a:t>(</a:t>
            </a:r>
            <a:r>
              <a:rPr lang="en-US" sz="2800" i="1" dirty="0">
                <a:cs typeface="Times New Roman" pitchFamily="18" charset="0"/>
              </a:rPr>
              <a:t>A</a:t>
            </a:r>
            <a:r>
              <a:rPr lang="en-US" sz="2800" i="1" baseline="-30000" dirty="0">
                <a:cs typeface="Times New Roman" pitchFamily="18" charset="0"/>
              </a:rPr>
              <a:t>n</a:t>
            </a:r>
            <a:r>
              <a:rPr lang="en-US" sz="2800" dirty="0">
                <a:cs typeface="Times New Roman" pitchFamily="18" charset="0"/>
              </a:rPr>
              <a:t>)</a:t>
            </a:r>
          </a:p>
          <a:p>
            <a:pPr>
              <a:buNone/>
              <a:defRPr/>
            </a:pPr>
            <a:r>
              <a:rPr lang="en-US" sz="2800" dirty="0">
                <a:cs typeface="Times New Roman" pitchFamily="18" charset="0"/>
              </a:rPr>
              <a:t>		         = </a:t>
            </a:r>
            <a:r>
              <a:rPr lang="en-US" sz="2800" dirty="0">
                <a:cs typeface="Times New Roman" pitchFamily="18" charset="0"/>
                <a:sym typeface="Symbol" pitchFamily="18" charset="2"/>
              </a:rPr>
              <a:t></a:t>
            </a:r>
            <a:r>
              <a:rPr lang="en-US" sz="2800" dirty="0">
                <a:cs typeface="Times New Roman" pitchFamily="18" charset="0"/>
              </a:rPr>
              <a:t> </a:t>
            </a:r>
            <a:r>
              <a:rPr lang="en-US" sz="2800" i="1" dirty="0">
                <a:cs typeface="Times New Roman" pitchFamily="18" charset="0"/>
              </a:rPr>
              <a:t>P</a:t>
            </a:r>
            <a:r>
              <a:rPr lang="en-US" sz="2800" dirty="0">
                <a:cs typeface="Times New Roman" pitchFamily="18" charset="0"/>
              </a:rPr>
              <a:t>(</a:t>
            </a:r>
            <a:r>
              <a:rPr lang="en-US" sz="2800" i="1" dirty="0" err="1">
                <a:cs typeface="Times New Roman" pitchFamily="18" charset="0"/>
              </a:rPr>
              <a:t>B</a:t>
            </a:r>
            <a:r>
              <a:rPr lang="en-US" sz="2800" dirty="0" err="1">
                <a:cs typeface="Times New Roman" pitchFamily="18" charset="0"/>
              </a:rPr>
              <a:t>|</a:t>
            </a:r>
            <a:r>
              <a:rPr lang="en-US" sz="2800" i="1" dirty="0" err="1">
                <a:cs typeface="Times New Roman" pitchFamily="18" charset="0"/>
              </a:rPr>
              <a:t>A</a:t>
            </a:r>
            <a:r>
              <a:rPr lang="en-US" sz="2800" i="1" baseline="-30000" dirty="0" err="1">
                <a:cs typeface="Times New Roman" pitchFamily="18" charset="0"/>
              </a:rPr>
              <a:t>i</a:t>
            </a:r>
            <a:r>
              <a:rPr lang="en-US" sz="2800" dirty="0">
                <a:cs typeface="Times New Roman" pitchFamily="18" charset="0"/>
              </a:rPr>
              <a:t>)</a:t>
            </a:r>
            <a:r>
              <a:rPr lang="en-US" sz="2800" dirty="0">
                <a:cs typeface="Times New Roman" pitchFamily="18" charset="0"/>
                <a:sym typeface="Symbol"/>
              </a:rPr>
              <a:t>  </a:t>
            </a:r>
            <a:r>
              <a:rPr lang="en-US" sz="2800" i="1" dirty="0">
                <a:cs typeface="Times New Roman" pitchFamily="18" charset="0"/>
              </a:rPr>
              <a:t>P</a:t>
            </a:r>
            <a:r>
              <a:rPr lang="en-US" sz="2800" dirty="0">
                <a:cs typeface="Times New Roman" pitchFamily="18" charset="0"/>
              </a:rPr>
              <a:t>(</a:t>
            </a:r>
            <a:r>
              <a:rPr lang="en-US" sz="2800" i="1" dirty="0">
                <a:cs typeface="Times New Roman" pitchFamily="18" charset="0"/>
              </a:rPr>
              <a:t>A</a:t>
            </a:r>
            <a:r>
              <a:rPr lang="en-US" sz="2800" i="1" baseline="-30000" dirty="0">
                <a:cs typeface="Times New Roman" pitchFamily="18" charset="0"/>
              </a:rPr>
              <a:t>i</a:t>
            </a:r>
            <a:r>
              <a:rPr lang="en-US" sz="2800" dirty="0">
                <a:cs typeface="Times New Roman" pitchFamily="18" charset="0"/>
              </a:rPr>
              <a:t>)</a:t>
            </a:r>
          </a:p>
          <a:p>
            <a:pPr>
              <a:buNone/>
              <a:defRPr/>
            </a:pPr>
            <a:endParaRPr lang="en-US" sz="2800" dirty="0">
              <a:cs typeface="Times New Roman" pitchFamily="18" charset="0"/>
            </a:endParaRPr>
          </a:p>
          <a:p>
            <a:pPr lvl="1">
              <a:defRPr/>
            </a:pPr>
            <a:r>
              <a:rPr lang="en-US" sz="2500" dirty="0">
                <a:cs typeface="Times New Roman" pitchFamily="18" charset="0"/>
              </a:rPr>
              <a:t>Mutually exclusive events cannot occur at the same time, so have no common outcomes. </a:t>
            </a:r>
          </a:p>
          <a:p>
            <a:pPr marL="457200" lvl="1" indent="0">
              <a:buNone/>
              <a:defRPr/>
            </a:pPr>
            <a:endParaRPr lang="en-US" sz="2500" dirty="0">
              <a:cs typeface="Times New Roman" pitchFamily="18" charset="0"/>
            </a:endParaRPr>
          </a:p>
          <a:p>
            <a:pPr lvl="1">
              <a:defRPr/>
            </a:pPr>
            <a:r>
              <a:rPr lang="en-US" sz="2500" dirty="0">
                <a:cs typeface="Times New Roman" pitchFamily="18" charset="0"/>
              </a:rPr>
              <a:t>Exhaustive events encompass the whole sample space, and hence, at least one of the events must occur.</a:t>
            </a:r>
          </a:p>
          <a:p>
            <a:pPr lvl="1">
              <a:defRPr/>
            </a:pPr>
            <a:endParaRPr lang="en-US" sz="2500" dirty="0"/>
          </a:p>
          <a:p>
            <a:pPr marL="274320" lvl="1" indent="0">
              <a:buNone/>
              <a:defRPr/>
            </a:pPr>
            <a:endParaRPr lang="en-US" sz="2500" dirty="0">
              <a:latin typeface="Times New Roman" pitchFamily="18" charset="0"/>
              <a:cs typeface="Times New Roman" pitchFamily="18" charset="0"/>
            </a:endParaRPr>
          </a:p>
          <a:p>
            <a:pPr lvl="1">
              <a:defRPr/>
            </a:pPr>
            <a:endParaRPr lang="en-US" dirty="0">
              <a:latin typeface="Times New Roman" pitchFamily="18" charset="0"/>
              <a:cs typeface="Times New Roman" pitchFamily="18" charset="0"/>
            </a:endParaRPr>
          </a:p>
          <a:p>
            <a:pPr>
              <a:buNone/>
            </a:pPr>
            <a:endParaRPr lang="en-US" dirty="0"/>
          </a:p>
          <a:p>
            <a:pPr>
              <a:buNone/>
            </a:pPr>
            <a:endParaRPr lang="en-US" dirty="0"/>
          </a:p>
        </p:txBody>
      </p:sp>
    </p:spTree>
    <p:extLst>
      <p:ext uri="{BB962C8B-B14F-4D97-AF65-F5344CB8AC3E}">
        <p14:creationId xmlns:p14="http://schemas.microsoft.com/office/powerpoint/2010/main" val="266866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861259"/>
          </a:xfrm>
        </p:spPr>
        <p:txBody>
          <a:bodyPr/>
          <a:lstStyle/>
          <a:p>
            <a:r>
              <a:rPr lang="en-US" sz="3600" dirty="0" err="1">
                <a:cs typeface="Times New Roman" pitchFamily="18" charset="0"/>
              </a:rPr>
              <a:t>Bayes</a:t>
            </a:r>
            <a:r>
              <a:rPr lang="en-US" sz="3600" dirty="0">
                <a:cs typeface="Times New Roman" pitchFamily="18" charset="0"/>
              </a:rPr>
              <a:t>' Theorem</a:t>
            </a:r>
          </a:p>
        </p:txBody>
      </p:sp>
      <p:sp>
        <p:nvSpPr>
          <p:cNvPr id="4" name="Slide Number Placeholder 3"/>
          <p:cNvSpPr>
            <a:spLocks noGrp="1"/>
          </p:cNvSpPr>
          <p:nvPr>
            <p:ph type="sldNum" sz="quarter" idx="12"/>
          </p:nvPr>
        </p:nvSpPr>
        <p:spPr/>
        <p:txBody>
          <a:bodyPr/>
          <a:lstStyle/>
          <a:p>
            <a:fld id="{C17A4BB5-F5F6-4DB8-BE2D-D1CF9FC8F599}" type="slidenum">
              <a:rPr lang="en-US" smtClean="0"/>
              <a:pPr/>
              <a:t>67</a:t>
            </a:fld>
            <a:endParaRPr lang="en-US"/>
          </a:p>
        </p:txBody>
      </p:sp>
      <p:sp>
        <p:nvSpPr>
          <p:cNvPr id="3" name="Content Placeholder 2"/>
          <p:cNvSpPr>
            <a:spLocks noGrp="1"/>
          </p:cNvSpPr>
          <p:nvPr>
            <p:ph sz="quarter" idx="1"/>
          </p:nvPr>
        </p:nvSpPr>
        <p:spPr/>
        <p:txBody>
          <a:bodyPr>
            <a:normAutofit/>
          </a:bodyPr>
          <a:lstStyle/>
          <a:p>
            <a:pPr>
              <a:defRPr/>
            </a:pPr>
            <a:r>
              <a:rPr lang="en-US" sz="2400" dirty="0">
                <a:cs typeface="Times New Roman" pitchFamily="18" charset="0"/>
              </a:rPr>
              <a:t>Let </a:t>
            </a:r>
            <a:r>
              <a:rPr lang="en-US" sz="2400" i="1" dirty="0">
                <a:cs typeface="Times New Roman" pitchFamily="18" charset="0"/>
              </a:rPr>
              <a:t>A</a:t>
            </a:r>
            <a:r>
              <a:rPr lang="en-US" sz="2400" baseline="-30000" dirty="0">
                <a:cs typeface="Times New Roman" pitchFamily="18" charset="0"/>
              </a:rPr>
              <a:t>1</a:t>
            </a:r>
            <a:r>
              <a:rPr lang="en-US" sz="2400" dirty="0">
                <a:cs typeface="Times New Roman" pitchFamily="18" charset="0"/>
              </a:rPr>
              <a:t>, </a:t>
            </a:r>
            <a:r>
              <a:rPr lang="en-US" sz="2400" i="1" dirty="0">
                <a:cs typeface="Times New Roman" pitchFamily="18" charset="0"/>
              </a:rPr>
              <a:t>A</a:t>
            </a:r>
            <a:r>
              <a:rPr lang="en-US" sz="2400" baseline="-30000" dirty="0">
                <a:cs typeface="Times New Roman" pitchFamily="18" charset="0"/>
              </a:rPr>
              <a:t>2</a:t>
            </a:r>
            <a:r>
              <a:rPr lang="en-US" sz="2400" dirty="0">
                <a:cs typeface="Times New Roman" pitchFamily="18" charset="0"/>
              </a:rPr>
              <a:t>, ... , </a:t>
            </a:r>
            <a:r>
              <a:rPr lang="en-US" sz="2400" i="1" dirty="0">
                <a:cs typeface="Times New Roman" pitchFamily="18" charset="0"/>
              </a:rPr>
              <a:t>A</a:t>
            </a:r>
            <a:r>
              <a:rPr lang="en-US" sz="2400" i="1" baseline="-30000" dirty="0">
                <a:cs typeface="Times New Roman" pitchFamily="18" charset="0"/>
              </a:rPr>
              <a:t>n</a:t>
            </a:r>
            <a:r>
              <a:rPr lang="en-US" sz="2400" dirty="0">
                <a:cs typeface="Times New Roman" pitchFamily="18" charset="0"/>
              </a:rPr>
              <a:t> be a collection of </a:t>
            </a:r>
            <a:r>
              <a:rPr lang="en-US" sz="2400" i="1" dirty="0">
                <a:cs typeface="Times New Roman" pitchFamily="18" charset="0"/>
              </a:rPr>
              <a:t>n</a:t>
            </a:r>
            <a:r>
              <a:rPr lang="en-US" sz="2400" dirty="0">
                <a:cs typeface="Times New Roman" pitchFamily="18" charset="0"/>
              </a:rPr>
              <a:t> mutually exclusive and exhaustive events where </a:t>
            </a:r>
            <a:r>
              <a:rPr lang="en-US" sz="2400" i="1" dirty="0">
                <a:cs typeface="Times New Roman" pitchFamily="18" charset="0"/>
              </a:rPr>
              <a:t>P</a:t>
            </a:r>
            <a:r>
              <a:rPr lang="en-US" sz="2400" dirty="0">
                <a:cs typeface="Times New Roman" pitchFamily="18" charset="0"/>
              </a:rPr>
              <a:t>(</a:t>
            </a:r>
            <a:r>
              <a:rPr lang="en-US" sz="2400" i="1" dirty="0">
                <a:cs typeface="Times New Roman" pitchFamily="18" charset="0"/>
              </a:rPr>
              <a:t>A</a:t>
            </a:r>
            <a:r>
              <a:rPr lang="en-US" sz="2400" i="1" baseline="-25000" dirty="0">
                <a:cs typeface="Times New Roman" pitchFamily="18" charset="0"/>
              </a:rPr>
              <a:t>i</a:t>
            </a:r>
            <a:r>
              <a:rPr lang="en-US" sz="2400" dirty="0">
                <a:cs typeface="Times New Roman" pitchFamily="18" charset="0"/>
              </a:rPr>
              <a:t>) &gt; 0 for all </a:t>
            </a:r>
            <a:r>
              <a:rPr lang="en-US" sz="2400" i="1" dirty="0" err="1">
                <a:cs typeface="Times New Roman" pitchFamily="18" charset="0"/>
              </a:rPr>
              <a:t>i</a:t>
            </a:r>
            <a:r>
              <a:rPr lang="en-US" sz="2400" dirty="0">
                <a:cs typeface="Times New Roman" pitchFamily="18" charset="0"/>
              </a:rPr>
              <a:t>. Then, for any other event </a:t>
            </a:r>
            <a:r>
              <a:rPr lang="en-US" sz="2400" i="1" dirty="0">
                <a:cs typeface="Times New Roman" pitchFamily="18" charset="0"/>
              </a:rPr>
              <a:t>B</a:t>
            </a:r>
            <a:r>
              <a:rPr lang="en-US" sz="2400" dirty="0">
                <a:cs typeface="Times New Roman" pitchFamily="18" charset="0"/>
              </a:rPr>
              <a:t> for which </a:t>
            </a:r>
            <a:r>
              <a:rPr lang="en-US" sz="2400" i="1" dirty="0">
                <a:cs typeface="Times New Roman" pitchFamily="18" charset="0"/>
              </a:rPr>
              <a:t>P</a:t>
            </a:r>
            <a:r>
              <a:rPr lang="en-US" sz="2400" dirty="0">
                <a:cs typeface="Times New Roman" pitchFamily="18" charset="0"/>
              </a:rPr>
              <a:t>(</a:t>
            </a:r>
            <a:r>
              <a:rPr lang="en-US" sz="2400" i="1" dirty="0">
                <a:cs typeface="Times New Roman" pitchFamily="18" charset="0"/>
              </a:rPr>
              <a:t>B</a:t>
            </a:r>
            <a:r>
              <a:rPr lang="en-US" sz="2400" dirty="0">
                <a:cs typeface="Times New Roman" pitchFamily="18" charset="0"/>
              </a:rPr>
              <a:t>) &gt; 0</a:t>
            </a:r>
          </a:p>
          <a:p>
            <a:pPr>
              <a:defRPr/>
            </a:pPr>
            <a:endParaRPr lang="en-US" sz="2400" dirty="0">
              <a:cs typeface="Times New Roman" pitchFamily="18" charset="0"/>
            </a:endParaRPr>
          </a:p>
          <a:p>
            <a:pPr>
              <a:buNone/>
              <a:defRPr/>
            </a:pPr>
            <a:endParaRPr lang="en-US" sz="2400" dirty="0">
              <a:cs typeface="Times New Roman" pitchFamily="18" charset="0"/>
            </a:endParaRPr>
          </a:p>
          <a:p>
            <a:pPr>
              <a:buNone/>
              <a:defRPr/>
            </a:pPr>
            <a:endParaRPr lang="en-US" sz="2400" dirty="0">
              <a:cs typeface="Times New Roman" pitchFamily="18" charset="0"/>
            </a:endParaRPr>
          </a:p>
          <a:p>
            <a:pPr>
              <a:buNone/>
              <a:defRPr/>
            </a:pPr>
            <a:r>
              <a:rPr lang="en-US" sz="2400" dirty="0">
                <a:cs typeface="Times New Roman" pitchFamily="18" charset="0"/>
              </a:rPr>
              <a:t>	where </a:t>
            </a:r>
            <a:r>
              <a:rPr lang="en-US" sz="2400" i="1" dirty="0">
                <a:cs typeface="Times New Roman" pitchFamily="18" charset="0"/>
              </a:rPr>
              <a:t>k</a:t>
            </a:r>
            <a:r>
              <a:rPr lang="en-US" sz="2400" dirty="0">
                <a:cs typeface="Times New Roman" pitchFamily="18" charset="0"/>
              </a:rPr>
              <a:t> = 1, …, </a:t>
            </a:r>
            <a:r>
              <a:rPr lang="en-US" sz="2400" i="1" dirty="0">
                <a:cs typeface="Times New Roman" pitchFamily="18" charset="0"/>
              </a:rPr>
              <a:t>n</a:t>
            </a:r>
            <a:r>
              <a:rPr lang="en-US" sz="2400" dirty="0">
                <a:cs typeface="Times New Roman" pitchFamily="18" charset="0"/>
              </a:rPr>
              <a:t>.</a:t>
            </a:r>
          </a:p>
          <a:p>
            <a:pPr>
              <a:defRPr/>
            </a:pPr>
            <a:r>
              <a:rPr lang="en-US" sz="2400" dirty="0">
                <a:cs typeface="Times New Roman" pitchFamily="18" charset="0"/>
              </a:rPr>
              <a:t>We use </a:t>
            </a:r>
            <a:r>
              <a:rPr lang="en-US" sz="2400" dirty="0" err="1">
                <a:cs typeface="Times New Roman" pitchFamily="18" charset="0"/>
              </a:rPr>
              <a:t>Bayes</a:t>
            </a:r>
            <a:r>
              <a:rPr lang="en-US" sz="2400" dirty="0">
                <a:cs typeface="Times New Roman" pitchFamily="18" charset="0"/>
              </a:rPr>
              <a:t>' Theorem when we know one conditional probability but are actually interested in a different one! </a:t>
            </a:r>
            <a:endParaRPr lang="en-US" sz="2400" dirty="0"/>
          </a:p>
        </p:txBody>
      </p:sp>
      <p:graphicFrame>
        <p:nvGraphicFramePr>
          <p:cNvPr id="41986" name="Object 4"/>
          <p:cNvGraphicFramePr>
            <a:graphicFrameLocks noChangeAspect="1"/>
          </p:cNvGraphicFramePr>
          <p:nvPr/>
        </p:nvGraphicFramePr>
        <p:xfrm>
          <a:off x="2743202" y="2895601"/>
          <a:ext cx="6553199" cy="1470858"/>
        </p:xfrm>
        <a:graphic>
          <a:graphicData uri="http://schemas.openxmlformats.org/presentationml/2006/ole">
            <mc:AlternateContent xmlns:mc="http://schemas.openxmlformats.org/markup-compatibility/2006">
              <mc:Choice xmlns:v="urn:schemas-microsoft-com:vml" Requires="v">
                <p:oleObj name="Equation" r:id="rId3" imgW="2768400" imgH="622080" progId="Equation.3">
                  <p:embed/>
                </p:oleObj>
              </mc:Choice>
              <mc:Fallback>
                <p:oleObj name="Equation" r:id="rId3" imgW="2768400" imgH="622080" progId="Equation.3">
                  <p:embed/>
                  <p:pic>
                    <p:nvPicPr>
                      <p:cNvPr id="4198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2" y="2895601"/>
                        <a:ext cx="6553199" cy="1470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2944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False Positives Example</a:t>
            </a:r>
            <a:endParaRPr lang="en-US" dirty="0"/>
          </a:p>
        </p:txBody>
      </p:sp>
      <p:sp>
        <p:nvSpPr>
          <p:cNvPr id="3" name="Content Placeholder 2"/>
          <p:cNvSpPr>
            <a:spLocks noGrp="1"/>
          </p:cNvSpPr>
          <p:nvPr>
            <p:ph idx="1"/>
          </p:nvPr>
        </p:nvSpPr>
        <p:spPr>
          <a:xfrm>
            <a:off x="1981200" y="1341438"/>
            <a:ext cx="8229600" cy="4525963"/>
          </a:xfrm>
        </p:spPr>
        <p:txBody>
          <a:bodyPr/>
          <a:lstStyle/>
          <a:p>
            <a:pPr algn="just">
              <a:buNone/>
            </a:pPr>
            <a:r>
              <a:rPr lang="en-US" sz="2400" dirty="0"/>
              <a:t>     1 in 1000 adults have a rare disease.  There is a test for the disease.  Let’s say the test is 99% accurate. If a randomly selected individual tests positive for the  disease, what is the probability that he or she actually has the disease?</a:t>
            </a:r>
          </a:p>
        </p:txBody>
      </p:sp>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68</a:t>
            </a:fld>
            <a:endParaRPr lang="it-IT"/>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Solution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956486" y="21432"/>
            <a:ext cx="8229600" cy="868362"/>
          </a:xfrm>
        </p:spPr>
        <p:txBody>
          <a:bodyPr/>
          <a:lstStyle/>
          <a:p>
            <a:r>
              <a:rPr lang="en-US" altLang="en-US" sz="3600" dirty="0">
                <a:cs typeface="Arial" charset="0"/>
              </a:rPr>
              <a:t>Example</a:t>
            </a:r>
          </a:p>
        </p:txBody>
      </p:sp>
      <p:sp>
        <p:nvSpPr>
          <p:cNvPr id="21507" name="Content Placeholder 2"/>
          <p:cNvSpPr>
            <a:spLocks noGrp="1"/>
          </p:cNvSpPr>
          <p:nvPr>
            <p:ph idx="1"/>
          </p:nvPr>
        </p:nvSpPr>
        <p:spPr>
          <a:xfrm>
            <a:off x="1981200" y="871260"/>
            <a:ext cx="8229600" cy="5681941"/>
          </a:xfrm>
        </p:spPr>
        <p:txBody>
          <a:bodyPr/>
          <a:lstStyle/>
          <a:p>
            <a:pPr marL="0" indent="0">
              <a:buNone/>
            </a:pPr>
            <a:r>
              <a:rPr lang="en-US" altLang="en-US" sz="2000" dirty="0">
                <a:cs typeface="Arial" charset="0"/>
              </a:rPr>
              <a:t>1 in 1000 adults have a rare disease.  There is a test for the disease.  If you have the disease, the test is positive 99% of the time.  If you </a:t>
            </a:r>
            <a:r>
              <a:rPr lang="en-US" altLang="en-US" sz="2000" b="1" dirty="0">
                <a:cs typeface="Arial" charset="0"/>
              </a:rPr>
              <a:t>don’t</a:t>
            </a:r>
            <a:r>
              <a:rPr lang="en-US" altLang="en-US" sz="2000" dirty="0">
                <a:cs typeface="Arial" charset="0"/>
              </a:rPr>
              <a:t> have the disease, the test is positive 2% of the time.  If a randomly selected individual tests positive for the disease, what is the probability that he or she actually has the disease?</a:t>
            </a:r>
          </a:p>
        </p:txBody>
      </p:sp>
      <p:sp>
        <p:nvSpPr>
          <p:cNvPr id="4" name="Slide Number Placeholder 3"/>
          <p:cNvSpPr>
            <a:spLocks noGrp="1"/>
          </p:cNvSpPr>
          <p:nvPr>
            <p:ph type="sldNum" sz="quarter" idx="12"/>
          </p:nvPr>
        </p:nvSpPr>
        <p:spPr/>
        <p:txBody>
          <a:bodyPr/>
          <a:lstStyle/>
          <a:p>
            <a:pPr>
              <a:defRPr/>
            </a:pPr>
            <a:fld id="{92152D1D-5545-49AF-B806-C38B90C9E2EF}" type="slidenum">
              <a:rPr lang="it-IT" smtClean="0"/>
              <a:pPr>
                <a:defRPr/>
              </a:pPr>
              <a:t>70</a:t>
            </a:fld>
            <a:endParaRPr lang="it-IT"/>
          </a:p>
        </p:txBody>
      </p:sp>
    </p:spTree>
    <p:extLst>
      <p:ext uri="{BB962C8B-B14F-4D97-AF65-F5344CB8AC3E}">
        <p14:creationId xmlns:p14="http://schemas.microsoft.com/office/powerpoint/2010/main" val="32464461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Physical Checkups from the Washington Post</a:t>
            </a:r>
          </a:p>
        </p:txBody>
      </p:sp>
      <p:sp>
        <p:nvSpPr>
          <p:cNvPr id="3" name="Content Placeholder 2"/>
          <p:cNvSpPr>
            <a:spLocks noGrp="1"/>
          </p:cNvSpPr>
          <p:nvPr>
            <p:ph idx="1"/>
          </p:nvPr>
        </p:nvSpPr>
        <p:spPr>
          <a:xfrm>
            <a:off x="1981200" y="1600201"/>
            <a:ext cx="8229600" cy="1143000"/>
          </a:xfrm>
        </p:spPr>
        <p:txBody>
          <a:bodyPr/>
          <a:lstStyle/>
          <a:p>
            <a:pPr marL="0" indent="0">
              <a:buNone/>
            </a:pPr>
            <a:r>
              <a:rPr lang="en-US" sz="2600" dirty="0"/>
              <a:t>Annual physical exam is probably unnecessary if you’re generally healthy</a:t>
            </a:r>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p:txBody>
      </p:sp>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71</a:t>
            </a:fld>
            <a:endParaRPr lang="it-IT"/>
          </a:p>
        </p:txBody>
      </p:sp>
      <p:sp>
        <p:nvSpPr>
          <p:cNvPr id="6" name="TextBox 5"/>
          <p:cNvSpPr txBox="1"/>
          <p:nvPr/>
        </p:nvSpPr>
        <p:spPr>
          <a:xfrm>
            <a:off x="2209800" y="2819400"/>
            <a:ext cx="6858000" cy="2893100"/>
          </a:xfrm>
          <a:prstGeom prst="rect">
            <a:avLst/>
          </a:prstGeom>
          <a:noFill/>
        </p:spPr>
        <p:txBody>
          <a:bodyPr wrap="square" rtlCol="0">
            <a:spAutoFit/>
          </a:bodyPr>
          <a:lstStyle/>
          <a:p>
            <a:r>
              <a:rPr lang="en-US" sz="2600" dirty="0"/>
              <a:t>For patients, the negatives include time from work and possibly unnecessary tests.  “Getting a simply urinalysis could lead to a false positive, which could trigger a cascade of more tests, only to discover in the end that you had nothing wrong with you.”</a:t>
            </a:r>
          </a:p>
          <a:p>
            <a:endParaRPr lang="en-US" sz="2600" dirty="0"/>
          </a:p>
        </p:txBody>
      </p:sp>
      <p:sp>
        <p:nvSpPr>
          <p:cNvPr id="7" name="TextBox 6"/>
          <p:cNvSpPr txBox="1"/>
          <p:nvPr/>
        </p:nvSpPr>
        <p:spPr>
          <a:xfrm>
            <a:off x="2286000" y="5715000"/>
            <a:ext cx="7315200" cy="1200329"/>
          </a:xfrm>
          <a:prstGeom prst="rect">
            <a:avLst/>
          </a:prstGeom>
          <a:noFill/>
        </p:spPr>
        <p:txBody>
          <a:bodyPr wrap="square" rtlCol="0">
            <a:spAutoFit/>
          </a:bodyPr>
          <a:lstStyle/>
          <a:p>
            <a:r>
              <a:rPr lang="en-US" dirty="0">
                <a:hlinkClick r:id="rId2"/>
              </a:rPr>
              <a:t>https://</a:t>
            </a:r>
            <a:r>
              <a:rPr lang="en-US" dirty="0" err="1">
                <a:hlinkClick r:id="rId2"/>
              </a:rPr>
              <a:t>www.washingtonpost.com</a:t>
            </a:r>
            <a:r>
              <a:rPr lang="en-US" dirty="0">
                <a:hlinkClick r:id="rId2"/>
              </a:rPr>
              <a:t>/national/health-science/annual-physical-exam-is-probably-unnecessary-if-youre-generally-healthy/2013/02/08/2c1e326a-5f2b-11e2-a389-ee565c81c565_story.html</a:t>
            </a:r>
            <a:endParaRPr lang="en-US" dirty="0"/>
          </a:p>
        </p:txBody>
      </p:sp>
    </p:spTree>
    <p:extLst>
      <p:ext uri="{BB962C8B-B14F-4D97-AF65-F5344CB8AC3E}">
        <p14:creationId xmlns:p14="http://schemas.microsoft.com/office/powerpoint/2010/main" val="42890006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6476"/>
            <a:ext cx="8229600" cy="639762"/>
          </a:xfrm>
        </p:spPr>
        <p:txBody>
          <a:bodyPr/>
          <a:lstStyle/>
          <a:p>
            <a:r>
              <a:rPr lang="en-US" dirty="0">
                <a:latin typeface="+mn-lt"/>
                <a:cs typeface="Times New Roman" pitchFamily="18" charset="0"/>
              </a:rPr>
              <a:t>Example</a:t>
            </a:r>
          </a:p>
        </p:txBody>
      </p:sp>
      <p:sp>
        <p:nvSpPr>
          <p:cNvPr id="3" name="Slide Number Placeholder 2"/>
          <p:cNvSpPr>
            <a:spLocks noGrp="1"/>
          </p:cNvSpPr>
          <p:nvPr>
            <p:ph type="sldNum" sz="quarter" idx="12"/>
          </p:nvPr>
        </p:nvSpPr>
        <p:spPr/>
        <p:txBody>
          <a:bodyPr/>
          <a:lstStyle/>
          <a:p>
            <a:fld id="{C17A4BB5-F5F6-4DB8-BE2D-D1CF9FC8F599}" type="slidenum">
              <a:rPr lang="en-US" smtClean="0"/>
              <a:pPr/>
              <a:t>72</a:t>
            </a:fld>
            <a:endParaRPr lang="en-US"/>
          </a:p>
        </p:txBody>
      </p:sp>
      <p:sp>
        <p:nvSpPr>
          <p:cNvPr id="4" name="Content Placeholder 3"/>
          <p:cNvSpPr>
            <a:spLocks noGrp="1"/>
          </p:cNvSpPr>
          <p:nvPr>
            <p:ph sz="quarter" idx="1"/>
          </p:nvPr>
        </p:nvSpPr>
        <p:spPr>
          <a:xfrm>
            <a:off x="381000" y="656238"/>
            <a:ext cx="10972800" cy="5580856"/>
          </a:xfrm>
        </p:spPr>
        <p:txBody>
          <a:bodyPr>
            <a:normAutofit/>
          </a:bodyPr>
          <a:lstStyle/>
          <a:p>
            <a:pPr marL="0" indent="0">
              <a:buNone/>
            </a:pPr>
            <a:r>
              <a:rPr lang="en-US" sz="2000" dirty="0"/>
              <a:t>On a given night, LeBron James plays against one of three types of opponents:</a:t>
            </a:r>
          </a:p>
          <a:p>
            <a:pPr marL="0" indent="0">
              <a:buNone/>
            </a:pPr>
            <a:r>
              <a:rPr lang="en-US" sz="2000" dirty="0"/>
              <a:t>A</a:t>
            </a:r>
            <a:r>
              <a:rPr lang="en-US" sz="2000" baseline="-25000" dirty="0"/>
              <a:t>1</a:t>
            </a:r>
            <a:r>
              <a:rPr lang="en-US" sz="2000" dirty="0"/>
              <a:t>: weak defensive team</a:t>
            </a:r>
          </a:p>
          <a:p>
            <a:pPr marL="0" indent="0">
              <a:buNone/>
            </a:pPr>
            <a:r>
              <a:rPr lang="en-US" sz="2000" dirty="0"/>
              <a:t>A</a:t>
            </a:r>
            <a:r>
              <a:rPr lang="en-US" sz="2000" baseline="-25000" dirty="0"/>
              <a:t>2</a:t>
            </a:r>
            <a:r>
              <a:rPr lang="en-US" sz="2000" dirty="0"/>
              <a:t>: average defensive team</a:t>
            </a:r>
          </a:p>
          <a:p>
            <a:pPr marL="0" indent="0">
              <a:buNone/>
            </a:pPr>
            <a:r>
              <a:rPr lang="en-US" sz="2000" dirty="0"/>
              <a:t>A</a:t>
            </a:r>
            <a:r>
              <a:rPr lang="en-US" sz="2000" baseline="-25000" dirty="0"/>
              <a:t>3</a:t>
            </a:r>
            <a:r>
              <a:rPr lang="en-US" sz="2000" dirty="0"/>
              <a:t>: elite defensive team</a:t>
            </a:r>
          </a:p>
          <a:p>
            <a:pPr marL="0" indent="0">
              <a:buNone/>
            </a:pPr>
            <a:r>
              <a:rPr lang="en-US" sz="2000" dirty="0"/>
              <a:t>with probabilities P(A</a:t>
            </a:r>
            <a:r>
              <a:rPr lang="en-US" sz="2000" baseline="-25000" dirty="0"/>
              <a:t>1</a:t>
            </a:r>
            <a:r>
              <a:rPr lang="en-US" sz="2000" dirty="0"/>
              <a:t>) = 0.4, P(A</a:t>
            </a:r>
            <a:r>
              <a:rPr lang="en-US" sz="2000" baseline="-25000" dirty="0"/>
              <a:t>2</a:t>
            </a:r>
            <a:r>
              <a:rPr lang="en-US" sz="2000" dirty="0"/>
              <a:t>) = 0.35, P(A</a:t>
            </a:r>
            <a:r>
              <a:rPr lang="en-US" sz="2000" baseline="-25000" dirty="0"/>
              <a:t>3</a:t>
            </a:r>
            <a:r>
              <a:rPr lang="en-US" sz="2000" dirty="0"/>
              <a:t>) = 0.25.</a:t>
            </a:r>
          </a:p>
          <a:p>
            <a:pPr marL="0" indent="0">
              <a:buNone/>
            </a:pPr>
            <a:r>
              <a:rPr lang="en-US" sz="2000" dirty="0"/>
              <a:t>Let B be the event that Lebron scores 30 or more points.  Historical data shows P(B|A</a:t>
            </a:r>
            <a:r>
              <a:rPr lang="en-US" sz="2000" baseline="-25000" dirty="0"/>
              <a:t>1</a:t>
            </a:r>
            <a:r>
              <a:rPr lang="en-US" sz="2000" dirty="0"/>
              <a:t>) = 0.6, P(B|A</a:t>
            </a:r>
            <a:r>
              <a:rPr lang="en-US" sz="2000" baseline="-25000" dirty="0"/>
              <a:t>2</a:t>
            </a:r>
            <a:r>
              <a:rPr lang="en-US" sz="2000" dirty="0"/>
              <a:t>) = 0.45, P(B|A</a:t>
            </a:r>
            <a:r>
              <a:rPr lang="en-US" sz="2000" baseline="-25000" dirty="0"/>
              <a:t>3</a:t>
            </a:r>
            <a:r>
              <a:rPr lang="en-US" sz="2000" dirty="0"/>
              <a:t>) = 0.25</a:t>
            </a:r>
          </a:p>
          <a:p>
            <a:pPr marL="457200" indent="-457200">
              <a:buAutoNum type="alphaLcParenR"/>
            </a:pPr>
            <a:r>
              <a:rPr lang="en-US" sz="2000" dirty="0"/>
              <a:t>What is the probability that Lebron plays an average defensive team and scores 30 or more points?</a:t>
            </a:r>
          </a:p>
          <a:p>
            <a:pPr marL="0" indent="0">
              <a:buNone/>
            </a:pPr>
            <a:endParaRPr lang="en-US" sz="2000" dirty="0"/>
          </a:p>
          <a:p>
            <a:pPr marL="0" indent="0">
              <a:buNone/>
            </a:pPr>
            <a:endParaRPr lang="en-US" sz="2000" dirty="0"/>
          </a:p>
          <a:p>
            <a:pPr marL="0" indent="0">
              <a:buNone/>
            </a:pPr>
            <a:r>
              <a:rPr lang="en-US" sz="2000" dirty="0"/>
              <a:t>b) What is the probability that LeBron scores 30+ points on a random night?</a:t>
            </a:r>
          </a:p>
          <a:p>
            <a:pPr marL="0" indent="0">
              <a:buNone/>
            </a:pPr>
            <a:endParaRPr lang="en-US" sz="2400" dirty="0"/>
          </a:p>
          <a:p>
            <a:pPr marL="0" indent="0">
              <a:buNone/>
            </a:pPr>
            <a:endParaRPr lang="en-US" sz="2400" dirty="0"/>
          </a:p>
          <a:p>
            <a:pPr marL="0" indent="0">
              <a:buNone/>
            </a:pPr>
            <a:endParaRPr lang="en-US" sz="2400" dirty="0"/>
          </a:p>
          <a:p>
            <a:endParaRPr lang="en-US" sz="1800" dirty="0"/>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1048626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5732"/>
            <a:ext cx="8229600" cy="639762"/>
          </a:xfrm>
        </p:spPr>
        <p:txBody>
          <a:bodyPr/>
          <a:lstStyle/>
          <a:p>
            <a:r>
              <a:rPr lang="en-US" dirty="0">
                <a:latin typeface="+mn-lt"/>
                <a:cs typeface="Times New Roman" pitchFamily="18" charset="0"/>
              </a:rPr>
              <a:t>Example (cont.)</a:t>
            </a:r>
          </a:p>
        </p:txBody>
      </p:sp>
      <p:sp>
        <p:nvSpPr>
          <p:cNvPr id="3" name="Slide Number Placeholder 2"/>
          <p:cNvSpPr>
            <a:spLocks noGrp="1"/>
          </p:cNvSpPr>
          <p:nvPr>
            <p:ph type="sldNum" sz="quarter" idx="12"/>
          </p:nvPr>
        </p:nvSpPr>
        <p:spPr/>
        <p:txBody>
          <a:bodyPr/>
          <a:lstStyle/>
          <a:p>
            <a:fld id="{C17A4BB5-F5F6-4DB8-BE2D-D1CF9FC8F599}" type="slidenum">
              <a:rPr lang="en-US" smtClean="0"/>
              <a:pPr/>
              <a:t>73</a:t>
            </a:fld>
            <a:endParaRPr lang="en-US"/>
          </a:p>
        </p:txBody>
      </p:sp>
      <p:sp>
        <p:nvSpPr>
          <p:cNvPr id="4" name="Content Placeholder 3"/>
          <p:cNvSpPr>
            <a:spLocks noGrp="1"/>
          </p:cNvSpPr>
          <p:nvPr>
            <p:ph sz="quarter" idx="1"/>
          </p:nvPr>
        </p:nvSpPr>
        <p:spPr>
          <a:xfrm>
            <a:off x="1981200" y="775494"/>
            <a:ext cx="8229600" cy="5580856"/>
          </a:xfrm>
        </p:spPr>
        <p:txBody>
          <a:bodyPr>
            <a:normAutofit/>
          </a:bodyPr>
          <a:lstStyle/>
          <a:p>
            <a:pPr marL="0" indent="0">
              <a:buNone/>
            </a:pPr>
            <a:r>
              <a:rPr lang="en-US" sz="2000" dirty="0"/>
              <a:t>c) If LeBron scored 30+ points, what type of game was most likely?}</a:t>
            </a:r>
          </a:p>
          <a:p>
            <a:endParaRPr lang="en-US" sz="2000" dirty="0"/>
          </a:p>
          <a:p>
            <a:endParaRPr lang="en-US" sz="2000" dirty="0"/>
          </a:p>
          <a:p>
            <a:endParaRPr lang="en-US" sz="2000" dirty="0"/>
          </a:p>
          <a:p>
            <a:endParaRPr lang="en-US" sz="2000" dirty="0"/>
          </a:p>
          <a:p>
            <a:endParaRPr lang="en-US" sz="2000" dirty="0"/>
          </a:p>
          <a:p>
            <a:pPr marL="0" indent="0">
              <a:buNone/>
            </a:pPr>
            <a:r>
              <a:rPr lang="en-US" sz="2000" dirty="0"/>
              <a:t>d) Draw a Venn diagram illustrating the various scenarios?</a:t>
            </a:r>
          </a:p>
          <a:p>
            <a:pPr marL="0" indent="0">
              <a:buNone/>
            </a:pPr>
            <a:endParaRPr lang="en-US" sz="2400" dirty="0"/>
          </a:p>
          <a:p>
            <a:pPr marL="0" indent="0">
              <a:buNone/>
            </a:pPr>
            <a:endParaRPr lang="en-US" sz="2400" dirty="0"/>
          </a:p>
          <a:p>
            <a:endParaRPr lang="en-US" sz="1800" dirty="0"/>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3443745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403350"/>
            <a:ext cx="8229600" cy="4953000"/>
          </a:xfrm>
        </p:spPr>
        <p:txBody>
          <a:bodyPr>
            <a:normAutofit/>
          </a:bodyPr>
          <a:lstStyle/>
          <a:p>
            <a:pPr>
              <a:defRPr/>
            </a:pPr>
            <a:r>
              <a:rPr lang="en-US" sz="2200" dirty="0"/>
              <a:t>We just studied conditional probability</a:t>
            </a:r>
          </a:p>
          <a:p>
            <a:pPr lvl="1">
              <a:defRPr/>
            </a:pPr>
            <a:r>
              <a:rPr lang="en-US" sz="2200" dirty="0"/>
              <a:t>It was common for P(B|A) to be different from P(B)</a:t>
            </a:r>
          </a:p>
          <a:p>
            <a:pPr lvl="1">
              <a:defRPr/>
            </a:pPr>
            <a:r>
              <a:rPr lang="en-US" sz="2200" dirty="0"/>
              <a:t>However, often times P(B|A) = P(B)</a:t>
            </a:r>
          </a:p>
          <a:p>
            <a:pPr lvl="1">
              <a:defRPr/>
            </a:pPr>
            <a:r>
              <a:rPr lang="en-US" sz="2200" dirty="0"/>
              <a:t>What does this mean?...</a:t>
            </a:r>
          </a:p>
          <a:p>
            <a:pPr>
              <a:defRPr/>
            </a:pPr>
            <a:r>
              <a:rPr lang="en-US" sz="2200" dirty="0"/>
              <a:t>The chance of B occurring is not affected by knowledge that A has occurred.  In other words, events B and A are </a:t>
            </a:r>
            <a:r>
              <a:rPr lang="en-US" sz="2200" b="1" dirty="0"/>
              <a:t>independent</a:t>
            </a:r>
            <a:r>
              <a:rPr lang="en-US" sz="2200" dirty="0"/>
              <a:t>.</a:t>
            </a:r>
          </a:p>
          <a:p>
            <a:pPr marL="0" indent="0">
              <a:buNone/>
              <a:defRPr/>
            </a:pPr>
            <a:endParaRPr lang="en-US" sz="2200" dirty="0"/>
          </a:p>
          <a:p>
            <a:pPr marL="0" indent="0">
              <a:buNone/>
              <a:defRPr/>
            </a:pPr>
            <a:endParaRPr lang="en-US" sz="2200" dirty="0"/>
          </a:p>
          <a:p>
            <a:pPr marL="457200" lvl="1" indent="0">
              <a:buNone/>
              <a:defRPr/>
            </a:pPr>
            <a:r>
              <a:rPr lang="en-US" sz="2400" dirty="0"/>
              <a:t>Two events A and B are </a:t>
            </a:r>
            <a:r>
              <a:rPr lang="en-US" sz="2400" b="1" dirty="0"/>
              <a:t>independent</a:t>
            </a:r>
            <a:r>
              <a:rPr lang="en-US" sz="2400" dirty="0"/>
              <a:t> if and only if P(B|A) = P(B) or P(A|B) = P(A), assuming the existences of the conditional probabilities.  Otherwise, A and B are </a:t>
            </a:r>
            <a:r>
              <a:rPr lang="en-US" sz="2400" b="1" dirty="0"/>
              <a:t>dependent</a:t>
            </a:r>
            <a:r>
              <a:rPr lang="en-US" sz="2400" dirty="0"/>
              <a:t>.</a:t>
            </a:r>
          </a:p>
        </p:txBody>
      </p:sp>
      <p:sp>
        <p:nvSpPr>
          <p:cNvPr id="22530" name="Title 1"/>
          <p:cNvSpPr>
            <a:spLocks noGrp="1"/>
          </p:cNvSpPr>
          <p:nvPr>
            <p:ph type="title"/>
          </p:nvPr>
        </p:nvSpPr>
        <p:spPr/>
        <p:txBody>
          <a:bodyPr/>
          <a:lstStyle/>
          <a:p>
            <a:r>
              <a:rPr lang="en-US" altLang="en-US" dirty="0">
                <a:cs typeface="Arial" charset="0"/>
              </a:rPr>
              <a:t>Independent Events</a:t>
            </a:r>
          </a:p>
        </p:txBody>
      </p:sp>
      <p:sp>
        <p:nvSpPr>
          <p:cNvPr id="4" name="Slide Number Placeholder 3"/>
          <p:cNvSpPr>
            <a:spLocks noGrp="1"/>
          </p:cNvSpPr>
          <p:nvPr>
            <p:ph type="sldNum" sz="quarter" idx="12"/>
          </p:nvPr>
        </p:nvSpPr>
        <p:spPr/>
        <p:txBody>
          <a:bodyPr/>
          <a:lstStyle/>
          <a:p>
            <a:pPr>
              <a:defRPr/>
            </a:pPr>
            <a:fld id="{F0315B37-E7C3-4850-A849-4E61BF94105F}" type="slidenum">
              <a:rPr lang="it-IT" smtClean="0"/>
              <a:pPr>
                <a:defRPr/>
              </a:pPr>
              <a:t>74</a:t>
            </a:fld>
            <a:endParaRPr lang="it-IT"/>
          </a:p>
        </p:txBody>
      </p:sp>
      <p:sp>
        <p:nvSpPr>
          <p:cNvPr id="5" name="Rectangle 4"/>
          <p:cNvSpPr/>
          <p:nvPr/>
        </p:nvSpPr>
        <p:spPr>
          <a:xfrm>
            <a:off x="2370513" y="4495800"/>
            <a:ext cx="78486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1927304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dirty="0">
                <a:cs typeface="Arial" charset="0"/>
              </a:rPr>
              <a:t>Product Rule / Multiplicative Rule</a:t>
            </a:r>
          </a:p>
        </p:txBody>
      </p:sp>
      <p:sp>
        <p:nvSpPr>
          <p:cNvPr id="4" name="Slide Number Placeholder 3"/>
          <p:cNvSpPr>
            <a:spLocks noGrp="1"/>
          </p:cNvSpPr>
          <p:nvPr>
            <p:ph type="sldNum" sz="quarter" idx="12"/>
          </p:nvPr>
        </p:nvSpPr>
        <p:spPr/>
        <p:txBody>
          <a:bodyPr/>
          <a:lstStyle/>
          <a:p>
            <a:pPr>
              <a:defRPr/>
            </a:pPr>
            <a:fld id="{13440625-299E-40B6-BB9B-88E74E10BB18}" type="slidenum">
              <a:rPr lang="it-IT" smtClean="0"/>
              <a:pPr>
                <a:defRPr/>
              </a:pPr>
              <a:t>75</a:t>
            </a:fld>
            <a:endParaRPr lang="it-IT"/>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ea typeface="Cambria Math"/>
                            </a:rPr>
                            <m:t>∩</m:t>
                          </m:r>
                          <m:r>
                            <a:rPr lang="en-US" b="0" i="1" smtClean="0">
                              <a:latin typeface="Cambria Math"/>
                              <a:ea typeface="Cambria Math"/>
                            </a:rPr>
                            <m:t>𝐵</m:t>
                          </m:r>
                          <m:r>
                            <a:rPr lang="en-US" b="0" i="1" smtClean="0">
                              <a:latin typeface="Cambria Math"/>
                              <a:ea typeface="Cambria Math"/>
                            </a:rPr>
                            <m:t>)</m:t>
                          </m:r>
                        </m:num>
                        <m:den>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den>
                      </m:f>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Often P(B|A) and P(A) are known and P(A</a:t>
                </a:r>
                <a14:m>
                  <m:oMath xmlns:m="http://schemas.openxmlformats.org/officeDocument/2006/math">
                    <m:r>
                      <a:rPr lang="en-US" i="1">
                        <a:latin typeface="Cambria Math"/>
                        <a:ea typeface="Cambria Math"/>
                      </a:rPr>
                      <m:t>∩</m:t>
                    </m:r>
                  </m:oMath>
                </a14:m>
                <a:r>
                  <a:rPr lang="en-US" dirty="0"/>
                  <a:t>B) is desired – use the product rule.</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3"/>
                <a:stretch>
                  <a:fillRect l="-1630" b="-4313"/>
                </a:stretch>
              </a:blipFill>
            </p:spPr>
            <p:txBody>
              <a:bodyPr/>
              <a:lstStyle/>
              <a:p>
                <a:r>
                  <a:rPr lang="en-US">
                    <a:noFill/>
                  </a:rPr>
                  <a:t> </a:t>
                </a:r>
              </a:p>
            </p:txBody>
          </p:sp>
        </mc:Fallback>
      </mc:AlternateContent>
    </p:spTree>
    <p:extLst>
      <p:ext uri="{BB962C8B-B14F-4D97-AF65-F5344CB8AC3E}">
        <p14:creationId xmlns:p14="http://schemas.microsoft.com/office/powerpoint/2010/main" val="357205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ABBD722-C435-4A9F-B2FF-EA4CADA17CE6}" type="slidenum">
              <a:rPr lang="it-IT" smtClean="0"/>
              <a:pPr>
                <a:defRPr/>
              </a:pPr>
              <a:t>76</a:t>
            </a:fld>
            <a:endParaRPr lang="it-IT"/>
          </a:p>
        </p:txBody>
      </p:sp>
      <p:sp>
        <p:nvSpPr>
          <p:cNvPr id="5" name="Title 4"/>
          <p:cNvSpPr>
            <a:spLocks noGrp="1"/>
          </p:cNvSpPr>
          <p:nvPr>
            <p:ph type="title"/>
          </p:nvPr>
        </p:nvSpPr>
        <p:spPr/>
        <p:txBody>
          <a:bodyPr/>
          <a:lstStyle/>
          <a:p>
            <a:r>
              <a:rPr lang="en-US" altLang="en-US" dirty="0">
                <a:cs typeface="Arial" charset="0"/>
              </a:rPr>
              <a:t>Product Rule / Multiplicative Rule</a:t>
            </a:r>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r>
                  <a:rPr lang="en-US" dirty="0"/>
                  <a:t>Two events A and B are independent if and only if</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ea typeface="Cambria Math"/>
                            </a:rPr>
                            <m:t>∩</m:t>
                          </m:r>
                          <m:r>
                            <a:rPr lang="en-US" b="0" i="1" smtClean="0">
                              <a:latin typeface="Cambria Math"/>
                              <a:ea typeface="Cambria Math"/>
                            </a:rPr>
                            <m:t>𝐵</m:t>
                          </m:r>
                        </m:e>
                      </m:d>
                      <m:r>
                        <a:rPr lang="en-US" b="0" i="1" smtClean="0">
                          <a:latin typeface="Cambria Math"/>
                          <a:ea typeface="Cambria Math"/>
                        </a:rPr>
                        <m:t>=</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𝐴</m:t>
                          </m:r>
                        </m:e>
                      </m:d>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𝐵</m:t>
                          </m:r>
                        </m:e>
                      </m:d>
                    </m:oMath>
                  </m:oMathPara>
                </a14:m>
                <a:endParaRPr lang="en-US" b="0" dirty="0">
                  <a:ea typeface="Cambria Math"/>
                </a:endParaRPr>
              </a:p>
              <a:p>
                <a:pPr marL="400050" lvl="1" indent="0">
                  <a:buNone/>
                </a:pPr>
                <a:endParaRPr lang="en-US" sz="3200" dirty="0">
                  <a:ea typeface="Cambria Math"/>
                </a:endParaRPr>
              </a:p>
              <a:p>
                <a:pPr marL="400050" lvl="1" indent="0">
                  <a:buNone/>
                </a:pPr>
                <a:r>
                  <a:rPr lang="en-US" sz="3200" dirty="0">
                    <a:ea typeface="Cambria Math"/>
                  </a:rPr>
                  <a:t>Therefore, to obtain the probability that two independent events will both occur, we simply find the product of their individual probabilities. </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rotWithShape="1">
                <a:blip r:embed="rId3"/>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31742253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cs typeface="Times New Roman" pitchFamily="18" charset="0"/>
              </a:rPr>
              <a:t>Independent Events</a:t>
            </a:r>
            <a:endParaRPr lang="en-US" sz="3600" dirty="0"/>
          </a:p>
        </p:txBody>
      </p:sp>
      <p:sp>
        <p:nvSpPr>
          <p:cNvPr id="3" name="Slide Number Placeholder 2"/>
          <p:cNvSpPr>
            <a:spLocks noGrp="1"/>
          </p:cNvSpPr>
          <p:nvPr>
            <p:ph type="sldNum" sz="quarter" idx="12"/>
          </p:nvPr>
        </p:nvSpPr>
        <p:spPr/>
        <p:txBody>
          <a:bodyPr/>
          <a:lstStyle/>
          <a:p>
            <a:fld id="{C17A4BB5-F5F6-4DB8-BE2D-D1CF9FC8F599}" type="slidenum">
              <a:rPr lang="en-US" smtClean="0"/>
              <a:pPr/>
              <a:t>77</a:t>
            </a:fld>
            <a:endParaRPr lang="en-US"/>
          </a:p>
        </p:txBody>
      </p:sp>
      <p:sp>
        <p:nvSpPr>
          <p:cNvPr id="4" name="Content Placeholder 3"/>
          <p:cNvSpPr>
            <a:spLocks noGrp="1"/>
          </p:cNvSpPr>
          <p:nvPr>
            <p:ph sz="quarter" idx="1"/>
          </p:nvPr>
        </p:nvSpPr>
        <p:spPr/>
        <p:txBody>
          <a:bodyPr/>
          <a:lstStyle/>
          <a:p>
            <a:r>
              <a:rPr lang="en-US" dirty="0">
                <a:cs typeface="Times New Roman" pitchFamily="18" charset="0"/>
              </a:rPr>
              <a:t>If </a:t>
            </a:r>
            <a:r>
              <a:rPr lang="en-US" i="1" dirty="0">
                <a:cs typeface="Times New Roman" pitchFamily="18" charset="0"/>
              </a:rPr>
              <a:t>A</a:t>
            </a:r>
            <a:r>
              <a:rPr lang="en-US" dirty="0">
                <a:cs typeface="Times New Roman" pitchFamily="18" charset="0"/>
              </a:rPr>
              <a:t> and </a:t>
            </a:r>
            <a:r>
              <a:rPr lang="en-US" i="1" dirty="0">
                <a:cs typeface="Times New Roman" pitchFamily="18" charset="0"/>
              </a:rPr>
              <a:t>B</a:t>
            </a:r>
            <a:r>
              <a:rPr lang="en-US" dirty="0">
                <a:cs typeface="Times New Roman" pitchFamily="18" charset="0"/>
              </a:rPr>
              <a:t> are independent events, then</a:t>
            </a:r>
          </a:p>
          <a:p>
            <a:pPr lvl="1"/>
            <a:r>
              <a:rPr lang="en-US" sz="2400" i="1" dirty="0">
                <a:cs typeface="Times New Roman" pitchFamily="18" charset="0"/>
              </a:rPr>
              <a:t>A</a:t>
            </a:r>
            <a:r>
              <a:rPr lang="en-US" sz="2400" dirty="0">
                <a:cs typeface="Times New Roman" pitchFamily="18" charset="0"/>
              </a:rPr>
              <a:t>' and </a:t>
            </a:r>
            <a:r>
              <a:rPr lang="en-US" sz="2400" i="1" dirty="0">
                <a:cs typeface="Times New Roman" pitchFamily="18" charset="0"/>
              </a:rPr>
              <a:t>B</a:t>
            </a:r>
            <a:r>
              <a:rPr lang="en-US" sz="2400" dirty="0">
                <a:cs typeface="Times New Roman" pitchFamily="18" charset="0"/>
              </a:rPr>
              <a:t> are independent events</a:t>
            </a:r>
            <a:endParaRPr lang="en-US" dirty="0">
              <a:cs typeface="Times New Roman" pitchFamily="18" charset="0"/>
            </a:endParaRPr>
          </a:p>
          <a:p>
            <a:pPr lvl="1"/>
            <a:r>
              <a:rPr lang="en-US" sz="2400" i="1" dirty="0">
                <a:cs typeface="Times New Roman" pitchFamily="18" charset="0"/>
              </a:rPr>
              <a:t>A</a:t>
            </a:r>
            <a:r>
              <a:rPr lang="en-US" sz="2400" dirty="0">
                <a:cs typeface="Times New Roman" pitchFamily="18" charset="0"/>
              </a:rPr>
              <a:t> and </a:t>
            </a:r>
            <a:r>
              <a:rPr lang="en-US" sz="2400" i="1" dirty="0">
                <a:cs typeface="Times New Roman" pitchFamily="18" charset="0"/>
              </a:rPr>
              <a:t>B</a:t>
            </a:r>
            <a:r>
              <a:rPr lang="en-US" sz="2400" dirty="0">
                <a:cs typeface="Times New Roman" pitchFamily="18" charset="0"/>
              </a:rPr>
              <a:t>' are independent events</a:t>
            </a:r>
          </a:p>
          <a:p>
            <a:pPr lvl="1"/>
            <a:r>
              <a:rPr lang="en-US" sz="2400" i="1" dirty="0">
                <a:cs typeface="Times New Roman" pitchFamily="18" charset="0"/>
              </a:rPr>
              <a:t>A</a:t>
            </a:r>
            <a:r>
              <a:rPr lang="en-US" sz="2400" dirty="0">
                <a:cs typeface="Times New Roman" pitchFamily="18" charset="0"/>
              </a:rPr>
              <a:t>' and </a:t>
            </a:r>
            <a:r>
              <a:rPr lang="en-US" sz="2400" i="1" dirty="0">
                <a:cs typeface="Times New Roman" pitchFamily="18" charset="0"/>
              </a:rPr>
              <a:t>B</a:t>
            </a:r>
            <a:r>
              <a:rPr lang="en-US" sz="2400" dirty="0">
                <a:cs typeface="Times New Roman" pitchFamily="18" charset="0"/>
              </a:rPr>
              <a:t>' are independent events</a:t>
            </a:r>
            <a:br>
              <a:rPr lang="en-US" sz="2400" dirty="0">
                <a:cs typeface="Times New Roman" pitchFamily="18" charset="0"/>
              </a:rPr>
            </a:br>
            <a:endParaRPr lang="en-US" sz="2400" dirty="0">
              <a:cs typeface="Times New Roman" pitchFamily="18" charset="0"/>
            </a:endParaRPr>
          </a:p>
          <a:p>
            <a:pPr lvl="1"/>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76165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981200" y="152400"/>
            <a:ext cx="8229600" cy="792162"/>
          </a:xfrm>
        </p:spPr>
        <p:txBody>
          <a:bodyPr/>
          <a:lstStyle/>
          <a:p>
            <a:r>
              <a:rPr lang="en-US" sz="3600" dirty="0"/>
              <a:t>Independence</a:t>
            </a:r>
          </a:p>
        </p:txBody>
      </p:sp>
      <p:sp>
        <p:nvSpPr>
          <p:cNvPr id="89091" name="Rectangle 3"/>
          <p:cNvSpPr>
            <a:spLocks noGrp="1" noChangeArrowheads="1"/>
          </p:cNvSpPr>
          <p:nvPr>
            <p:ph type="body" idx="1"/>
          </p:nvPr>
        </p:nvSpPr>
        <p:spPr>
          <a:xfrm>
            <a:off x="1981200" y="944563"/>
            <a:ext cx="8229600" cy="4525963"/>
          </a:xfrm>
        </p:spPr>
        <p:txBody>
          <a:bodyPr/>
          <a:lstStyle/>
          <a:p>
            <a:pPr marL="0" indent="0">
              <a:buNone/>
            </a:pPr>
            <a:r>
              <a:rPr lang="en-US" sz="2400" dirty="0"/>
              <a:t>A card is selected at random from a deck.</a:t>
            </a:r>
          </a:p>
          <a:p>
            <a:pPr marL="0" indent="0">
              <a:buNone/>
            </a:pPr>
            <a:r>
              <a:rPr lang="en-US" sz="2400" dirty="0"/>
              <a:t>Let A denote the event that it is an ace and D the event that it is a diamond. Check if events A and D are independent?</a:t>
            </a:r>
          </a:p>
          <a:p>
            <a:pPr marL="0" indent="0">
              <a:buNone/>
            </a:pPr>
            <a:endParaRPr lang="en-US" dirty="0"/>
          </a:p>
          <a:p>
            <a:pPr marL="457200" lvl="1" indent="0">
              <a:buNone/>
            </a:pPr>
            <a:endParaRPr lang="en-US" dirty="0"/>
          </a:p>
        </p:txBody>
      </p:sp>
    </p:spTree>
    <p:extLst>
      <p:ext uri="{BB962C8B-B14F-4D97-AF65-F5344CB8AC3E}">
        <p14:creationId xmlns:p14="http://schemas.microsoft.com/office/powerpoint/2010/main" val="38136690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1981200" y="1295401"/>
            <a:ext cx="8229600" cy="4708525"/>
          </a:xfrm>
        </p:spPr>
        <p:txBody>
          <a:bodyPr/>
          <a:lstStyle/>
          <a:p>
            <a:pPr marL="0" indent="0">
              <a:buNone/>
            </a:pPr>
            <a:r>
              <a:rPr lang="en-US" altLang="en-US" sz="2400" dirty="0">
                <a:cs typeface="Arial" charset="0"/>
              </a:rPr>
              <a:t>30% of a company’s washing machines require service while under warranty.  10% of dryers need service.  If someone buys a washer and dryer, what is the probability that both machines will need service?</a:t>
            </a:r>
          </a:p>
        </p:txBody>
      </p:sp>
      <p:sp>
        <p:nvSpPr>
          <p:cNvPr id="4" name="Slide Number Placeholder 3"/>
          <p:cNvSpPr>
            <a:spLocks noGrp="1"/>
          </p:cNvSpPr>
          <p:nvPr>
            <p:ph type="sldNum" sz="quarter" idx="12"/>
          </p:nvPr>
        </p:nvSpPr>
        <p:spPr/>
        <p:txBody>
          <a:bodyPr/>
          <a:lstStyle/>
          <a:p>
            <a:pPr>
              <a:defRPr/>
            </a:pPr>
            <a:fld id="{31686C64-6EAB-4995-BBAD-83B389B08BFF}" type="slidenum">
              <a:rPr lang="it-IT" smtClean="0"/>
              <a:pPr>
                <a:defRPr/>
              </a:pPr>
              <a:t>79</a:t>
            </a:fld>
            <a:endParaRPr lang="it-IT"/>
          </a:p>
        </p:txBody>
      </p:sp>
      <p:sp>
        <p:nvSpPr>
          <p:cNvPr id="3" name="Title 2"/>
          <p:cNvSpPr>
            <a:spLocks noGrp="1"/>
          </p:cNvSpPr>
          <p:nvPr>
            <p:ph type="title"/>
          </p:nvPr>
        </p:nvSpPr>
        <p:spPr>
          <a:xfrm>
            <a:off x="1981200" y="274638"/>
            <a:ext cx="8229600" cy="1020762"/>
          </a:xfrm>
        </p:spPr>
        <p:txBody>
          <a:bodyPr/>
          <a:lstStyle/>
          <a:p>
            <a:r>
              <a:rPr lang="en-US" altLang="en-US" sz="3600" dirty="0">
                <a:cs typeface="Arial" charset="0"/>
              </a:rPr>
              <a:t>Example</a:t>
            </a:r>
            <a:endParaRPr lang="en-US" sz="3600" dirty="0"/>
          </a:p>
        </p:txBody>
      </p:sp>
    </p:spTree>
    <p:extLst>
      <p:ext uri="{BB962C8B-B14F-4D97-AF65-F5344CB8AC3E}">
        <p14:creationId xmlns:p14="http://schemas.microsoft.com/office/powerpoint/2010/main" val="34378980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847318" y="-6203"/>
            <a:ext cx="8229600" cy="1143000"/>
          </a:xfrm>
        </p:spPr>
        <p:txBody>
          <a:bodyPr>
            <a:normAutofit/>
          </a:bodyPr>
          <a:lstStyle/>
          <a:p>
            <a:pPr eaLnBrk="1" hangingPunct="1"/>
            <a:r>
              <a:rPr lang="en-US" altLang="en-US" sz="3600" dirty="0"/>
              <a:t>Example 2.39</a:t>
            </a:r>
          </a:p>
        </p:txBody>
      </p:sp>
      <p:sp>
        <p:nvSpPr>
          <p:cNvPr id="6041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b="1">
                <a:solidFill>
                  <a:schemeClr val="bg1"/>
                </a:solidFill>
                <a:latin typeface="Arial" panose="020B0604020202020204" pitchFamily="34" charset="0"/>
              </a:rPr>
              <a:t>2 - </a:t>
            </a:r>
            <a:fld id="{1D6D11B8-A38B-42BB-90F7-B3CA548E5AC1}" type="slidenum">
              <a:rPr lang="en-US" altLang="en-US" sz="1200" b="1">
                <a:solidFill>
                  <a:schemeClr val="bg1"/>
                </a:solidFill>
                <a:latin typeface="Arial" panose="020B0604020202020204" pitchFamily="34" charset="0"/>
              </a:rPr>
              <a:pPr algn="ctr">
                <a:spcBef>
                  <a:spcPct val="0"/>
                </a:spcBef>
                <a:buFontTx/>
                <a:buNone/>
              </a:pPr>
              <a:t>80</a:t>
            </a:fld>
            <a:endParaRPr lang="en-US" altLang="en-US" sz="1200" b="1">
              <a:solidFill>
                <a:schemeClr val="bg1"/>
              </a:solidFill>
              <a:latin typeface="Arial" panose="020B0604020202020204" pitchFamily="34" charset="0"/>
            </a:endParaRPr>
          </a:p>
        </p:txBody>
      </p:sp>
      <p:sp>
        <p:nvSpPr>
          <p:cNvPr id="2" name="Content Placeholder 1"/>
          <p:cNvSpPr>
            <a:spLocks noGrp="1"/>
          </p:cNvSpPr>
          <p:nvPr>
            <p:ph sz="quarter" idx="1"/>
          </p:nvPr>
        </p:nvSpPr>
        <p:spPr>
          <a:xfrm>
            <a:off x="1915270" y="960438"/>
            <a:ext cx="8229600" cy="4525963"/>
          </a:xfrm>
        </p:spPr>
        <p:txBody>
          <a:bodyPr>
            <a:normAutofit/>
          </a:bodyPr>
          <a:lstStyle/>
          <a:p>
            <a:pPr marL="0" indent="0">
              <a:buNone/>
            </a:pPr>
            <a:r>
              <a:rPr lang="en-US" sz="2400" dirty="0"/>
              <a:t>An electrical system consists of four components as illustrated in Figure 2.9. The system works if components </a:t>
            </a:r>
            <a:r>
              <a:rPr lang="en-US" sz="2400" i="1" dirty="0"/>
              <a:t>A </a:t>
            </a:r>
            <a:r>
              <a:rPr lang="en-US" sz="2400" dirty="0"/>
              <a:t>and </a:t>
            </a:r>
            <a:r>
              <a:rPr lang="en-US" sz="2400" i="1" dirty="0"/>
              <a:t>B </a:t>
            </a:r>
            <a:r>
              <a:rPr lang="en-US" sz="2400" dirty="0"/>
              <a:t>work and either of the components </a:t>
            </a:r>
            <a:r>
              <a:rPr lang="en-US" sz="2400" i="1" dirty="0"/>
              <a:t>C </a:t>
            </a:r>
            <a:r>
              <a:rPr lang="en-US" sz="2400" dirty="0"/>
              <a:t>or </a:t>
            </a:r>
            <a:r>
              <a:rPr lang="en-US" sz="2400" i="1" dirty="0"/>
              <a:t>D </a:t>
            </a:r>
            <a:r>
              <a:rPr lang="en-US" sz="2400" dirty="0"/>
              <a:t>works. The reliability (probability of working) of each component is also shown in Figure 2.9. Find the probability that:</a:t>
            </a:r>
          </a:p>
        </p:txBody>
      </p:sp>
      <p:pic>
        <p:nvPicPr>
          <p:cNvPr id="60420" name="Picture 4" descr="02_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118" y="3111795"/>
            <a:ext cx="4569978" cy="2069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2"/>
          <p:cNvSpPr txBox="1">
            <a:spLocks/>
          </p:cNvSpPr>
          <p:nvPr/>
        </p:nvSpPr>
        <p:spPr>
          <a:xfrm>
            <a:off x="2136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400" i="0" kern="1200">
                <a:solidFill>
                  <a:schemeClr val="tx2"/>
                </a:solidFill>
                <a:latin typeface="Times New Roman" panose="02020603050405020304" pitchFamily="18" charset="0"/>
                <a:ea typeface="+mn-ea"/>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D155551C-8FE0-4312-8D7B-A2A5623DD850}" type="slidenum">
              <a:rPr lang="en-US"/>
              <a:pPr/>
              <a:t>80</a:t>
            </a:fld>
            <a:endParaRPr lang="en-US" dirty="0"/>
          </a:p>
        </p:txBody>
      </p:sp>
      <p:sp>
        <p:nvSpPr>
          <p:cNvPr id="6" name="Rectangle 2"/>
          <p:cNvSpPr txBox="1">
            <a:spLocks noChangeArrowheads="1"/>
          </p:cNvSpPr>
          <p:nvPr/>
        </p:nvSpPr>
        <p:spPr>
          <a:xfrm>
            <a:off x="6248400" y="4495800"/>
            <a:ext cx="4419600" cy="990600"/>
          </a:xfrm>
          <a:prstGeom prst="rect">
            <a:avLst/>
          </a:prstGeom>
        </p:spPr>
        <p:txBody>
          <a:bodyPr vert="horz" anchor="b" anchorCtr="0">
            <a:normAutofit fontScale="97500"/>
          </a:bodyPr>
          <a:lstStyle>
            <a:lvl1pPr algn="l" rtl="0" eaLnBrk="1" latinLnBrk="0" hangingPunct="1">
              <a:spcBef>
                <a:spcPct val="0"/>
              </a:spcBef>
              <a:buNone/>
              <a:defRPr kumimoji="0" sz="3200" i="0" kern="1200">
                <a:solidFill>
                  <a:schemeClr val="tx2"/>
                </a:solidFill>
                <a:latin typeface="Times New Roman" panose="02020603050405020304" pitchFamily="18" charset="0"/>
                <a:ea typeface="+mj-ea"/>
                <a:cs typeface="Times New Roman" panose="02020603050405020304" pitchFamily="18" charset="0"/>
              </a:defRPr>
            </a:lvl1pPr>
          </a:lstStyle>
          <a:p>
            <a:pPr algn="ctr" fontAlgn="auto">
              <a:spcAft>
                <a:spcPts val="0"/>
              </a:spcAft>
            </a:pPr>
            <a:r>
              <a:rPr lang="en-US" altLang="en-US" sz="2400" dirty="0">
                <a:latin typeface="+mn-lt"/>
              </a:rPr>
              <a:t>Figure 2.9  An electrical system</a:t>
            </a:r>
          </a:p>
        </p:txBody>
      </p:sp>
      <p:sp>
        <p:nvSpPr>
          <p:cNvPr id="8" name="Content Placeholder 1"/>
          <p:cNvSpPr txBox="1">
            <a:spLocks/>
          </p:cNvSpPr>
          <p:nvPr/>
        </p:nvSpPr>
        <p:spPr>
          <a:xfrm>
            <a:off x="1915270" y="2965596"/>
            <a:ext cx="4568952" cy="23622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i="0" kern="1200">
                <a:solidFill>
                  <a:schemeClr val="tx1"/>
                </a:solidFill>
                <a:latin typeface="Times New Roman" panose="02020603050405020304" pitchFamily="18" charset="0"/>
                <a:ea typeface="+mn-ea"/>
                <a:cs typeface="Times New Roman" panose="02020603050405020304" pitchFamily="18" charset="0"/>
              </a:defRPr>
            </a:lvl1pPr>
            <a:lvl2pPr marL="548640" indent="-274320" algn="l" rtl="0" eaLnBrk="1" latinLnBrk="0" hangingPunct="1">
              <a:spcBef>
                <a:spcPts val="500"/>
              </a:spcBef>
              <a:buClr>
                <a:schemeClr val="accent2"/>
              </a:buClr>
              <a:buSzPct val="76000"/>
              <a:buFont typeface="Wingdings 3"/>
              <a:buChar char=""/>
              <a:defRPr kumimoji="0" sz="2300" i="0" kern="1200">
                <a:solidFill>
                  <a:schemeClr val="tx2"/>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500"/>
              </a:spcBef>
              <a:buClr>
                <a:schemeClr val="bg1">
                  <a:shade val="50000"/>
                </a:schemeClr>
              </a:buClr>
              <a:buSzPct val="76000"/>
              <a:buFont typeface="Wingdings 3"/>
              <a:buChar char=""/>
              <a:defRPr kumimoji="0" sz="2000" i="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400"/>
              </a:spcBef>
              <a:buClr>
                <a:schemeClr val="accent2">
                  <a:shade val="75000"/>
                </a:schemeClr>
              </a:buClr>
              <a:buSzPct val="70000"/>
              <a:buFont typeface="Wingdings"/>
              <a:buChar char=""/>
              <a:defRPr kumimoji="0" sz="1800" i="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00"/>
              </a:spcBef>
              <a:buClr>
                <a:schemeClr val="accent2"/>
              </a:buClr>
              <a:buSzPct val="70000"/>
              <a:buFont typeface="Wingdings"/>
              <a:buChar char=""/>
              <a:defRPr kumimoji="0" sz="1600" i="0" kern="1200">
                <a:solidFill>
                  <a:schemeClr val="tx1"/>
                </a:solidFill>
                <a:latin typeface="Times New Roman" panose="02020603050405020304" pitchFamily="18" charset="0"/>
                <a:ea typeface="+mn-ea"/>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400" dirty="0">
                <a:latin typeface="+mn-lt"/>
              </a:rPr>
              <a:t>(a) the entire system works.</a:t>
            </a:r>
          </a:p>
          <a:p>
            <a:pPr fontAlgn="auto">
              <a:spcAft>
                <a:spcPts val="0"/>
              </a:spcAft>
            </a:pPr>
            <a:r>
              <a:rPr lang="en-US" sz="2400" dirty="0">
                <a:latin typeface="+mn-lt"/>
              </a:rPr>
              <a:t>(b) the component </a:t>
            </a:r>
            <a:r>
              <a:rPr lang="en-US" sz="2400" i="1" dirty="0">
                <a:latin typeface="+mn-lt"/>
              </a:rPr>
              <a:t>C </a:t>
            </a:r>
            <a:r>
              <a:rPr lang="en-US" sz="2400" dirty="0">
                <a:latin typeface="+mn-lt"/>
              </a:rPr>
              <a:t>does not work, given that the entire system works. Assume that the four components work independently.</a:t>
            </a:r>
          </a:p>
        </p:txBody>
      </p:sp>
    </p:spTree>
    <p:extLst>
      <p:ext uri="{BB962C8B-B14F-4D97-AF65-F5344CB8AC3E}">
        <p14:creationId xmlns:p14="http://schemas.microsoft.com/office/powerpoint/2010/main" val="40150961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981200" y="-17097"/>
            <a:ext cx="8229600" cy="1143000"/>
          </a:xfrm>
        </p:spPr>
        <p:txBody>
          <a:bodyPr>
            <a:normAutofit/>
          </a:bodyPr>
          <a:lstStyle/>
          <a:p>
            <a:pPr eaLnBrk="1" hangingPunct="1"/>
            <a:r>
              <a:rPr lang="en-US" altLang="en-US" sz="3600" dirty="0"/>
              <a:t>Example 2.39</a:t>
            </a:r>
          </a:p>
        </p:txBody>
      </p:sp>
      <p:sp>
        <p:nvSpPr>
          <p:cNvPr id="6041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b="1">
                <a:solidFill>
                  <a:schemeClr val="bg1"/>
                </a:solidFill>
                <a:latin typeface="Arial" panose="020B0604020202020204" pitchFamily="34" charset="0"/>
              </a:rPr>
              <a:t>2 - </a:t>
            </a:r>
            <a:fld id="{1D6D11B8-A38B-42BB-90F7-B3CA548E5AC1}" type="slidenum">
              <a:rPr lang="en-US" altLang="en-US" sz="1200" b="1">
                <a:solidFill>
                  <a:schemeClr val="bg1"/>
                </a:solidFill>
                <a:latin typeface="Arial" panose="020B0604020202020204" pitchFamily="34" charset="0"/>
              </a:rPr>
              <a:pPr algn="ctr">
                <a:spcBef>
                  <a:spcPct val="0"/>
                </a:spcBef>
                <a:buFontTx/>
                <a:buNone/>
              </a:pPr>
              <a:t>81</a:t>
            </a:fld>
            <a:endParaRPr lang="en-US" altLang="en-US" sz="1200" b="1">
              <a:solidFill>
                <a:schemeClr val="bg1"/>
              </a:solidFill>
              <a:latin typeface="Arial" panose="020B0604020202020204" pitchFamily="34" charset="0"/>
            </a:endParaRPr>
          </a:p>
        </p:txBody>
      </p:sp>
      <p:sp>
        <p:nvSpPr>
          <p:cNvPr id="2" name="Content Placeholder 1"/>
          <p:cNvSpPr>
            <a:spLocks noGrp="1"/>
          </p:cNvSpPr>
          <p:nvPr>
            <p:ph sz="quarter" idx="1"/>
          </p:nvPr>
        </p:nvSpPr>
        <p:spPr>
          <a:xfrm>
            <a:off x="1981200" y="838201"/>
            <a:ext cx="8229600" cy="4525963"/>
          </a:xfrm>
        </p:spPr>
        <p:txBody>
          <a:bodyPr/>
          <a:lstStyle/>
          <a:p>
            <a:pPr marL="0" indent="0" fontAlgn="auto">
              <a:spcAft>
                <a:spcPts val="0"/>
              </a:spcAft>
              <a:buNone/>
            </a:pPr>
            <a:r>
              <a:rPr lang="en-US" sz="2800" dirty="0"/>
              <a:t>(a) the entire system works.</a:t>
            </a:r>
          </a:p>
          <a:p>
            <a:pPr fontAlgn="auto">
              <a:spcAft>
                <a:spcPts val="0"/>
              </a:spcAft>
            </a:pPr>
            <a:endParaRPr lang="en-US" sz="2800" dirty="0"/>
          </a:p>
          <a:p>
            <a:pPr fontAlgn="auto">
              <a:spcAft>
                <a:spcPts val="0"/>
              </a:spcAft>
            </a:pPr>
            <a:endParaRPr lang="en-US" sz="2800" dirty="0"/>
          </a:p>
          <a:p>
            <a:pPr fontAlgn="auto">
              <a:spcAft>
                <a:spcPts val="0"/>
              </a:spcAft>
            </a:pPr>
            <a:endParaRPr lang="en-US" sz="2800" dirty="0"/>
          </a:p>
          <a:p>
            <a:pPr fontAlgn="auto">
              <a:spcAft>
                <a:spcPts val="0"/>
              </a:spcAft>
            </a:pPr>
            <a:endParaRPr lang="en-US" sz="2800" dirty="0"/>
          </a:p>
          <a:p>
            <a:pPr marL="0" indent="0">
              <a:buNone/>
            </a:pPr>
            <a:endParaRPr lang="en-US" dirty="0"/>
          </a:p>
        </p:txBody>
      </p:sp>
      <p:pic>
        <p:nvPicPr>
          <p:cNvPr id="60420" name="Picture 4" descr="02_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7094" y="1295400"/>
            <a:ext cx="4374342"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2"/>
          <p:cNvSpPr txBox="1">
            <a:spLocks/>
          </p:cNvSpPr>
          <p:nvPr/>
        </p:nvSpPr>
        <p:spPr>
          <a:xfrm>
            <a:off x="2136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400" i="0" kern="1200">
                <a:solidFill>
                  <a:schemeClr val="tx2"/>
                </a:solidFill>
                <a:latin typeface="Times New Roman" panose="02020603050405020304" pitchFamily="18" charset="0"/>
                <a:ea typeface="+mn-ea"/>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D155551C-8FE0-4312-8D7B-A2A5623DD850}" type="slidenum">
              <a:rPr lang="en-US"/>
              <a:pPr/>
              <a:t>81</a:t>
            </a:fld>
            <a:endParaRPr lang="en-US" dirty="0"/>
          </a:p>
        </p:txBody>
      </p:sp>
      <p:sp>
        <p:nvSpPr>
          <p:cNvPr id="6" name="Rectangle 2"/>
          <p:cNvSpPr txBox="1">
            <a:spLocks noChangeArrowheads="1"/>
          </p:cNvSpPr>
          <p:nvPr/>
        </p:nvSpPr>
        <p:spPr>
          <a:xfrm>
            <a:off x="5410200" y="2777396"/>
            <a:ext cx="4721352" cy="880205"/>
          </a:xfrm>
          <a:prstGeom prst="rect">
            <a:avLst/>
          </a:prstGeom>
        </p:spPr>
        <p:txBody>
          <a:bodyPr vert="horz" anchor="b" anchorCtr="0">
            <a:normAutofit fontScale="97500"/>
          </a:bodyPr>
          <a:lstStyle>
            <a:lvl1pPr algn="l" rtl="0" eaLnBrk="1" latinLnBrk="0" hangingPunct="1">
              <a:spcBef>
                <a:spcPct val="0"/>
              </a:spcBef>
              <a:buNone/>
              <a:defRPr kumimoji="0" sz="3200" i="0" kern="1200">
                <a:solidFill>
                  <a:schemeClr val="tx2"/>
                </a:solidFill>
                <a:latin typeface="Times New Roman" panose="02020603050405020304" pitchFamily="18" charset="0"/>
                <a:ea typeface="+mj-ea"/>
                <a:cs typeface="Times New Roman" panose="02020603050405020304" pitchFamily="18" charset="0"/>
              </a:defRPr>
            </a:lvl1pPr>
          </a:lstStyle>
          <a:p>
            <a:pPr algn="ctr" fontAlgn="auto">
              <a:spcAft>
                <a:spcPts val="0"/>
              </a:spcAft>
            </a:pPr>
            <a:r>
              <a:rPr lang="en-US" altLang="en-US" sz="2400" dirty="0">
                <a:latin typeface="+mn-lt"/>
              </a:rPr>
              <a:t>Figure 2.9  An electrical system</a:t>
            </a:r>
          </a:p>
        </p:txBody>
      </p:sp>
    </p:spTree>
    <p:extLst>
      <p:ext uri="{BB962C8B-B14F-4D97-AF65-F5344CB8AC3E}">
        <p14:creationId xmlns:p14="http://schemas.microsoft.com/office/powerpoint/2010/main" val="8456992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966260" y="130172"/>
            <a:ext cx="8229600" cy="809260"/>
          </a:xfrm>
        </p:spPr>
        <p:txBody>
          <a:bodyPr>
            <a:normAutofit/>
          </a:bodyPr>
          <a:lstStyle/>
          <a:p>
            <a:pPr eaLnBrk="1" hangingPunct="1"/>
            <a:r>
              <a:rPr lang="en-US" altLang="en-US" sz="3600" dirty="0"/>
              <a:t>Example 2.39</a:t>
            </a:r>
          </a:p>
        </p:txBody>
      </p:sp>
      <p:sp>
        <p:nvSpPr>
          <p:cNvPr id="6041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b="1">
                <a:solidFill>
                  <a:schemeClr val="bg1"/>
                </a:solidFill>
                <a:latin typeface="Arial" panose="020B0604020202020204" pitchFamily="34" charset="0"/>
              </a:rPr>
              <a:t>2 - </a:t>
            </a:r>
            <a:fld id="{1D6D11B8-A38B-42BB-90F7-B3CA548E5AC1}" type="slidenum">
              <a:rPr lang="en-US" altLang="en-US" sz="1200" b="1">
                <a:solidFill>
                  <a:schemeClr val="bg1"/>
                </a:solidFill>
                <a:latin typeface="Arial" panose="020B0604020202020204" pitchFamily="34" charset="0"/>
              </a:rPr>
              <a:pPr algn="ctr">
                <a:spcBef>
                  <a:spcPct val="0"/>
                </a:spcBef>
                <a:buFontTx/>
                <a:buNone/>
              </a:pPr>
              <a:t>82</a:t>
            </a:fld>
            <a:endParaRPr lang="en-US" altLang="en-US" sz="1200" b="1">
              <a:solidFill>
                <a:schemeClr val="bg1"/>
              </a:solidFill>
              <a:latin typeface="Arial" panose="020B0604020202020204" pitchFamily="34" charset="0"/>
            </a:endParaRPr>
          </a:p>
        </p:txBody>
      </p:sp>
      <p:sp>
        <p:nvSpPr>
          <p:cNvPr id="2" name="Content Placeholder 1"/>
          <p:cNvSpPr>
            <a:spLocks noGrp="1"/>
          </p:cNvSpPr>
          <p:nvPr>
            <p:ph sz="quarter" idx="1"/>
          </p:nvPr>
        </p:nvSpPr>
        <p:spPr>
          <a:xfrm>
            <a:off x="2000250" y="1014412"/>
            <a:ext cx="8229600" cy="4525963"/>
          </a:xfrm>
        </p:spPr>
        <p:txBody>
          <a:bodyPr/>
          <a:lstStyle/>
          <a:p>
            <a:pPr marL="0" indent="0" fontAlgn="auto">
              <a:spcAft>
                <a:spcPts val="0"/>
              </a:spcAft>
              <a:buNone/>
            </a:pPr>
            <a:r>
              <a:rPr lang="en-US" sz="2800" dirty="0"/>
              <a:t>(b) the component </a:t>
            </a:r>
            <a:r>
              <a:rPr lang="en-US" sz="2800" i="1" dirty="0"/>
              <a:t>C </a:t>
            </a:r>
            <a:r>
              <a:rPr lang="en-US" sz="2800" dirty="0"/>
              <a:t>does not work, given that the entire system works. Assume that the four components work independently.</a:t>
            </a:r>
          </a:p>
          <a:p>
            <a:endParaRPr lang="en-US" dirty="0"/>
          </a:p>
        </p:txBody>
      </p:sp>
      <p:pic>
        <p:nvPicPr>
          <p:cNvPr id="60420" name="Picture 4" descr="02_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6458" y="2037618"/>
            <a:ext cx="4374342"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2"/>
          <p:cNvSpPr txBox="1">
            <a:spLocks/>
          </p:cNvSpPr>
          <p:nvPr/>
        </p:nvSpPr>
        <p:spPr>
          <a:xfrm>
            <a:off x="2136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400" i="0" kern="1200">
                <a:solidFill>
                  <a:schemeClr val="tx2"/>
                </a:solidFill>
                <a:latin typeface="Times New Roman" panose="02020603050405020304" pitchFamily="18" charset="0"/>
                <a:ea typeface="+mn-ea"/>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D155551C-8FE0-4312-8D7B-A2A5623DD850}" type="slidenum">
              <a:rPr lang="en-US"/>
              <a:pPr/>
              <a:t>82</a:t>
            </a:fld>
            <a:endParaRPr lang="en-US" dirty="0"/>
          </a:p>
        </p:txBody>
      </p:sp>
      <p:sp>
        <p:nvSpPr>
          <p:cNvPr id="6" name="Rectangle 2"/>
          <p:cNvSpPr txBox="1">
            <a:spLocks noChangeArrowheads="1"/>
          </p:cNvSpPr>
          <p:nvPr/>
        </p:nvSpPr>
        <p:spPr>
          <a:xfrm>
            <a:off x="5623329" y="3844195"/>
            <a:ext cx="4721352" cy="880205"/>
          </a:xfrm>
          <a:prstGeom prst="rect">
            <a:avLst/>
          </a:prstGeom>
        </p:spPr>
        <p:txBody>
          <a:bodyPr vert="horz" anchor="b" anchorCtr="0">
            <a:normAutofit fontScale="97500"/>
          </a:bodyPr>
          <a:lstStyle>
            <a:lvl1pPr algn="l" rtl="0" eaLnBrk="1" latinLnBrk="0" hangingPunct="1">
              <a:spcBef>
                <a:spcPct val="0"/>
              </a:spcBef>
              <a:buNone/>
              <a:defRPr kumimoji="0" sz="3200" i="0" kern="1200">
                <a:solidFill>
                  <a:schemeClr val="tx2"/>
                </a:solidFill>
                <a:latin typeface="Times New Roman" panose="02020603050405020304" pitchFamily="18" charset="0"/>
                <a:ea typeface="+mj-ea"/>
                <a:cs typeface="Times New Roman" panose="02020603050405020304" pitchFamily="18" charset="0"/>
              </a:defRPr>
            </a:lvl1pPr>
          </a:lstStyle>
          <a:p>
            <a:pPr algn="ctr" fontAlgn="auto">
              <a:spcAft>
                <a:spcPts val="0"/>
              </a:spcAft>
            </a:pPr>
            <a:r>
              <a:rPr lang="en-US" altLang="en-US" sz="2400" dirty="0">
                <a:latin typeface="+mn-lt"/>
              </a:rPr>
              <a:t>Figure 2.9  An electrical system</a:t>
            </a:r>
          </a:p>
        </p:txBody>
      </p:sp>
    </p:spTree>
    <p:extLst>
      <p:ext uri="{BB962C8B-B14F-4D97-AF65-F5344CB8AC3E}">
        <p14:creationId xmlns:p14="http://schemas.microsoft.com/office/powerpoint/2010/main" val="7275696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3059" y="44451"/>
            <a:ext cx="8229600" cy="563562"/>
          </a:xfrm>
        </p:spPr>
        <p:txBody>
          <a:bodyPr/>
          <a:lstStyle/>
          <a:p>
            <a:r>
              <a:rPr lang="en-US" altLang="en-US" sz="3600" dirty="0">
                <a:cs typeface="Arial" charset="0"/>
              </a:rPr>
              <a:t>Example</a:t>
            </a:r>
            <a:endParaRPr lang="en-US" sz="3600" dirty="0"/>
          </a:p>
        </p:txBody>
      </p:sp>
      <p:sp>
        <p:nvSpPr>
          <p:cNvPr id="3" name="Content Placeholder 2"/>
          <p:cNvSpPr>
            <a:spLocks noGrp="1"/>
          </p:cNvSpPr>
          <p:nvPr>
            <p:ph idx="1"/>
          </p:nvPr>
        </p:nvSpPr>
        <p:spPr>
          <a:xfrm>
            <a:off x="1981200" y="643326"/>
            <a:ext cx="8229600" cy="5287963"/>
          </a:xfrm>
        </p:spPr>
        <p:txBody>
          <a:bodyPr/>
          <a:lstStyle/>
          <a:p>
            <a:pPr marL="0" indent="0">
              <a:buNone/>
            </a:pPr>
            <a:r>
              <a:rPr lang="en-US" sz="2400" dirty="0"/>
              <a:t>If an aircraft is present (</a:t>
            </a:r>
            <a:r>
              <a:rPr lang="en-US" sz="2400" i="1" dirty="0">
                <a:cs typeface="Times New Roman" pitchFamily="18" charset="0"/>
              </a:rPr>
              <a:t>A</a:t>
            </a:r>
            <a:r>
              <a:rPr lang="en-US" sz="2400" dirty="0"/>
              <a:t>), radar detects it with probability 0.99; otherwise, radar generates a false alarm with probability 0.10.  An aircraft is present 5% of the time.  What’s the probability that an aircraft is present given the radar signals?</a:t>
            </a:r>
          </a:p>
          <a:p>
            <a:endParaRPr lang="en-US" sz="2400" dirty="0"/>
          </a:p>
          <a:p>
            <a:endParaRPr lang="en-US" sz="2400" dirty="0"/>
          </a:p>
          <a:p>
            <a:pPr marL="0" indent="0">
              <a:buNone/>
            </a:pPr>
            <a:r>
              <a:rPr lang="en-US" sz="2400" dirty="0"/>
              <a:t>Prosecutor’s fallacy: “A radar system detects an aircraft with 99% accuracy when an aircraft is present. Therefore, if the radar signals an aircraft, there is a 99% chance that an aircraft is actually present.”</a:t>
            </a:r>
          </a:p>
        </p:txBody>
      </p:sp>
      <p:sp>
        <p:nvSpPr>
          <p:cNvPr id="4" name="Slide Number Placeholder 3"/>
          <p:cNvSpPr>
            <a:spLocks noGrp="1"/>
          </p:cNvSpPr>
          <p:nvPr>
            <p:ph type="sldNum" sz="quarter" idx="12"/>
          </p:nvPr>
        </p:nvSpPr>
        <p:spPr/>
        <p:txBody>
          <a:bodyPr/>
          <a:lstStyle/>
          <a:p>
            <a:pPr>
              <a:defRPr/>
            </a:pPr>
            <a:fld id="{17999C3B-878A-40EE-AB40-ACC04F59CADA}" type="slidenum">
              <a:rPr lang="it-IT" smtClean="0"/>
              <a:pPr>
                <a:defRPr/>
              </a:pPr>
              <a:t>83</a:t>
            </a:fld>
            <a:endParaRPr lang="it-IT"/>
          </a:p>
        </p:txBody>
      </p:sp>
    </p:spTree>
    <p:extLst>
      <p:ext uri="{BB962C8B-B14F-4D97-AF65-F5344CB8AC3E}">
        <p14:creationId xmlns:p14="http://schemas.microsoft.com/office/powerpoint/2010/main" val="1630494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4159</TotalTime>
  <Words>5436</Words>
  <Application>Microsoft Macintosh PowerPoint</Application>
  <PresentationFormat>Widescreen</PresentationFormat>
  <Paragraphs>744</Paragraphs>
  <Slides>83</Slides>
  <Notes>62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83</vt:i4>
      </vt:variant>
    </vt:vector>
  </HeadingPairs>
  <TitlesOfParts>
    <vt:vector size="93" baseType="lpstr">
      <vt:lpstr>Arial</vt:lpstr>
      <vt:lpstr>Calibri</vt:lpstr>
      <vt:lpstr>Cambria Math</vt:lpstr>
      <vt:lpstr>Helv</vt:lpstr>
      <vt:lpstr>Symbol</vt:lpstr>
      <vt:lpstr>Tahoma</vt:lpstr>
      <vt:lpstr>Times New Roman</vt:lpstr>
      <vt:lpstr>Wingdings 3</vt:lpstr>
      <vt:lpstr>Office Theme</vt:lpstr>
      <vt:lpstr>Equation</vt:lpstr>
      <vt:lpstr>Probability </vt:lpstr>
      <vt:lpstr>Learning Objectives</vt:lpstr>
      <vt:lpstr>Definitions</vt:lpstr>
      <vt:lpstr>Definitions</vt:lpstr>
      <vt:lpstr>Definitions</vt:lpstr>
      <vt:lpstr>Example</vt:lpstr>
      <vt:lpstr>Example</vt:lpstr>
      <vt:lpstr>Tree diagram for Example 2.2 Experiment consists of flipping a coin and flipping it one more time if head occurs. If a tail occurs on the first flip, then a die is tossed once. </vt:lpstr>
      <vt:lpstr>Example</vt:lpstr>
      <vt:lpstr>Definitions</vt:lpstr>
      <vt:lpstr>Definitions</vt:lpstr>
      <vt:lpstr>Definitions</vt:lpstr>
      <vt:lpstr>Definitions</vt:lpstr>
      <vt:lpstr>Theory of Sets and Venn Diagram </vt:lpstr>
      <vt:lpstr>Example</vt:lpstr>
      <vt:lpstr>Example</vt:lpstr>
      <vt:lpstr>Example: Events of the sample space S</vt:lpstr>
      <vt:lpstr>Example</vt:lpstr>
      <vt:lpstr>Learning Objectives</vt:lpstr>
      <vt:lpstr>Counting Sample Points</vt:lpstr>
      <vt:lpstr>Multiplication Rule</vt:lpstr>
      <vt:lpstr>Generalized Multiplication Rule              for k-tuples</vt:lpstr>
      <vt:lpstr>Generalized Multiplication Rule              for k-tuples</vt:lpstr>
      <vt:lpstr>Reverse Interpretation of Multiplication Rule</vt:lpstr>
      <vt:lpstr>Permutations and Combinations</vt:lpstr>
      <vt:lpstr>Permutations and Combinations</vt:lpstr>
      <vt:lpstr>Difference between Permutations and Combinations</vt:lpstr>
      <vt:lpstr>Permutations</vt:lpstr>
      <vt:lpstr>Permutations</vt:lpstr>
      <vt:lpstr>Circular Permutations</vt:lpstr>
      <vt:lpstr>Permutations –  Another Special Case</vt:lpstr>
      <vt:lpstr>Example</vt:lpstr>
      <vt:lpstr>Combinations</vt:lpstr>
      <vt:lpstr>Combinations</vt:lpstr>
      <vt:lpstr>Learning Objectives</vt:lpstr>
      <vt:lpstr>How does counting possibilities help us determine probabilities?</vt:lpstr>
      <vt:lpstr>How does counting possibilities help us determine probabilities?</vt:lpstr>
      <vt:lpstr>Probability of an Event</vt:lpstr>
      <vt:lpstr>Basic Probability Properties</vt:lpstr>
      <vt:lpstr>Interpreting Probability</vt:lpstr>
      <vt:lpstr>Defining Probabilities and Their Properties</vt:lpstr>
      <vt:lpstr>Defining Probabilities and Their Properties</vt:lpstr>
      <vt:lpstr>Relative Frequency</vt:lpstr>
      <vt:lpstr>Subjective Judgments</vt:lpstr>
      <vt:lpstr>Additive Rules</vt:lpstr>
      <vt:lpstr>Additive Rules</vt:lpstr>
      <vt:lpstr>Additive Rules</vt:lpstr>
      <vt:lpstr>Additive Rules</vt:lpstr>
      <vt:lpstr>Additive Rules</vt:lpstr>
      <vt:lpstr>PowerPoint Presentation</vt:lpstr>
      <vt:lpstr>Additive Rules</vt:lpstr>
      <vt:lpstr>Birthday Example</vt:lpstr>
      <vt:lpstr>Determining Probability Systematically</vt:lpstr>
      <vt:lpstr>PowerPoint Presentation</vt:lpstr>
      <vt:lpstr>Learning Objectives</vt:lpstr>
      <vt:lpstr>Conditional Probability</vt:lpstr>
      <vt:lpstr>Conditional Probability</vt:lpstr>
      <vt:lpstr>Conditional Probability</vt:lpstr>
      <vt:lpstr>Conditional Probability</vt:lpstr>
      <vt:lpstr>Example</vt:lpstr>
      <vt:lpstr> Example  </vt:lpstr>
      <vt:lpstr>Mutually Exclusive and Exhaustive Events </vt:lpstr>
      <vt:lpstr>Mutually Exclusive and Exhaustive Events  </vt:lpstr>
      <vt:lpstr>The Law of Total Probability</vt:lpstr>
      <vt:lpstr>The Law of Total Probability</vt:lpstr>
      <vt:lpstr>The Law of Total Probability</vt:lpstr>
      <vt:lpstr>Bayes' Theorem</vt:lpstr>
      <vt:lpstr>False Positives Example</vt:lpstr>
      <vt:lpstr>Table Solution</vt:lpstr>
      <vt:lpstr>Example</vt:lpstr>
      <vt:lpstr>About Physical Checkups from the Washington Post</vt:lpstr>
      <vt:lpstr>Example</vt:lpstr>
      <vt:lpstr>Example (cont.)</vt:lpstr>
      <vt:lpstr>Independent Events</vt:lpstr>
      <vt:lpstr>Product Rule / Multiplicative Rule</vt:lpstr>
      <vt:lpstr>Product Rule / Multiplicative Rule</vt:lpstr>
      <vt:lpstr>Independent Events</vt:lpstr>
      <vt:lpstr>Independence</vt:lpstr>
      <vt:lpstr>Example</vt:lpstr>
      <vt:lpstr>Example 2.39</vt:lpstr>
      <vt:lpstr>Example 2.39</vt:lpstr>
      <vt:lpstr>Example 2.39</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Probability</dc:title>
  <dc:creator>Karen Bursic</dc:creator>
  <cp:lastModifiedBy>Leu, Paul W</cp:lastModifiedBy>
  <cp:revision>150</cp:revision>
  <cp:lastPrinted>2016-08-29T19:05:58Z</cp:lastPrinted>
  <dcterms:created xsi:type="dcterms:W3CDTF">2004-01-04T15:24:17Z</dcterms:created>
  <dcterms:modified xsi:type="dcterms:W3CDTF">2026-01-13T16:05:11Z</dcterms:modified>
</cp:coreProperties>
</file>